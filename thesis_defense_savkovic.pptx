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938125" cy="7315200"/>
  <p:notesSz cx="7315200" cy="129381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5185D8-5CE2-4EA1-9948-1C3A23BE56D5}">
  <a:tblStyle styleId="{2F5185D8-5CE2-4EA1-9948-1C3A23BE56D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35AEF1F1-F40B-4897-AAF0-8E81607DE95F}"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003" autoAdjust="0"/>
  </p:normalViewPr>
  <p:slideViewPr>
    <p:cSldViewPr snapToGrid="0">
      <p:cViewPr varScale="1">
        <p:scale>
          <a:sx n="62" d="100"/>
          <a:sy n="62" d="100"/>
        </p:scale>
        <p:origin x="131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Good afternoon. Welcome to my  I’m master's thesis examination. The tile of my thesis is: Beyond the Speech: Context-Aware Topic Labelling and Linguistic Style in Parliamentary Debates. </a:t>
            </a:r>
            <a:br>
              <a:rPr lang="en-US" sz="1100" dirty="0">
                <a:latin typeface="Arial"/>
                <a:ea typeface="Arial"/>
                <a:cs typeface="Arial"/>
                <a:sym typeface="Arial"/>
              </a:rPr>
            </a:br>
            <a:br>
              <a:rPr lang="en-US" sz="1100" dirty="0">
                <a:latin typeface="Arial"/>
                <a:ea typeface="Arial"/>
                <a:cs typeface="Arial"/>
                <a:sym typeface="Arial"/>
              </a:rPr>
            </a:br>
            <a:r>
              <a:rPr lang="en-US" sz="1100" dirty="0">
                <a:latin typeface="Arial"/>
                <a:ea typeface="Arial"/>
                <a:cs typeface="Arial"/>
                <a:sym typeface="Arial"/>
              </a:rPr>
              <a:t>What is said in parliaments is of importance for every one of us. Biggest decisions are made there that have real life impact. </a:t>
            </a:r>
          </a:p>
          <a:p>
            <a:pPr marL="0" lvl="0" indent="0" algn="l" rtl="0">
              <a:lnSpc>
                <a:spcPct val="115000"/>
              </a:lnSpc>
              <a:spcBef>
                <a:spcPts val="1200"/>
              </a:spcBef>
              <a:spcAft>
                <a:spcPts val="0"/>
              </a:spcAft>
              <a:buClr>
                <a:schemeClr val="dk1"/>
              </a:buClr>
              <a:buSzPts val="1100"/>
              <a:buFont typeface="Arial"/>
              <a:buNone/>
            </a:pPr>
            <a:endParaRPr sz="1100" i="1"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When politicians speak in parliament, they're not giving independent monologues, they're having a conversation. What the person before you says influences what you say, and what you say shapes what the person after you will say. Context is important.</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Yet most computational tools treat each speech as if it exists in a vacuum. My thesis is about fixing that and after examining what kind of language politicians actually use.</a:t>
            </a: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dirty="0">
              <a:solidFill>
                <a:srgbClr val="0F0F0F"/>
              </a:solidFill>
              <a:latin typeface="Arial"/>
              <a:ea typeface="Arial"/>
              <a:cs typeface="Arial"/>
              <a:sym typeface="Arial"/>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Let me show you the problem with a concrete example.</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These are three real speeches from the British parliament. The first speaker is a minister announcing the energy bill, second speaker talks about risks of fuel poverty and prices of home warming, while 3rd talking about environmental considerations about fracking. </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Any human in that room would say: this is all one discussion about the Energy Bill. But a standard topic labeler, reading each speech in isolation, gives three different answers: Energy, Social Welfare, Environment. The algorithm keeps changing its mind because it has no memory of what came before.</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fix is simple in principle: identify natural debate chunks or agendas, what I call episodes, and then assign a topic to the entire episode. </a:t>
            </a:r>
          </a:p>
          <a:p>
            <a:pPr marL="0" lvl="0" indent="0" algn="l" rtl="0">
              <a:lnSpc>
                <a:spcPct val="115000"/>
              </a:lnSpc>
              <a:spcBef>
                <a:spcPts val="1200"/>
              </a:spcBef>
              <a:spcAft>
                <a:spcPts val="0"/>
              </a:spcAft>
              <a:buClr>
                <a:schemeClr val="dk1"/>
              </a:buClr>
              <a:buSzPts val="1100"/>
              <a:buFont typeface="Arial"/>
              <a:buNone/>
            </a:pPr>
            <a:endParaRPr lang="en-US" sz="1100"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solidFill>
                  <a:srgbClr val="0F0F0F"/>
                </a:solidFill>
                <a:latin typeface="Arial"/>
                <a:ea typeface="Arial"/>
                <a:cs typeface="Arial"/>
                <a:sym typeface="Arial"/>
              </a:rPr>
              <a:t>I want to explain one term I'll use throughout: CAP, the Comparative Agendas Project. We can see it columns 3 and 4. It's a standard classification system used across more than 50 countries that groups political topics into 21 broad categories: Health, Defense, Macroeconomics, Education, Foreign Policy, and so on. Using CAP means that "macroeconomics debate" in Austria and "macroeconomics debate" in Britain refer to exactly the same category, which is what makes cross-country comparison possible.</a:t>
            </a:r>
            <a:endParaRPr sz="1100" dirty="0">
              <a:solidFill>
                <a:srgbClr val="0F0F0F"/>
              </a:solidFill>
              <a:latin typeface="Arial"/>
              <a:ea typeface="Arial"/>
              <a:cs typeface="Arial"/>
              <a:sym typeface="Arial"/>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p3: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My thesis has three main questions.</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First: does the topic being debated shape how politicians speak? Do Macroeconomics debates sound different from healthcare debates and what can we find out about language used?</a:t>
            </a:r>
          </a:p>
          <a:p>
            <a:pPr marL="0" lvl="0" indent="0" algn="l" rtl="0">
              <a:lnSpc>
                <a:spcPct val="115000"/>
              </a:lnSpc>
              <a:spcBef>
                <a:spcPts val="1200"/>
              </a:spcBef>
              <a:spcAft>
                <a:spcPts val="0"/>
              </a:spcAft>
              <a:buClr>
                <a:schemeClr val="dk1"/>
              </a:buClr>
              <a:buSzPts val="1100"/>
              <a:buFont typeface="Arial"/>
              <a:buNone/>
            </a:pP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Second: does your institutional role, if you’re in the government or the opposition, or your ideology, your position on left-right political spectrum change how you speak? What about demographic factors like age or gender?</a:t>
            </a:r>
          </a:p>
          <a:p>
            <a:pPr marL="0" lvl="0" indent="0" algn="l" rtl="0">
              <a:lnSpc>
                <a:spcPct val="115000"/>
              </a:lnSpc>
              <a:spcBef>
                <a:spcPts val="1200"/>
              </a:spcBef>
              <a:spcAft>
                <a:spcPts val="0"/>
              </a:spcAft>
              <a:buClr>
                <a:schemeClr val="dk1"/>
              </a:buClr>
              <a:buSzPts val="1100"/>
              <a:buFont typeface="Arial"/>
              <a:buNone/>
            </a:pP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Third: when a major external shock hits a pandemic, a migration crisis, a war, a financial collapse does it change what parliament talks about and how? And do things eventually return to normal and if yes how long does it take?</a:t>
            </a:r>
            <a:endParaRPr dirty="0">
              <a:solidFill>
                <a:srgbClr val="0F0F0F"/>
              </a:solidFill>
              <a:latin typeface="Arial"/>
              <a:ea typeface="Arial"/>
              <a:cs typeface="Arial"/>
              <a:sym typeface="Arial"/>
            </a:endParaRPr>
          </a:p>
        </p:txBody>
      </p:sp>
      <p:sp>
        <p:nvSpPr>
          <p:cNvPr id="47" name="Google Shape;4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4: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The data comes from </a:t>
            </a:r>
            <a:r>
              <a:rPr lang="en-US" dirty="0" err="1">
                <a:solidFill>
                  <a:srgbClr val="0F0F0F"/>
                </a:solidFill>
                <a:latin typeface="Arial"/>
                <a:ea typeface="Arial"/>
                <a:cs typeface="Arial"/>
                <a:sym typeface="Arial"/>
              </a:rPr>
              <a:t>ParlaMint</a:t>
            </a:r>
            <a:r>
              <a:rPr lang="en-US" dirty="0">
                <a:solidFill>
                  <a:srgbClr val="0F0F0F"/>
                </a:solidFill>
                <a:latin typeface="Arial"/>
                <a:ea typeface="Arial"/>
                <a:cs typeface="Arial"/>
                <a:sym typeface="Arial"/>
              </a:rPr>
              <a:t>, a project that has transcribed parliamentary debates from 29 European countries in their native languages, corpora containing more than a billion words over decades even a century worth of data for some countries .</a:t>
            </a:r>
          </a:p>
          <a:p>
            <a:pPr marL="0" lvl="0" indent="0" algn="l" rtl="0">
              <a:lnSpc>
                <a:spcPct val="115000"/>
              </a:lnSpc>
              <a:spcBef>
                <a:spcPts val="1200"/>
              </a:spcBef>
              <a:spcAft>
                <a:spcPts val="0"/>
              </a:spcAft>
              <a:buClr>
                <a:schemeClr val="dk1"/>
              </a:buClr>
              <a:buSzPts val="1100"/>
              <a:buFont typeface="Arial"/>
              <a:buNone/>
            </a:pP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I work with three countries: Austria, Croatia, and Great Britain, roughly 1.4 million speeches across 4,600 sitting days, spanning several decades.</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Great Britain has the most speeches despite the shortest time window. That reflects how British parliament meets almost daily, compared to Austria's weekly sessions.</a:t>
            </a:r>
          </a:p>
          <a:p>
            <a:pPr marL="0" lvl="0" indent="0" algn="l" rtl="0">
              <a:lnSpc>
                <a:spcPct val="115000"/>
              </a:lnSpc>
              <a:spcBef>
                <a:spcPts val="1200"/>
              </a:spcBef>
              <a:spcAft>
                <a:spcPts val="0"/>
              </a:spcAft>
              <a:buClr>
                <a:schemeClr val="dk1"/>
              </a:buClr>
              <a:buSzPts val="1100"/>
              <a:buFont typeface="Arial"/>
              <a:buNone/>
            </a:pP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SzPts val="1100"/>
              <a:buNone/>
            </a:pPr>
            <a:r>
              <a:rPr lang="en-US" dirty="0">
                <a:solidFill>
                  <a:srgbClr val="0F0F0F"/>
                </a:solidFill>
                <a:latin typeface="Arial"/>
                <a:ea typeface="Arial"/>
                <a:cs typeface="Arial"/>
                <a:sym typeface="Arial"/>
              </a:rPr>
              <a:t>Idea behind selecting multiple countries is that finding the same patterns across all three is much stronger evidence than finding them in just one place and that our method is actually robust.</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SzPts val="1400"/>
              <a:buNone/>
            </a:pPr>
            <a:endParaRPr dirty="0">
              <a:solidFill>
                <a:srgbClr val="0F0F0F"/>
              </a:solidFill>
              <a:latin typeface="Arial"/>
              <a:ea typeface="Arial"/>
              <a:cs typeface="Arial"/>
              <a:sym typeface="Arial"/>
            </a:endParaRPr>
          </a:p>
        </p:txBody>
      </p:sp>
      <p:sp>
        <p:nvSpPr>
          <p:cNvPr id="70" name="Google Shape;7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 name="Google Shape;84;p5: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system works in two parallel tracks.</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top track is about assigning topics. We take the speeches, group them into coherent debate episodes, figure out what each episode is about, and assign it a CAP label.</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bottom track is about language style. For each speech, we run it through LIWC-22, the Linguistic Inquiry and Word Count tool. Let me explain what that means, because it comes up throughout the presentation.</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LIWC is essentially a sophisticated word counter. You give it a text and it tells you what proportion of words fall into more than 100 psychological and linguistic categories. It helps us answer questions like: Is the language more analytical or is it more authentic and appeal to the emotional side? How often does the speaker say "we" versus "I"? How much certainty or tentative language? LIWC has been cited and used by thousands of research papers and is a very prominent tool in analyzing speech.</a:t>
            </a: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So now we have our two tracks working independently and then at the end we combine them. With stable topics and LIWC scores for every speech, we can ask and answer questions like: what does macroeconomics talk sound like linguistically? What does opposition rhetoric look like? How did language shift during COVID?</a:t>
            </a: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sz="1100" dirty="0">
              <a:latin typeface="Arial"/>
              <a:ea typeface="Arial"/>
              <a:cs typeface="Arial"/>
              <a:sym typeface="Arial"/>
            </a:endParaRPr>
          </a:p>
        </p:txBody>
      </p:sp>
      <p:sp>
        <p:nvSpPr>
          <p:cNvPr id="85" name="Google Shape;8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6: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6: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SzPts val="1100"/>
              <a:buNone/>
            </a:pPr>
            <a:r>
              <a:rPr lang="en-US" sz="1100" dirty="0">
                <a:latin typeface="Arial"/>
                <a:ea typeface="Arial"/>
                <a:cs typeface="Arial"/>
                <a:sym typeface="Arial"/>
              </a:rPr>
              <a:t>The key challenge is: how do you know where one episode ends and the next begins? Look at the diagram. S1 or speech 1 might be a minister announcing an Energy Bill(like the example from the beginning) then for the next hour people debate it back and forth. After a while, parliament moves to the next agenda item, say environmental regulations, and discusses that for another half an hour minutes, then moves on to Social Support for single parents.</a:t>
            </a:r>
          </a:p>
          <a:p>
            <a:pPr marL="0" lvl="0" indent="0" algn="l" rtl="0">
              <a:lnSpc>
                <a:spcPct val="115000"/>
              </a:lnSpc>
              <a:spcBef>
                <a:spcPts val="1200"/>
              </a:spcBef>
              <a:spcAft>
                <a:spcPts val="0"/>
              </a:spcAft>
              <a:buSzPts val="1100"/>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Sometimes this transition is explicit the chairperson announces "we now move to the next item." That's easy to detect. Other times topics shift gradually: one fades out, another drifts in, with no formal announcement.</a:t>
            </a: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Our algorithm uses a hybrid signal. It watches for chairperson announcements, but also for moments where the semantic content or the meaning of consecutive speeches shifts noticeably, measured by the similarity of neighboring speech windows. For example, we look at the speeches around S5, compare lets say 3 speeches before and after using cosine similarity and when see a big change in the similarity that could be our potential boundary.</a:t>
            </a: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output is a sequence of coherent episodes each a chunk of debate that stays on one consistent topic. That's what all downstream analysis is built on.</a:t>
            </a: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dirty="0">
              <a:solidFill>
                <a:srgbClr val="0F0F0F"/>
              </a:solidFill>
              <a:latin typeface="Arial"/>
              <a:ea typeface="Arial"/>
              <a:cs typeface="Arial"/>
              <a:sym typeface="Arial"/>
            </a:endParaRPr>
          </a:p>
        </p:txBody>
      </p:sp>
      <p:sp>
        <p:nvSpPr>
          <p:cNvPr id="100" name="Google Shape;10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7: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Once we have the episodes, assigning topics to them is much more reliable than doing it speech by speech.</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The pipeline has five steps. First, we convert each episode into a numerical representation around 1,000 numbers that encode its meaning. The idea is that similar semantic meaning episodes would get similar numbers. Second, we compress those down to about 10 dimensions for better performance on the next steps. Third, we group similar episodes into clusters using a probabilistic method. At this step we end with between 170-200 clusters(groups of episodes with similar meaning). Fourth, we find the most unique and descriptive words in each cluster using TF-ID. Last step, we look at those keywords and assign each cluster to one of the 22 CAP categories. We end up classifying those 200ish clusters into 22 topics. </a:t>
            </a:r>
          </a:p>
          <a:p>
            <a:pPr marL="0" lvl="0" indent="0" algn="l" rtl="0">
              <a:lnSpc>
                <a:spcPct val="115000"/>
              </a:lnSpc>
              <a:spcBef>
                <a:spcPts val="1200"/>
              </a:spcBef>
              <a:spcAft>
                <a:spcPts val="0"/>
              </a:spcAft>
              <a:buClr>
                <a:schemeClr val="dk1"/>
              </a:buClr>
              <a:buSzPts val="1100"/>
              <a:buFont typeface="Arial"/>
              <a:buNone/>
            </a:pPr>
            <a:endParaRPr lang="en-US"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So if we take a look at one cluster and see keywords like doctor, vaccine, hospital, patient we would assign it Health label. </a:t>
            </a:r>
          </a:p>
          <a:p>
            <a:pPr marL="0" lvl="0" indent="0" algn="l" rtl="0">
              <a:lnSpc>
                <a:spcPct val="115000"/>
              </a:lnSpc>
              <a:spcBef>
                <a:spcPts val="1200"/>
              </a:spcBef>
              <a:spcAft>
                <a:spcPts val="0"/>
              </a:spcAft>
              <a:buClr>
                <a:schemeClr val="dk1"/>
              </a:buClr>
              <a:buSzPts val="1100"/>
              <a:buFont typeface="Arial"/>
              <a:buNone/>
            </a:pPr>
            <a:endParaRPr lang="en-US"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I decided to use LLM because of manual labor reasons and GPT speeds it up and performs just as well as I do.</a:t>
            </a:r>
          </a:p>
          <a:p>
            <a:pPr marL="0" lvl="0" indent="0" algn="l" rtl="0">
              <a:lnSpc>
                <a:spcPct val="115000"/>
              </a:lnSpc>
              <a:spcBef>
                <a:spcPts val="1200"/>
              </a:spcBef>
              <a:spcAft>
                <a:spcPts val="0"/>
              </a:spcAft>
              <a:buClr>
                <a:schemeClr val="dk1"/>
              </a:buClr>
              <a:buSzPts val="1100"/>
              <a:buFont typeface="Arial"/>
              <a:buNone/>
            </a:pP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The whole process is fully deterministic same input, same output, every time. This is deliberate: it means the system is auditable. You can look at the keywords, look at the prompt, and trace exactly why a cluster got labeled Health or Macroeconomics. No black box.</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SzPts val="1400"/>
              <a:buNone/>
            </a:pPr>
            <a:endParaRPr dirty="0">
              <a:solidFill>
                <a:srgbClr val="0F0F0F"/>
              </a:solidFill>
              <a:latin typeface="Arial"/>
              <a:ea typeface="Arial"/>
              <a:cs typeface="Arial"/>
              <a:sym typeface="Arial"/>
            </a:endParaRPr>
          </a:p>
        </p:txBody>
      </p:sp>
      <p:sp>
        <p:nvSpPr>
          <p:cNvPr id="159" name="Google Shape;15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How good is the system? These numbers need careful unpacking at face value they can be misleading.</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Let’s start with the human ceiling. The </a:t>
            </a:r>
            <a:r>
              <a:rPr lang="en-US" sz="1100" dirty="0" err="1">
                <a:latin typeface="Arial"/>
                <a:ea typeface="Arial"/>
                <a:cs typeface="Arial"/>
                <a:sym typeface="Arial"/>
              </a:rPr>
              <a:t>ParlaCAP</a:t>
            </a:r>
            <a:r>
              <a:rPr lang="en-US" sz="1100" dirty="0">
                <a:latin typeface="Arial"/>
                <a:ea typeface="Arial"/>
                <a:cs typeface="Arial"/>
                <a:sym typeface="Arial"/>
              </a:rPr>
              <a:t> project had expert annotators independently label the same speeches and those experts only agreed with each other 60 to 68 percent of the time. That's the practical ceiling for any automated system on this task.</a:t>
            </a: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But those human annotators were also reading each speech in isolation. So if you handed them the second speech from the Energy Bill debate, about sick people and fuel poverty, with no surrounding context, they would label it Social Welfare.</a:t>
            </a: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Now comes a question: what if those same annotators saw the full sitting in order and labeled it as a unit? I’m pretty sure they would agree far more than 60 to 68 percent of the time, because context removes ambiguity. This ceiling is on the task that's constrained to isolated speeches. It was measured under the exact same disadvantage we're trying to fix.</a:t>
            </a: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So when you look at our scores — macro-F1 between 0.47 and 0.55 against </a:t>
            </a:r>
            <a:r>
              <a:rPr lang="en-US" sz="1100" dirty="0" err="1">
                <a:latin typeface="Arial"/>
                <a:ea typeface="Arial"/>
                <a:cs typeface="Arial"/>
                <a:sym typeface="Arial"/>
              </a:rPr>
              <a:t>ParlaCAP</a:t>
            </a:r>
            <a:r>
              <a:rPr lang="en-US" sz="1100" dirty="0">
                <a:latin typeface="Arial"/>
                <a:ea typeface="Arial"/>
                <a:cs typeface="Arial"/>
                <a:sym typeface="Arial"/>
              </a:rPr>
              <a:t> labels, slightly lower against human tests  keep those things in mind.</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A fair evaluation would require episode-level gold-standard labels. Creating those is the most important next step for this line of work.</a:t>
            </a: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sz="1100" dirty="0">
              <a:latin typeface="Arial"/>
              <a:ea typeface="Arial"/>
              <a:cs typeface="Arial"/>
              <a:sym typeface="Arial"/>
            </a:endParaRPr>
          </a:p>
        </p:txBody>
      </p:sp>
      <p:sp>
        <p:nvSpPr>
          <p:cNvPr id="202" name="Google Shape;20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9: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9: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Let's look more carefully at where the errors happen the pattern is informative.</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This is a confusion matrix for British parliament. On the x axis we have topics that human experts assigned when labelling the test dataset(~500 speeches) and on the y axis we have topics as assigned by my model. </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diagonal dominates most labels are correct. But when mistakes occur, they cluster in predictable places: Public Lands gets confused with Environment, Labor with Social Welfare, International Affairs with Defense.</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Those aren't random failures. They're adjacent domains, policy areas that are genuinely related and often co-occur in debates. The system isn't failing randomly, it's making the kind of mistakes a thoughtful person would make too, we’ve also seen that humans only agree around 2/3rds of the time.</a:t>
            </a: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dirty="0">
              <a:solidFill>
                <a:srgbClr val="0F0F0F"/>
              </a:solidFill>
              <a:latin typeface="Arial"/>
              <a:ea typeface="Arial"/>
              <a:cs typeface="Arial"/>
              <a:sym typeface="Arial"/>
            </a:endParaRPr>
          </a:p>
        </p:txBody>
      </p:sp>
      <p:sp>
        <p:nvSpPr>
          <p:cNvPr id="224" name="Google Shape;22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0: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0: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latin typeface="Arial"/>
                <a:ea typeface="Arial"/>
                <a:cs typeface="Arial"/>
                <a:sym typeface="Arial"/>
              </a:rPr>
              <a:t>Before reading the heatmap, let me briefly explain both the numbers and the labels.</a:t>
            </a:r>
            <a:br>
              <a:rPr lang="en-US" sz="1100" b="1" dirty="0">
                <a:latin typeface="Arial"/>
                <a:ea typeface="Arial"/>
                <a:cs typeface="Arial"/>
                <a:sym typeface="Arial"/>
              </a:rPr>
            </a:br>
            <a:r>
              <a:rPr lang="en-US" sz="1100" dirty="0">
                <a:latin typeface="Arial"/>
                <a:ea typeface="Arial"/>
                <a:cs typeface="Arial"/>
                <a:sym typeface="Arial"/>
              </a:rPr>
              <a:t> I compare the language of a target topic, here, macroeconomics to all other topics in the same country.</a:t>
            </a:r>
            <a:br>
              <a:rPr lang="en-US" sz="1100" dirty="0">
                <a:latin typeface="Arial"/>
                <a:ea typeface="Arial"/>
                <a:cs typeface="Arial"/>
                <a:sym typeface="Arial"/>
              </a:rPr>
            </a:br>
            <a:r>
              <a:rPr lang="en-US" sz="1100" dirty="0">
                <a:latin typeface="Arial"/>
                <a:ea typeface="Arial"/>
                <a:cs typeface="Arial"/>
                <a:sym typeface="Arial"/>
              </a:rPr>
              <a:t> Each cell is a standardized difference: </a:t>
            </a:r>
            <a:r>
              <a:rPr lang="en-US" sz="1100" b="1" dirty="0">
                <a:latin typeface="Arial"/>
                <a:ea typeface="Arial"/>
                <a:cs typeface="Arial"/>
                <a:sym typeface="Arial"/>
              </a:rPr>
              <a:t>topic minus non-topic</a:t>
            </a:r>
            <a:r>
              <a:rPr lang="en-US" sz="1100" dirty="0">
                <a:latin typeface="Arial"/>
                <a:ea typeface="Arial"/>
                <a:cs typeface="Arial"/>
                <a:sym typeface="Arial"/>
              </a:rPr>
              <a:t>.</a:t>
            </a:r>
            <a:br>
              <a:rPr lang="en-US" sz="1100" dirty="0">
                <a:latin typeface="Arial"/>
                <a:ea typeface="Arial"/>
                <a:cs typeface="Arial"/>
                <a:sym typeface="Arial"/>
              </a:rPr>
            </a:br>
            <a:r>
              <a:rPr lang="en-US" sz="1100" dirty="0">
                <a:latin typeface="Arial"/>
                <a:ea typeface="Arial"/>
                <a:cs typeface="Arial"/>
                <a:sym typeface="Arial"/>
              </a:rPr>
              <a:t> Positive means more of that LIWC dimension in macroeconomics; negative means less.</a:t>
            </a: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A reasonable question from the audience here is: </a:t>
            </a:r>
            <a:r>
              <a:rPr lang="en-US" sz="1100" b="1" dirty="0">
                <a:latin typeface="Arial"/>
                <a:ea typeface="Arial"/>
                <a:cs typeface="Arial"/>
                <a:sym typeface="Arial"/>
              </a:rPr>
              <a:t>what do these LIWC dimensions actually mean?</a:t>
            </a:r>
            <a:br>
              <a:rPr lang="en-US" sz="1100" b="1" dirty="0">
                <a:latin typeface="Arial"/>
                <a:ea typeface="Arial"/>
                <a:cs typeface="Arial"/>
                <a:sym typeface="Arial"/>
              </a:rPr>
            </a:br>
            <a:r>
              <a:rPr lang="en-US" sz="1100" dirty="0">
                <a:latin typeface="Arial"/>
                <a:ea typeface="Arial"/>
                <a:cs typeface="Arial"/>
                <a:sym typeface="Arial"/>
              </a:rPr>
              <a:t> As we said LIWC is a dictionary-based method that maps words into interpretable categories.</a:t>
            </a: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So if we see </a:t>
            </a:r>
            <a:r>
              <a:rPr lang="en-US" sz="1100" b="1" dirty="0">
                <a:latin typeface="Arial"/>
                <a:ea typeface="Arial"/>
                <a:cs typeface="Arial"/>
                <a:sym typeface="Arial"/>
              </a:rPr>
              <a:t>-0.73</a:t>
            </a:r>
            <a:r>
              <a:rPr lang="en-US" sz="1100" dirty="0">
                <a:latin typeface="Arial"/>
                <a:ea typeface="Arial"/>
                <a:cs typeface="Arial"/>
                <a:sym typeface="Arial"/>
              </a:rPr>
              <a:t> for </a:t>
            </a:r>
            <a:r>
              <a:rPr lang="en-US" sz="1100" i="1" dirty="0">
                <a:latin typeface="Arial"/>
                <a:ea typeface="Arial"/>
                <a:cs typeface="Arial"/>
                <a:sym typeface="Arial"/>
              </a:rPr>
              <a:t>moral</a:t>
            </a:r>
            <a:r>
              <a:rPr lang="en-US" sz="1100" dirty="0">
                <a:latin typeface="Arial"/>
                <a:ea typeface="Arial"/>
                <a:cs typeface="Arial"/>
                <a:sym typeface="Arial"/>
              </a:rPr>
              <a:t>, that means speeches about macroeconomics uses substantially less moral-language vocabulary compared to the rest of the speeches. Some examples of words in a moral vocabulary are: deserve, honor, justice, right and wrong. </a:t>
            </a:r>
            <a:br>
              <a:rPr lang="en-US" sz="1100" dirty="0">
                <a:latin typeface="Arial"/>
                <a:ea typeface="Arial"/>
                <a:cs typeface="Arial"/>
                <a:sym typeface="Arial"/>
              </a:rPr>
            </a:br>
            <a:br>
              <a:rPr lang="en-US" sz="1100" dirty="0">
                <a:latin typeface="Arial"/>
                <a:ea typeface="Arial"/>
                <a:cs typeface="Arial"/>
                <a:sym typeface="Arial"/>
              </a:rPr>
            </a:br>
            <a:r>
              <a:rPr lang="en-US" sz="1100" dirty="0">
                <a:latin typeface="Arial"/>
                <a:ea typeface="Arial"/>
                <a:cs typeface="Arial"/>
                <a:sym typeface="Arial"/>
              </a:rPr>
              <a:t> The strongest pattern is the expected one: macroeconomics is consistently much higher on </a:t>
            </a:r>
            <a:r>
              <a:rPr lang="en-US" sz="1100" b="1" dirty="0">
                <a:latin typeface="Arial"/>
                <a:ea typeface="Arial"/>
                <a:cs typeface="Arial"/>
                <a:sym typeface="Arial"/>
              </a:rPr>
              <a:t>money</a:t>
            </a:r>
            <a:r>
              <a:rPr lang="en-US" sz="1100" dirty="0">
                <a:latin typeface="Arial"/>
                <a:ea typeface="Arial"/>
                <a:cs typeface="Arial"/>
                <a:sym typeface="Arial"/>
              </a:rPr>
              <a:t> language across countries.</a:t>
            </a:r>
            <a:br>
              <a:rPr lang="en-US" sz="1100" dirty="0">
                <a:latin typeface="Arial"/>
                <a:ea typeface="Arial"/>
                <a:cs typeface="Arial"/>
                <a:sym typeface="Arial"/>
              </a:rPr>
            </a:br>
            <a:r>
              <a:rPr lang="en-US" sz="1100" dirty="0">
                <a:latin typeface="Arial"/>
                <a:ea typeface="Arial"/>
                <a:cs typeface="Arial"/>
                <a:sym typeface="Arial"/>
              </a:rPr>
              <a:t> Seeing this was a big relief and a strong sanity check and this result being a good proof of topic labelling part of our pipeline working.</a:t>
            </a:r>
          </a:p>
          <a:p>
            <a:pPr marL="0" lvl="0" indent="0" algn="l" rtl="0">
              <a:lnSpc>
                <a:spcPct val="115000"/>
              </a:lnSpc>
              <a:spcBef>
                <a:spcPts val="1200"/>
              </a:spcBef>
              <a:spcAft>
                <a:spcPts val="0"/>
              </a:spcAft>
              <a:buClr>
                <a:schemeClr val="dk1"/>
              </a:buClr>
              <a:buSzPts val="1100"/>
              <a:buFont typeface="Arial"/>
              <a:buNone/>
            </a:pPr>
            <a:endParaRPr lang="en-US"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 We can also see elevated clout and lower insight/power/cognitive processes.</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All of the other topics were also explored. Topics differ not only in content, but also in their rhetorical style and each topic has its own unique style and rhetoric fingerprint.</a:t>
            </a:r>
            <a:endParaRPr sz="1100" dirty="0">
              <a:latin typeface="Arial"/>
              <a:ea typeface="Arial"/>
              <a:cs typeface="Arial"/>
              <a:sym typeface="Arial"/>
            </a:endParaRPr>
          </a:p>
          <a:p>
            <a:pPr marL="0" lvl="0" indent="0" algn="l" rtl="0">
              <a:lnSpc>
                <a:spcPct val="115000"/>
              </a:lnSpc>
              <a:spcBef>
                <a:spcPts val="1200"/>
              </a:spcBef>
              <a:spcAft>
                <a:spcPts val="0"/>
              </a:spcAft>
              <a:buSzPts val="1100"/>
              <a:buNone/>
            </a:pPr>
            <a:r>
              <a:rPr lang="en-US" sz="1100" dirty="0">
                <a:latin typeface="Arial"/>
                <a:ea typeface="Arial"/>
                <a:cs typeface="Arial"/>
                <a:sym typeface="Arial"/>
              </a:rPr>
              <a:t>I’ll also show the topic of Health that uses more positive tone more analytical language and less politic/power/money language compared to other topics.</a:t>
            </a: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sz="1100" dirty="0">
              <a:latin typeface="Arial"/>
              <a:ea typeface="Arial"/>
              <a:cs typeface="Arial"/>
              <a:sym typeface="Arial"/>
            </a:endParaRPr>
          </a:p>
        </p:txBody>
      </p:sp>
      <p:sp>
        <p:nvSpPr>
          <p:cNvPr id="251" name="Google Shape;25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1: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1: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This slide uses the same logic, but now the comparison is between groups rather than topics.</a:t>
            </a:r>
            <a:br>
              <a:rPr lang="en-US" sz="1100" dirty="0">
                <a:latin typeface="Arial"/>
                <a:ea typeface="Arial"/>
                <a:cs typeface="Arial"/>
                <a:sym typeface="Arial"/>
              </a:rPr>
            </a:br>
            <a:r>
              <a:rPr lang="en-US" sz="1100" dirty="0">
                <a:latin typeface="Arial"/>
                <a:ea typeface="Arial"/>
                <a:cs typeface="Arial"/>
                <a:sym typeface="Arial"/>
              </a:rPr>
              <a:t> On the left, each cell shows speeches of politicians in </a:t>
            </a:r>
            <a:r>
              <a:rPr lang="en-US" sz="1100" b="1" dirty="0">
                <a:latin typeface="Arial"/>
                <a:ea typeface="Arial"/>
                <a:cs typeface="Arial"/>
                <a:sym typeface="Arial"/>
              </a:rPr>
              <a:t>coalition minus opposition</a:t>
            </a:r>
            <a:r>
              <a:rPr lang="en-US" sz="1100" dirty="0">
                <a:latin typeface="Arial"/>
                <a:ea typeface="Arial"/>
                <a:cs typeface="Arial"/>
                <a:sym typeface="Arial"/>
              </a:rPr>
              <a:t>. Here are some of the clearest effects in the thesis.</a:t>
            </a:r>
            <a:br>
              <a:rPr lang="en-US" sz="1100" dirty="0">
                <a:latin typeface="Arial"/>
                <a:ea typeface="Arial"/>
                <a:cs typeface="Arial"/>
                <a:sym typeface="Arial"/>
              </a:rPr>
            </a:br>
            <a:r>
              <a:rPr lang="en-US" sz="1100" dirty="0">
                <a:latin typeface="Arial"/>
                <a:ea typeface="Arial"/>
                <a:cs typeface="Arial"/>
                <a:sym typeface="Arial"/>
              </a:rPr>
              <a:t>Coalition speakers use positive </a:t>
            </a:r>
            <a:r>
              <a:rPr lang="en-US" sz="1100" b="1" dirty="0">
                <a:latin typeface="Arial"/>
                <a:ea typeface="Arial"/>
                <a:cs typeface="Arial"/>
                <a:sym typeface="Arial"/>
              </a:rPr>
              <a:t>tone</a:t>
            </a:r>
            <a:r>
              <a:rPr lang="en-US" sz="1100" dirty="0">
                <a:latin typeface="Arial"/>
                <a:ea typeface="Arial"/>
                <a:cs typeface="Arial"/>
                <a:sym typeface="Arial"/>
              </a:rPr>
              <a:t>, more </a:t>
            </a:r>
            <a:r>
              <a:rPr lang="en-US" sz="1100" b="1" dirty="0">
                <a:latin typeface="Arial"/>
                <a:ea typeface="Arial"/>
                <a:cs typeface="Arial"/>
                <a:sym typeface="Arial"/>
              </a:rPr>
              <a:t>authentic</a:t>
            </a:r>
            <a:r>
              <a:rPr lang="en-US" sz="1100" dirty="0">
                <a:latin typeface="Arial"/>
                <a:ea typeface="Arial"/>
                <a:cs typeface="Arial"/>
                <a:sym typeface="Arial"/>
              </a:rPr>
              <a:t>, and more collective </a:t>
            </a:r>
            <a:r>
              <a:rPr lang="en-US" sz="1100" b="1" dirty="0">
                <a:latin typeface="Arial"/>
                <a:ea typeface="Arial"/>
                <a:cs typeface="Arial"/>
                <a:sym typeface="Arial"/>
              </a:rPr>
              <a:t>we</a:t>
            </a:r>
            <a:r>
              <a:rPr lang="en-US" sz="1100" dirty="0">
                <a:latin typeface="Arial"/>
                <a:ea typeface="Arial"/>
                <a:cs typeface="Arial"/>
                <a:sym typeface="Arial"/>
              </a:rPr>
              <a:t> language. That fits their institutional position: they defend, explain, and present policy as a shared project. Opposition speakers show the inverse pattern, with relatively more </a:t>
            </a:r>
            <a:r>
              <a:rPr lang="en-US" sz="1100" b="1" dirty="0">
                <a:latin typeface="Arial"/>
                <a:ea typeface="Arial"/>
                <a:cs typeface="Arial"/>
                <a:sym typeface="Arial"/>
              </a:rPr>
              <a:t>politic</a:t>
            </a:r>
            <a:r>
              <a:rPr lang="en-US" sz="1100" dirty="0">
                <a:latin typeface="Arial"/>
                <a:ea typeface="Arial"/>
                <a:cs typeface="Arial"/>
                <a:sym typeface="Arial"/>
              </a:rPr>
              <a:t> and </a:t>
            </a:r>
            <a:r>
              <a:rPr lang="en-US" sz="1100" b="1" dirty="0">
                <a:latin typeface="Arial"/>
                <a:ea typeface="Arial"/>
                <a:cs typeface="Arial"/>
                <a:sym typeface="Arial"/>
              </a:rPr>
              <a:t>power</a:t>
            </a:r>
            <a:r>
              <a:rPr lang="en-US" sz="1100" dirty="0">
                <a:latin typeface="Arial"/>
                <a:ea typeface="Arial"/>
                <a:cs typeface="Arial"/>
                <a:sym typeface="Arial"/>
              </a:rPr>
              <a:t> language and you pronouns, which fits a more adversarial/accusing rhetorical role.</a:t>
            </a:r>
            <a:endParaRPr lang="de-DE"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lang="de-DE"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 On the right, it shows </a:t>
            </a:r>
            <a:r>
              <a:rPr lang="en-US" sz="1100" b="1" dirty="0">
                <a:latin typeface="Arial"/>
                <a:ea typeface="Arial"/>
                <a:cs typeface="Arial"/>
                <a:sym typeface="Arial"/>
              </a:rPr>
              <a:t>female politicians minus male</a:t>
            </a:r>
            <a:r>
              <a:rPr lang="en-US" sz="1100" dirty="0">
                <a:latin typeface="Arial"/>
                <a:ea typeface="Arial"/>
                <a:cs typeface="Arial"/>
                <a:sym typeface="Arial"/>
              </a:rPr>
              <a:t>.</a:t>
            </a:r>
            <a:br>
              <a:rPr lang="en-US" sz="1100" dirty="0">
                <a:latin typeface="Arial"/>
                <a:ea typeface="Arial"/>
                <a:cs typeface="Arial"/>
                <a:sym typeface="Arial"/>
              </a:rPr>
            </a:br>
            <a:r>
              <a:rPr lang="en-US" sz="1100" dirty="0">
                <a:latin typeface="Arial"/>
                <a:ea typeface="Arial"/>
                <a:cs typeface="Arial"/>
                <a:sym typeface="Arial"/>
              </a:rPr>
              <a:t> Women have more positive tone and higher </a:t>
            </a:r>
            <a:r>
              <a:rPr lang="en-US" sz="1100" b="1" dirty="0">
                <a:latin typeface="Arial"/>
                <a:ea typeface="Arial"/>
                <a:cs typeface="Arial"/>
                <a:sym typeface="Arial"/>
              </a:rPr>
              <a:t>clout</a:t>
            </a:r>
            <a:r>
              <a:rPr lang="en-US" sz="1100" dirty="0">
                <a:latin typeface="Arial"/>
                <a:ea typeface="Arial"/>
                <a:cs typeface="Arial"/>
                <a:sym typeface="Arial"/>
              </a:rPr>
              <a:t>, </a:t>
            </a:r>
            <a:r>
              <a:rPr lang="en-US" sz="1100" b="1" dirty="0">
                <a:latin typeface="Arial"/>
                <a:ea typeface="Arial"/>
                <a:cs typeface="Arial"/>
                <a:sym typeface="Arial"/>
              </a:rPr>
              <a:t>work</a:t>
            </a:r>
            <a:r>
              <a:rPr lang="en-US" sz="1100" dirty="0">
                <a:latin typeface="Arial"/>
                <a:ea typeface="Arial"/>
                <a:cs typeface="Arial"/>
                <a:sym typeface="Arial"/>
              </a:rPr>
              <a:t>, and </a:t>
            </a:r>
            <a:r>
              <a:rPr lang="en-US" sz="1100" b="1" dirty="0">
                <a:latin typeface="Arial"/>
                <a:ea typeface="Arial"/>
                <a:cs typeface="Arial"/>
                <a:sym typeface="Arial"/>
              </a:rPr>
              <a:t>social</a:t>
            </a:r>
            <a:r>
              <a:rPr lang="en-US" sz="1100" dirty="0">
                <a:latin typeface="Arial"/>
                <a:ea typeface="Arial"/>
                <a:cs typeface="Arial"/>
                <a:sym typeface="Arial"/>
              </a:rPr>
              <a:t> language, while men are higher on </a:t>
            </a:r>
            <a:r>
              <a:rPr lang="en-US" sz="1100" b="1" dirty="0">
                <a:latin typeface="Arial"/>
                <a:ea typeface="Arial"/>
                <a:cs typeface="Arial"/>
                <a:sym typeface="Arial"/>
              </a:rPr>
              <a:t>politic</a:t>
            </a:r>
            <a:r>
              <a:rPr lang="en-US" sz="1100" dirty="0">
                <a:latin typeface="Arial"/>
                <a:ea typeface="Arial"/>
                <a:cs typeface="Arial"/>
                <a:sym typeface="Arial"/>
              </a:rPr>
              <a:t> and </a:t>
            </a:r>
            <a:r>
              <a:rPr lang="en-US" sz="1100" b="1" dirty="0">
                <a:latin typeface="Arial"/>
                <a:ea typeface="Arial"/>
                <a:cs typeface="Arial"/>
                <a:sym typeface="Arial"/>
              </a:rPr>
              <a:t>I pronoun</a:t>
            </a:r>
            <a:r>
              <a:rPr lang="en-US" sz="1100" dirty="0">
                <a:latin typeface="Arial"/>
                <a:ea typeface="Arial"/>
                <a:cs typeface="Arial"/>
                <a:sym typeface="Arial"/>
              </a:rPr>
              <a:t> usage.</a:t>
            </a: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sz="1100" dirty="0">
              <a:latin typeface="Arial"/>
              <a:ea typeface="Arial"/>
              <a:cs typeface="Arial"/>
              <a:sym typeface="Arial"/>
            </a:endParaRPr>
          </a:p>
        </p:txBody>
      </p:sp>
      <p:sp>
        <p:nvSpPr>
          <p:cNvPr id="276" name="Google Shape;27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2: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2: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SzPts val="1100"/>
              <a:buNone/>
            </a:pPr>
            <a:r>
              <a:rPr lang="en-US" sz="1100" dirty="0">
                <a:latin typeface="Arial"/>
                <a:ea typeface="Arial"/>
                <a:cs typeface="Arial"/>
                <a:sym typeface="Arial"/>
              </a:rPr>
              <a:t>Here I am no longer comparing one parliamentary group to another.</a:t>
            </a:r>
            <a:br>
              <a:rPr lang="en-US" sz="1100" dirty="0">
                <a:latin typeface="Arial"/>
                <a:ea typeface="Arial"/>
                <a:cs typeface="Arial"/>
                <a:sym typeface="Arial"/>
              </a:rPr>
            </a:br>
            <a:r>
              <a:rPr lang="en-US" sz="1100" dirty="0">
                <a:latin typeface="Arial"/>
                <a:ea typeface="Arial"/>
                <a:cs typeface="Arial"/>
                <a:sym typeface="Arial"/>
              </a:rPr>
              <a:t> Instead, I compare each group to the </a:t>
            </a:r>
            <a:r>
              <a:rPr lang="en-US" sz="1100" b="1" dirty="0">
                <a:latin typeface="Arial"/>
                <a:ea typeface="Arial"/>
                <a:cs typeface="Arial"/>
                <a:sym typeface="Arial"/>
              </a:rPr>
              <a:t>LIWC-22 Test Kitchen benchmark corpus</a:t>
            </a:r>
            <a:r>
              <a:rPr lang="en-US" sz="1100" dirty="0">
                <a:latin typeface="Arial"/>
                <a:ea typeface="Arial"/>
                <a:cs typeface="Arial"/>
                <a:sym typeface="Arial"/>
              </a:rPr>
              <a:t>.</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a:t>
            </a:r>
            <a:r>
              <a:rPr lang="en-US" sz="1100" b="1" dirty="0">
                <a:latin typeface="Arial"/>
                <a:ea typeface="Arial"/>
                <a:cs typeface="Arial"/>
                <a:sym typeface="Arial"/>
              </a:rPr>
              <a:t>benchmark corpus</a:t>
            </a:r>
            <a:r>
              <a:rPr lang="en-US" sz="1100" dirty="0">
                <a:latin typeface="Arial"/>
                <a:ea typeface="Arial"/>
                <a:cs typeface="Arial"/>
                <a:sym typeface="Arial"/>
              </a:rPr>
              <a:t> is LIWC’s large reference corpus, drawn from </a:t>
            </a:r>
            <a:r>
              <a:rPr lang="en-US" sz="1100" b="1" dirty="0">
                <a:latin typeface="Arial"/>
                <a:ea typeface="Arial"/>
                <a:cs typeface="Arial"/>
                <a:sym typeface="Arial"/>
              </a:rPr>
              <a:t>15 different sources</a:t>
            </a:r>
            <a:r>
              <a:rPr lang="en-US" sz="1100" dirty="0">
                <a:latin typeface="Arial"/>
                <a:ea typeface="Arial"/>
                <a:cs typeface="Arial"/>
                <a:sym typeface="Arial"/>
              </a:rPr>
              <a:t> such as blogs, emails, movie dialogue, social media, news articles. It was created to provide a </a:t>
            </a:r>
            <a:r>
              <a:rPr lang="en-US" sz="1100" b="1" dirty="0">
                <a:latin typeface="Arial"/>
                <a:ea typeface="Arial"/>
                <a:cs typeface="Arial"/>
                <a:sym typeface="Arial"/>
              </a:rPr>
              <a:t>broad baseline of English language use across many contexts</a:t>
            </a:r>
            <a:r>
              <a:rPr lang="en-US" sz="1100" dirty="0">
                <a:latin typeface="Arial"/>
                <a:ea typeface="Arial"/>
                <a:cs typeface="Arial"/>
                <a:sym typeface="Arial"/>
              </a:rPr>
              <a:t>, so when I compare parliament to this benchmark, I am comparing it to a diverse external reference rather than to another parliamentary subgroup.</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So the numbers here are standard z-scores relative to that benchmark.</a:t>
            </a:r>
            <a:br>
              <a:rPr lang="en-US" sz="1100" dirty="0">
                <a:latin typeface="Arial"/>
                <a:ea typeface="Arial"/>
                <a:cs typeface="Arial"/>
                <a:sym typeface="Arial"/>
              </a:rPr>
            </a:br>
            <a:endParaRPr lang="en-US"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first broad pattern is that all age groups look clearly political: categories like </a:t>
            </a:r>
            <a:r>
              <a:rPr lang="en-US" sz="1100" b="1" dirty="0">
                <a:latin typeface="Arial"/>
                <a:ea typeface="Arial"/>
                <a:cs typeface="Arial"/>
                <a:sym typeface="Arial"/>
              </a:rPr>
              <a:t>power</a:t>
            </a:r>
            <a:r>
              <a:rPr lang="en-US" sz="1100" dirty="0">
                <a:latin typeface="Arial"/>
                <a:ea typeface="Arial"/>
                <a:cs typeface="Arial"/>
                <a:sym typeface="Arial"/>
              </a:rPr>
              <a:t> and </a:t>
            </a:r>
            <a:r>
              <a:rPr lang="en-US" sz="1100" b="1" dirty="0">
                <a:latin typeface="Arial"/>
                <a:ea typeface="Arial"/>
                <a:cs typeface="Arial"/>
                <a:sym typeface="Arial"/>
              </a:rPr>
              <a:t>politic</a:t>
            </a:r>
            <a:r>
              <a:rPr lang="en-US" sz="1100" dirty="0">
                <a:latin typeface="Arial"/>
                <a:ea typeface="Arial"/>
                <a:cs typeface="Arial"/>
                <a:sym typeface="Arial"/>
              </a:rPr>
              <a:t> are elevated across the board.</a:t>
            </a:r>
            <a:br>
              <a:rPr lang="en-US" sz="1100" dirty="0">
                <a:latin typeface="Arial"/>
                <a:ea typeface="Arial"/>
                <a:cs typeface="Arial"/>
                <a:sym typeface="Arial"/>
              </a:rPr>
            </a:br>
            <a:r>
              <a:rPr lang="en-US" sz="1100" dirty="0">
                <a:latin typeface="Arial"/>
                <a:ea typeface="Arial"/>
                <a:cs typeface="Arial"/>
                <a:sym typeface="Arial"/>
              </a:rPr>
              <a:t> In other words, regardless of age, parliamentarians do not sound like everyday language.</a:t>
            </a: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second pattern is the age gradient.</a:t>
            </a:r>
            <a:br>
              <a:rPr lang="en-US" sz="1100" dirty="0">
                <a:latin typeface="Arial"/>
                <a:ea typeface="Arial"/>
                <a:cs typeface="Arial"/>
                <a:sym typeface="Arial"/>
              </a:rPr>
            </a:br>
            <a:r>
              <a:rPr lang="en-US" sz="1100" dirty="0">
                <a:latin typeface="Arial"/>
                <a:ea typeface="Arial"/>
                <a:cs typeface="Arial"/>
                <a:sym typeface="Arial"/>
              </a:rPr>
              <a:t> Younger politicians compared to older are relatively higher on more personal or self-presentational dimensions such as </a:t>
            </a:r>
            <a:r>
              <a:rPr lang="en-US" sz="1100" b="1" dirty="0">
                <a:latin typeface="Arial"/>
                <a:ea typeface="Arial"/>
                <a:cs typeface="Arial"/>
                <a:sym typeface="Arial"/>
              </a:rPr>
              <a:t>I pronouns</a:t>
            </a:r>
            <a:r>
              <a:rPr lang="en-US" sz="1100" dirty="0">
                <a:latin typeface="Arial"/>
                <a:ea typeface="Arial"/>
                <a:cs typeface="Arial"/>
                <a:sym typeface="Arial"/>
              </a:rPr>
              <a:t>, </a:t>
            </a:r>
            <a:r>
              <a:rPr lang="en-US" sz="1100" b="1" dirty="0">
                <a:latin typeface="Arial"/>
                <a:ea typeface="Arial"/>
                <a:cs typeface="Arial"/>
                <a:sym typeface="Arial"/>
              </a:rPr>
              <a:t>clout</a:t>
            </a:r>
            <a:r>
              <a:rPr lang="en-US" sz="1100" dirty="0">
                <a:latin typeface="Arial"/>
                <a:ea typeface="Arial"/>
                <a:cs typeface="Arial"/>
                <a:sym typeface="Arial"/>
              </a:rPr>
              <a:t>, </a:t>
            </a:r>
            <a:r>
              <a:rPr lang="en-US" sz="1100" b="1" dirty="0">
                <a:latin typeface="Arial"/>
                <a:ea typeface="Arial"/>
                <a:cs typeface="Arial"/>
                <a:sym typeface="Arial"/>
              </a:rPr>
              <a:t>money</a:t>
            </a:r>
            <a:r>
              <a:rPr lang="en-US" sz="1100" dirty="0">
                <a:latin typeface="Arial"/>
                <a:ea typeface="Arial"/>
                <a:cs typeface="Arial"/>
                <a:sym typeface="Arial"/>
              </a:rPr>
              <a:t>, and </a:t>
            </a:r>
            <a:r>
              <a:rPr lang="en-US" sz="1100" b="1" dirty="0">
                <a:latin typeface="Arial"/>
                <a:ea typeface="Arial"/>
                <a:cs typeface="Arial"/>
                <a:sym typeface="Arial"/>
              </a:rPr>
              <a:t>certitude</a:t>
            </a:r>
            <a:r>
              <a:rPr lang="en-US" sz="1100" dirty="0">
                <a:latin typeface="Arial"/>
                <a:ea typeface="Arial"/>
                <a:cs typeface="Arial"/>
                <a:sym typeface="Arial"/>
              </a:rPr>
              <a:t>, and lower on social, power and politic. </a:t>
            </a: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dirty="0">
              <a:solidFill>
                <a:srgbClr val="0F0F0F"/>
              </a:solidFill>
              <a:latin typeface="Arial"/>
              <a:ea typeface="Arial"/>
              <a:cs typeface="Arial"/>
              <a:sym typeface="Arial"/>
            </a:endParaRPr>
          </a:p>
        </p:txBody>
      </p:sp>
      <p:sp>
        <p:nvSpPr>
          <p:cNvPr id="299" name="Google Shape;29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3: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3: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SzPts val="1100"/>
              <a:buNone/>
            </a:pPr>
            <a:r>
              <a:rPr lang="en-US" sz="1100" dirty="0">
                <a:latin typeface="Arial"/>
                <a:ea typeface="Arial"/>
                <a:cs typeface="Arial"/>
                <a:sym typeface="Arial"/>
              </a:rPr>
              <a:t>This slide uses the same benchmark comparison as the previous one, so these are again z-scores relative to the LIWC-22 benchmark corpus.</a:t>
            </a:r>
            <a:endParaRPr sz="1100" dirty="0">
              <a:latin typeface="Arial"/>
              <a:ea typeface="Arial"/>
              <a:cs typeface="Arial"/>
              <a:sym typeface="Arial"/>
            </a:endParaRPr>
          </a:p>
          <a:p>
            <a:pPr marL="0" lvl="0" indent="0" algn="l" rtl="0">
              <a:lnSpc>
                <a:spcPct val="115000"/>
              </a:lnSpc>
              <a:spcBef>
                <a:spcPts val="1200"/>
              </a:spcBef>
              <a:spcAft>
                <a:spcPts val="0"/>
              </a:spcAft>
              <a:buSzPts val="1100"/>
              <a:buNone/>
            </a:pPr>
            <a:r>
              <a:rPr lang="en-US" sz="1100" dirty="0">
                <a:latin typeface="Arial"/>
                <a:ea typeface="Arial"/>
                <a:cs typeface="Arial"/>
                <a:sym typeface="Arial"/>
              </a:rPr>
              <a:t>I was quite excited about this analysis, because I expected ideology to leave a strong linguistic fingerprint.</a:t>
            </a:r>
            <a:br>
              <a:rPr lang="en-US" sz="1100" dirty="0">
                <a:latin typeface="Arial"/>
                <a:ea typeface="Arial"/>
                <a:cs typeface="Arial"/>
                <a:sym typeface="Arial"/>
              </a:rPr>
            </a:br>
            <a:r>
              <a:rPr lang="en-US" sz="1100" dirty="0">
                <a:latin typeface="Arial"/>
                <a:ea typeface="Arial"/>
                <a:cs typeface="Arial"/>
                <a:sym typeface="Arial"/>
              </a:rPr>
              <a:t> Intuitively, we might think that left-leaning and right-leaning parties should sound very different in the way they speak.</a:t>
            </a:r>
            <a:endParaRPr sz="1100" dirty="0">
              <a:latin typeface="Arial"/>
              <a:ea typeface="Arial"/>
              <a:cs typeface="Arial"/>
              <a:sym typeface="Arial"/>
            </a:endParaRPr>
          </a:p>
          <a:p>
            <a:pPr marL="0" lvl="0" indent="0" algn="l" rtl="0">
              <a:lnSpc>
                <a:spcPct val="115000"/>
              </a:lnSpc>
              <a:spcBef>
                <a:spcPts val="1200"/>
              </a:spcBef>
              <a:spcAft>
                <a:spcPts val="0"/>
              </a:spcAft>
              <a:buSzPts val="1100"/>
              <a:buNone/>
            </a:pPr>
            <a:r>
              <a:rPr lang="en-US" sz="1100" dirty="0">
                <a:latin typeface="Arial"/>
                <a:ea typeface="Arial"/>
                <a:cs typeface="Arial"/>
                <a:sym typeface="Arial"/>
              </a:rPr>
              <a:t>But the surprising result is how similar they look.</a:t>
            </a:r>
            <a:br>
              <a:rPr lang="en-US" sz="1100" dirty="0">
                <a:latin typeface="Arial"/>
                <a:ea typeface="Arial"/>
                <a:cs typeface="Arial"/>
                <a:sym typeface="Arial"/>
              </a:rPr>
            </a:br>
            <a:r>
              <a:rPr lang="en-US" sz="1100" dirty="0">
                <a:latin typeface="Arial"/>
                <a:ea typeface="Arial"/>
                <a:cs typeface="Arial"/>
                <a:sym typeface="Arial"/>
              </a:rPr>
              <a:t>The main contrast is not left versus right, but parliamentary language versus general language.</a:t>
            </a:r>
            <a:endParaRPr sz="1100" dirty="0">
              <a:latin typeface="Arial"/>
              <a:ea typeface="Arial"/>
              <a:cs typeface="Arial"/>
              <a:sym typeface="Arial"/>
            </a:endParaRPr>
          </a:p>
          <a:p>
            <a:pPr marL="0" lvl="0" indent="0" algn="l" rtl="0">
              <a:lnSpc>
                <a:spcPct val="115000"/>
              </a:lnSpc>
              <a:spcBef>
                <a:spcPts val="1200"/>
              </a:spcBef>
              <a:spcAft>
                <a:spcPts val="0"/>
              </a:spcAft>
              <a:buSzPts val="1100"/>
              <a:buNone/>
            </a:pPr>
            <a:r>
              <a:rPr lang="en-US" sz="1100" dirty="0">
                <a:latin typeface="Arial"/>
                <a:ea typeface="Arial"/>
                <a:cs typeface="Arial"/>
                <a:sym typeface="Arial"/>
              </a:rPr>
              <a:t> There are some smaller differences.</a:t>
            </a:r>
            <a:br>
              <a:rPr lang="en-US" sz="1100" dirty="0">
                <a:latin typeface="Arial"/>
                <a:ea typeface="Arial"/>
                <a:cs typeface="Arial"/>
                <a:sym typeface="Arial"/>
              </a:rPr>
            </a:br>
            <a:r>
              <a:rPr lang="en-US" sz="1100" dirty="0">
                <a:latin typeface="Arial"/>
                <a:ea typeface="Arial"/>
                <a:cs typeface="Arial"/>
                <a:sym typeface="Arial"/>
              </a:rPr>
              <a:t> But compared to topic and institutional role, ideology seems to matter much less for rhetorical style.</a:t>
            </a:r>
            <a:endParaRPr sz="1100" dirty="0">
              <a:latin typeface="Arial"/>
              <a:ea typeface="Arial"/>
              <a:cs typeface="Arial"/>
              <a:sym typeface="Arial"/>
            </a:endParaRPr>
          </a:p>
          <a:p>
            <a:pPr marL="0" lvl="0" indent="0" algn="l" rtl="0">
              <a:lnSpc>
                <a:spcPct val="115000"/>
              </a:lnSpc>
              <a:spcBef>
                <a:spcPts val="1200"/>
              </a:spcBef>
              <a:spcAft>
                <a:spcPts val="0"/>
              </a:spcAft>
              <a:buSzPts val="1100"/>
              <a:buNone/>
            </a:pPr>
            <a:r>
              <a:rPr lang="en-US" sz="1100" dirty="0">
                <a:latin typeface="Arial"/>
                <a:ea typeface="Arial"/>
                <a:cs typeface="Arial"/>
                <a:sym typeface="Arial"/>
              </a:rPr>
              <a:t>So the takeaway is that parliament as an institution appears to standardize language more than ideology differentiates it.</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lnSpc>
                <a:spcPct val="115000"/>
              </a:lnSpc>
              <a:spcBef>
                <a:spcPts val="1200"/>
              </a:spcBef>
              <a:spcAft>
                <a:spcPts val="0"/>
              </a:spcAft>
              <a:buSzPts val="1400"/>
              <a:buNone/>
            </a:pPr>
            <a:endParaRPr dirty="0">
              <a:solidFill>
                <a:srgbClr val="0F0F0F"/>
              </a:solidFill>
              <a:latin typeface="Arial"/>
              <a:ea typeface="Arial"/>
              <a:cs typeface="Arial"/>
              <a:sym typeface="Arial"/>
            </a:endParaRPr>
          </a:p>
        </p:txBody>
      </p:sp>
      <p:sp>
        <p:nvSpPr>
          <p:cNvPr id="319" name="Google Shape;31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4: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14: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Now let's look at how things change over time. Lines represent the % of speeches being about a certain topic.</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The clearest finding: major crises temporarily reshape what parliament talks about. During COVID in 2020, health debate spiked dramatically and macroeconomic debate fell — parliament's attention shifted to the crisis. We all lived through that, and it shows up in the data exactly as you'd expect.</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We also see a regular rhythmic pattern: macroeconomic debate peaks every autumn when national budgets are being debated, then recedes. This budget-cycle rhythm is visible in all three countries.</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dirty="0">
                <a:solidFill>
                  <a:srgbClr val="0F0F0F"/>
                </a:solidFill>
                <a:latin typeface="Arial"/>
                <a:ea typeface="Arial"/>
                <a:cs typeface="Arial"/>
                <a:sym typeface="Arial"/>
              </a:rPr>
              <a:t>And crucially, after a crisis, parliament's topic distribution returns toward its long-run baseline. Crises are temporary disruptions to the agenda — not permanent structural shifts. That reversion only becomes visible because we're aggregating at the episode level. Speech-level analysis would be too noisy to see it.</a:t>
            </a:r>
            <a:endParaRPr dirty="0">
              <a:solidFill>
                <a:srgbClr val="0F0F0F"/>
              </a:solidFill>
              <a:latin typeface="Arial"/>
              <a:ea typeface="Arial"/>
              <a:cs typeface="Arial"/>
              <a:sym typeface="Arial"/>
            </a:endParaRPr>
          </a:p>
          <a:p>
            <a:pPr marL="0" lvl="0" indent="0" algn="l" rtl="0">
              <a:lnSpc>
                <a:spcPct val="115000"/>
              </a:lnSpc>
              <a:spcBef>
                <a:spcPts val="1200"/>
              </a:spcBef>
              <a:spcAft>
                <a:spcPts val="0"/>
              </a:spcAft>
              <a:buSzPts val="1400"/>
              <a:buNone/>
            </a:pPr>
            <a:endParaRPr dirty="0">
              <a:solidFill>
                <a:srgbClr val="0F0F0F"/>
              </a:solidFill>
              <a:latin typeface="Arial"/>
              <a:ea typeface="Arial"/>
              <a:cs typeface="Arial"/>
              <a:sym typeface="Arial"/>
            </a:endParaRPr>
          </a:p>
        </p:txBody>
      </p:sp>
      <p:sp>
        <p:nvSpPr>
          <p:cNvPr id="333" name="Google Shape;33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5: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15: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same pattern that appeared in topic attention also shows up in how parliament speaks. Each line represents one </a:t>
            </a:r>
            <a:r>
              <a:rPr lang="en-US" sz="1100" dirty="0" err="1">
                <a:latin typeface="Arial"/>
                <a:ea typeface="Arial"/>
                <a:cs typeface="Arial"/>
                <a:sym typeface="Arial"/>
              </a:rPr>
              <a:t>liwc</a:t>
            </a:r>
            <a:r>
              <a:rPr lang="en-US" sz="1100" dirty="0">
                <a:latin typeface="Arial"/>
                <a:ea typeface="Arial"/>
                <a:cs typeface="Arial"/>
                <a:sym typeface="Arial"/>
              </a:rPr>
              <a:t> dimensions and how it changes over time. </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Adversarial, politically-charged language what LIWC calls the "politic" dimension, covering words related to political conflict and power struggle spikes during major crises. The 2015 migration crisis, COVID in 2020, the Ukraine war in 2022. Across all three parliaments, roughly the same timing and direction.</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But it doesn't stay elevated. Once these phases pass, rhetoric returns toward its baseline. Parliament absorbs the shock and reverts to its normal stylistic equilibrium.</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Here's an important detail: different LIWC dimensions return to baseline at different speeds. Power language comes down faster than moral language. That difference in reversion speed is informative. It tells us something real about how institutions process different kinds of political pressure.</a:t>
            </a:r>
            <a:endParaRPr sz="1100" dirty="0">
              <a:latin typeface="Arial"/>
              <a:ea typeface="Arial"/>
              <a:cs typeface="Arial"/>
              <a:sym typeface="Arial"/>
            </a:endParaRPr>
          </a:p>
        </p:txBody>
      </p:sp>
      <p:sp>
        <p:nvSpPr>
          <p:cNvPr id="361" name="Google Shape;36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6:notes"/>
          <p:cNvSpPr>
            <a:spLocks noGrp="1" noRot="1" noChangeAspect="1"/>
          </p:cNvSpPr>
          <p:nvPr>
            <p:ph type="sldImg" idx="2"/>
          </p:nvPr>
        </p:nvSpPr>
        <p:spPr>
          <a:xfrm>
            <a:off x="700088" y="1143000"/>
            <a:ext cx="54578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16:notes"/>
          <p:cNvSpPr txBox="1">
            <a:spLocks noGrp="1"/>
          </p:cNvSpPr>
          <p:nvPr>
            <p:ph type="body" idx="1"/>
          </p:nvPr>
        </p:nvSpPr>
        <p:spPr>
          <a:xfrm>
            <a:off x="685800" y="1143000"/>
            <a:ext cx="8229600" cy="5486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To conclude, there are three main contributions.</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First, </a:t>
            </a:r>
            <a:r>
              <a:rPr lang="en-US" sz="1100" b="1" dirty="0">
                <a:latin typeface="Arial"/>
                <a:ea typeface="Arial"/>
                <a:cs typeface="Arial"/>
                <a:sym typeface="Arial"/>
              </a:rPr>
              <a:t>context matters for topic labelling</a:t>
            </a:r>
            <a:r>
              <a:rPr lang="en-US" sz="1100" dirty="0">
                <a:latin typeface="Arial"/>
                <a:ea typeface="Arial"/>
                <a:cs typeface="Arial"/>
                <a:sym typeface="Arial"/>
              </a:rPr>
              <a:t>.</a:t>
            </a:r>
            <a:br>
              <a:rPr lang="en-US" sz="1100" dirty="0">
                <a:latin typeface="Arial"/>
                <a:ea typeface="Arial"/>
                <a:cs typeface="Arial"/>
                <a:sym typeface="Arial"/>
              </a:rPr>
            </a:br>
            <a:r>
              <a:rPr lang="en-US" sz="1100" dirty="0">
                <a:latin typeface="Arial"/>
                <a:ea typeface="Arial"/>
                <a:cs typeface="Arial"/>
                <a:sym typeface="Arial"/>
              </a:rPr>
              <a:t> Segmenting debate into agenda episodes produces more coherent topic assignments than treating speeches independently.</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Second, </a:t>
            </a:r>
            <a:r>
              <a:rPr lang="en-US" sz="1100" b="1" dirty="0">
                <a:latin typeface="Arial"/>
                <a:ea typeface="Arial"/>
                <a:cs typeface="Arial"/>
                <a:sym typeface="Arial"/>
              </a:rPr>
              <a:t>topic and institutional role shape style most strongly</a:t>
            </a:r>
            <a:r>
              <a:rPr lang="en-US" sz="1100" dirty="0">
                <a:latin typeface="Arial"/>
                <a:ea typeface="Arial"/>
                <a:cs typeface="Arial"/>
                <a:sym typeface="Arial"/>
              </a:rPr>
              <a:t>.</a:t>
            </a:r>
            <a:br>
              <a:rPr lang="en-US" sz="1100" dirty="0">
                <a:latin typeface="Arial"/>
                <a:ea typeface="Arial"/>
                <a:cs typeface="Arial"/>
                <a:sym typeface="Arial"/>
              </a:rPr>
            </a:br>
            <a:r>
              <a:rPr lang="en-US" sz="1100" dirty="0">
                <a:latin typeface="Arial"/>
                <a:ea typeface="Arial"/>
                <a:cs typeface="Arial"/>
                <a:sym typeface="Arial"/>
              </a:rPr>
              <a:t> Gender, age, and ideology matter too, but their effects are generally smaller.</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Third, </a:t>
            </a:r>
            <a:r>
              <a:rPr lang="en-US" sz="1100" b="1" dirty="0">
                <a:latin typeface="Arial"/>
                <a:ea typeface="Arial"/>
                <a:cs typeface="Arial"/>
                <a:sym typeface="Arial"/>
              </a:rPr>
              <a:t>crises affect both attention and rhetoric, but mostly temporarily</a:t>
            </a:r>
            <a:r>
              <a:rPr lang="en-US" sz="1100" dirty="0">
                <a:latin typeface="Arial"/>
                <a:ea typeface="Arial"/>
                <a:cs typeface="Arial"/>
                <a:sym typeface="Arial"/>
              </a:rPr>
              <a:t>.</a:t>
            </a:r>
            <a:br>
              <a:rPr lang="en-US" sz="1100" dirty="0">
                <a:latin typeface="Arial"/>
                <a:ea typeface="Arial"/>
                <a:cs typeface="Arial"/>
                <a:sym typeface="Arial"/>
              </a:rPr>
            </a:br>
            <a:r>
              <a:rPr lang="en-US" sz="1100" dirty="0">
                <a:latin typeface="Arial"/>
                <a:ea typeface="Arial"/>
                <a:cs typeface="Arial"/>
                <a:sym typeface="Arial"/>
              </a:rPr>
              <a:t> They shift what parliaments discuss and how they speak, but these shifts tend to move back toward baseline.</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The main limitation is that my method works at the episode level, while most evaluation benchmarks are still speech-level.</a:t>
            </a:r>
            <a:br>
              <a:rPr lang="en-US" sz="1100" dirty="0">
                <a:latin typeface="Arial"/>
                <a:ea typeface="Arial"/>
                <a:cs typeface="Arial"/>
                <a:sym typeface="Arial"/>
              </a:rPr>
            </a:br>
            <a:r>
              <a:rPr lang="en-US" sz="1100" dirty="0">
                <a:latin typeface="Arial"/>
                <a:ea typeface="Arial"/>
                <a:cs typeface="Arial"/>
                <a:sym typeface="Arial"/>
              </a:rPr>
              <a:t> So the most important next step is to create episode-level gold labels.</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After that, I see two main extensions: One is scaling the framework to all 29 European parliaments. Second would be linking rhetorical patterns to voting outcomes on certain policies.</a:t>
            </a:r>
            <a:br>
              <a:rPr lang="en-US" sz="1100" dirty="0">
                <a:latin typeface="Arial"/>
                <a:ea typeface="Arial"/>
                <a:cs typeface="Arial"/>
                <a:sym typeface="Arial"/>
              </a:rPr>
            </a:br>
            <a:r>
              <a:rPr lang="en-US" sz="1100" dirty="0">
                <a:latin typeface="Arial"/>
                <a:ea typeface="Arial"/>
                <a:cs typeface="Arial"/>
                <a:sym typeface="Arial"/>
              </a:rPr>
              <a:t> For example, an interesting next step would be to test whether certain styles of speech — such as stronger emotional framing, greater certainty, being more analytical or being more casual — are associated with higher levels of support for bills or legislative success.</a:t>
            </a:r>
            <a:endParaRPr sz="1100" dirty="0">
              <a:latin typeface="Arial"/>
              <a:ea typeface="Arial"/>
              <a:cs typeface="Arial"/>
              <a:sym typeface="Arial"/>
            </a:endParaRPr>
          </a:p>
          <a:p>
            <a:pPr marL="0" lvl="0" indent="0" algn="l" rtl="0">
              <a:lnSpc>
                <a:spcPct val="115000"/>
              </a:lnSpc>
              <a:spcBef>
                <a:spcPts val="1200"/>
              </a:spcBef>
              <a:spcAft>
                <a:spcPts val="1200"/>
              </a:spcAft>
              <a:buSzPts val="1100"/>
              <a:buNone/>
            </a:pPr>
            <a:r>
              <a:rPr lang="en-US" sz="1100" dirty="0">
                <a:latin typeface="Arial"/>
                <a:ea typeface="Arial"/>
                <a:cs typeface="Arial"/>
                <a:sym typeface="Arial"/>
              </a:rPr>
              <a:t>That would shift the project from describing parliamentary language to asking whether rhetorical style also has predictive power.</a:t>
            </a:r>
            <a:endParaRPr sz="1100" dirty="0">
              <a:latin typeface="Arial"/>
              <a:ea typeface="Arial"/>
              <a:cs typeface="Arial"/>
              <a:sym typeface="Arial"/>
            </a:endParaRPr>
          </a:p>
        </p:txBody>
      </p:sp>
      <p:sp>
        <p:nvSpPr>
          <p:cNvPr id="385" name="Google Shape;38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If the question is whether machine translation breaks the embedding space: I validated that native-language and English translation embeddings remain highly similar for the vast majority of speeches.</a:t>
            </a:r>
            <a:endParaRPr/>
          </a:p>
          <a:p>
            <a:pPr marL="0" lvl="0" indent="0" algn="l" rtl="0">
              <a:lnSpc>
                <a:spcPct val="115000"/>
              </a:lnSpc>
              <a:spcBef>
                <a:spcPts val="1200"/>
              </a:spcBef>
              <a:spcAft>
                <a:spcPts val="0"/>
              </a:spcAft>
              <a:buClr>
                <a:schemeClr val="dk1"/>
              </a:buClr>
              <a:buSzPts val="1100"/>
              <a:buFont typeface="Arial"/>
              <a:buNone/>
            </a:pPr>
            <a:r>
              <a:rPr lang="en-US"/>
              <a:t>The mean and median similarity are around the mid-to-high 0.8 range in Austria, with more noise for very short speeches. Chunking and averaging reduces that noise.</a:t>
            </a:r>
            <a:endParaRPr/>
          </a:p>
          <a:p>
            <a:pPr marL="0" lvl="0" indent="0" algn="l" rtl="0">
              <a:lnSpc>
                <a:spcPct val="115000"/>
              </a:lnSpc>
              <a:spcBef>
                <a:spcPts val="1200"/>
              </a:spcBef>
              <a:spcAft>
                <a:spcPts val="1200"/>
              </a:spcAft>
              <a:buSzPts val="1100"/>
              <a:buNone/>
            </a:pPr>
            <a:r>
              <a:rPr lang="en-US"/>
              <a:t>This supports using a single pipeline across languages, and then doing LIWC on translated text with country-wise normalization.</a:t>
            </a:r>
            <a:endParaRPr/>
          </a:p>
        </p:txBody>
      </p:sp>
      <p:sp>
        <p:nvSpPr>
          <p:cNvPr id="406" name="Google Shape;40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pic>
        <p:nvPicPr>
          <p:cNvPr id="16" name="Google Shape;16;p3" descr="preencoded.png"/>
          <p:cNvPicPr preferRelativeResize="0"/>
          <p:nvPr/>
        </p:nvPicPr>
        <p:blipFill rotWithShape="1">
          <a:blip r:embed="rId3">
            <a:alphaModFix/>
          </a:blip>
          <a:srcRect/>
          <a:stretch/>
        </p:blipFill>
        <p:spPr>
          <a:xfrm>
            <a:off x="0" y="0"/>
            <a:ext cx="12937846" cy="7315200"/>
          </a:xfrm>
          <a:prstGeom prst="rect">
            <a:avLst/>
          </a:prstGeom>
          <a:noFill/>
          <a:ln>
            <a:noFill/>
          </a:ln>
        </p:spPr>
      </p:pic>
      <p:sp>
        <p:nvSpPr>
          <p:cNvPr id="17" name="Google Shape;17;p3"/>
          <p:cNvSpPr/>
          <p:nvPr/>
        </p:nvSpPr>
        <p:spPr>
          <a:xfrm>
            <a:off x="877200" y="1366825"/>
            <a:ext cx="9043800" cy="2056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70146"/>
              </a:buClr>
              <a:buSzPts val="3400"/>
              <a:buFont typeface="Arial"/>
              <a:buNone/>
            </a:pPr>
            <a:r>
              <a:rPr lang="en-US" sz="3400" b="1" i="0" u="none" strike="noStrike" cap="none">
                <a:solidFill>
                  <a:srgbClr val="F70146"/>
                </a:solidFill>
                <a:latin typeface="Arial"/>
                <a:ea typeface="Arial"/>
                <a:cs typeface="Arial"/>
                <a:sym typeface="Arial"/>
              </a:rPr>
              <a:t>Beyond the Speech:</a:t>
            </a:r>
            <a:endParaRPr sz="3400" b="1" i="0" u="none" strike="noStrike" cap="none">
              <a:solidFill>
                <a:srgbClr val="F70146"/>
              </a:solidFill>
              <a:latin typeface="Arial"/>
              <a:ea typeface="Arial"/>
              <a:cs typeface="Arial"/>
              <a:sym typeface="Arial"/>
            </a:endParaRPr>
          </a:p>
          <a:p>
            <a:pPr marL="0" marR="0" lvl="0" indent="0" algn="l" rtl="0">
              <a:lnSpc>
                <a:spcPct val="100000"/>
              </a:lnSpc>
              <a:spcBef>
                <a:spcPts val="0"/>
              </a:spcBef>
              <a:spcAft>
                <a:spcPts val="0"/>
              </a:spcAft>
              <a:buClr>
                <a:srgbClr val="F70146"/>
              </a:buClr>
              <a:buSzPts val="3400"/>
              <a:buFont typeface="Arial"/>
              <a:buNone/>
            </a:pPr>
            <a:r>
              <a:rPr lang="en-US" sz="3400" b="1" i="0" u="none" strike="noStrike" cap="none">
                <a:solidFill>
                  <a:srgbClr val="F70146"/>
                </a:solidFill>
                <a:latin typeface="Arial"/>
                <a:ea typeface="Arial"/>
                <a:cs typeface="Arial"/>
                <a:sym typeface="Arial"/>
              </a:rPr>
              <a:t>Context-Aware Topic Labelling and</a:t>
            </a:r>
            <a:endParaRPr sz="3400" b="1" i="0" u="none" strike="noStrike" cap="none">
              <a:solidFill>
                <a:srgbClr val="F70146"/>
              </a:solidFill>
              <a:latin typeface="Calibri"/>
              <a:ea typeface="Calibri"/>
              <a:cs typeface="Calibri"/>
              <a:sym typeface="Calibri"/>
            </a:endParaRPr>
          </a:p>
          <a:p>
            <a:pPr marL="0" marR="0" lvl="0" indent="0" algn="l" rtl="0">
              <a:lnSpc>
                <a:spcPct val="100000"/>
              </a:lnSpc>
              <a:spcBef>
                <a:spcPts val="0"/>
              </a:spcBef>
              <a:spcAft>
                <a:spcPts val="0"/>
              </a:spcAft>
              <a:buClr>
                <a:srgbClr val="0F0F0F"/>
              </a:buClr>
              <a:buSzPts val="2000"/>
              <a:buFont typeface="Arial"/>
              <a:buNone/>
            </a:pPr>
            <a:r>
              <a:rPr lang="en-US" sz="3400" b="1" i="0" u="none" strike="noStrike" cap="none">
                <a:solidFill>
                  <a:srgbClr val="F70146"/>
                </a:solidFill>
                <a:latin typeface="Arial"/>
                <a:ea typeface="Arial"/>
                <a:cs typeface="Arial"/>
                <a:sym typeface="Arial"/>
              </a:rPr>
              <a:t>Linguistic Style in Parliamentary Debates</a:t>
            </a:r>
            <a:endParaRPr sz="3400" b="1" i="0" u="none" strike="noStrike" cap="none">
              <a:solidFill>
                <a:srgbClr val="F70146"/>
              </a:solidFill>
              <a:latin typeface="Arial"/>
              <a:ea typeface="Arial"/>
              <a:cs typeface="Arial"/>
              <a:sym typeface="Arial"/>
            </a:endParaRPr>
          </a:p>
        </p:txBody>
      </p:sp>
      <p:sp>
        <p:nvSpPr>
          <p:cNvPr id="18" name="Google Shape;18;p3"/>
          <p:cNvSpPr/>
          <p:nvPr/>
        </p:nvSpPr>
        <p:spPr>
          <a:xfrm>
            <a:off x="960101" y="3387125"/>
            <a:ext cx="8961000" cy="366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 name="Google Shape;19;p3"/>
          <p:cNvSpPr/>
          <p:nvPr/>
        </p:nvSpPr>
        <p:spPr>
          <a:xfrm>
            <a:off x="877300" y="3508675"/>
            <a:ext cx="8678100" cy="411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0F0F"/>
              </a:buClr>
              <a:buSzPts val="1800"/>
              <a:buFont typeface="Arial"/>
              <a:buNone/>
            </a:pPr>
            <a:r>
              <a:rPr lang="en-US" sz="2400" b="1" i="0" u="none" strike="noStrike" cap="none">
                <a:solidFill>
                  <a:srgbClr val="0F0F0F"/>
                </a:solidFill>
              </a:rPr>
              <a:t>Pavle Sav</a:t>
            </a:r>
            <a:r>
              <a:rPr lang="en-US" sz="2400" b="1" i="0" u="none" strike="noStrike" cap="none">
                <a:solidFill>
                  <a:schemeClr val="dk1"/>
                </a:solidFill>
              </a:rPr>
              <a:t>kovi</a:t>
            </a:r>
            <a:r>
              <a:rPr lang="en-US" sz="2400" b="1">
                <a:solidFill>
                  <a:schemeClr val="dk1"/>
                </a:solidFill>
              </a:rPr>
              <a:t>ć</a:t>
            </a:r>
            <a:endParaRPr sz="2400" b="1" i="0" u="none" strike="noStrike" cap="none">
              <a:solidFill>
                <a:schemeClr val="dk1"/>
              </a:solidFill>
            </a:endParaRPr>
          </a:p>
        </p:txBody>
      </p:sp>
      <p:sp>
        <p:nvSpPr>
          <p:cNvPr id="20" name="Google Shape;20;p3"/>
          <p:cNvSpPr/>
          <p:nvPr/>
        </p:nvSpPr>
        <p:spPr>
          <a:xfrm>
            <a:off x="877200" y="4308600"/>
            <a:ext cx="8678100" cy="823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0F0F"/>
              </a:buClr>
              <a:buSzPts val="1200"/>
              <a:buFont typeface="Arial"/>
              <a:buNone/>
            </a:pPr>
            <a:r>
              <a:rPr lang="en-US" sz="1600" b="1" i="0" u="none" strike="noStrike" cap="none">
                <a:solidFill>
                  <a:srgbClr val="0F0F0F"/>
                </a:solidFill>
              </a:rPr>
              <a:t>Supervisor:</a:t>
            </a:r>
            <a:r>
              <a:rPr lang="en-US" sz="1600" b="0" i="0" u="none" strike="noStrike" cap="none">
                <a:solidFill>
                  <a:srgbClr val="0F0F0F"/>
                </a:solidFill>
                <a:latin typeface="Arial"/>
                <a:ea typeface="Arial"/>
                <a:cs typeface="Arial"/>
                <a:sym typeface="Arial"/>
              </a:rPr>
              <a:t> </a:t>
            </a:r>
            <a:r>
              <a:rPr lang="en-US" sz="1600">
                <a:solidFill>
                  <a:schemeClr val="dk1"/>
                </a:solidFill>
              </a:rPr>
              <a:t>Assoc.Prof. Dipl.-Ing. Dr.techn. Denis Helić</a:t>
            </a:r>
            <a:endParaRPr sz="1600">
              <a:solidFill>
                <a:schemeClr val="dk1"/>
              </a:solidFill>
            </a:endParaRPr>
          </a:p>
          <a:p>
            <a:pPr marL="0" marR="0" lvl="0" indent="0" algn="l" rtl="0">
              <a:lnSpc>
                <a:spcPct val="100000"/>
              </a:lnSpc>
              <a:spcBef>
                <a:spcPts val="0"/>
              </a:spcBef>
              <a:spcAft>
                <a:spcPts val="0"/>
              </a:spcAft>
              <a:buClr>
                <a:srgbClr val="0F0F0F"/>
              </a:buClr>
              <a:buSzPts val="1200"/>
              <a:buFont typeface="Arial"/>
              <a:buNone/>
            </a:pPr>
            <a:r>
              <a:rPr lang="en-US" sz="1600" b="1" i="0" u="none" strike="noStrike" cap="none">
                <a:solidFill>
                  <a:srgbClr val="0F0F0F"/>
                </a:solidFill>
              </a:rPr>
              <a:t>Co-Supervisor:</a:t>
            </a:r>
            <a:r>
              <a:rPr lang="en-US" sz="1600" b="0" i="0" u="none" strike="noStrike" cap="none">
                <a:solidFill>
                  <a:srgbClr val="0F0F0F"/>
                </a:solidFill>
                <a:latin typeface="Arial"/>
                <a:ea typeface="Arial"/>
                <a:cs typeface="Arial"/>
                <a:sym typeface="Arial"/>
              </a:rPr>
              <a:t> </a:t>
            </a:r>
            <a:r>
              <a:rPr lang="en-US" sz="1600">
                <a:solidFill>
                  <a:schemeClr val="dk1"/>
                </a:solidFill>
              </a:rPr>
              <a:t>Univ.-Prof. Dipl.-Wirt.-Inf. Dr. Stefan Thalmann</a:t>
            </a:r>
            <a:endParaRPr sz="1600">
              <a:solidFill>
                <a:srgbClr val="0F0F0F"/>
              </a:solidFill>
            </a:endParaRPr>
          </a:p>
        </p:txBody>
      </p:sp>
      <p:sp>
        <p:nvSpPr>
          <p:cNvPr id="21" name="Google Shape;21;p3"/>
          <p:cNvSpPr/>
          <p:nvPr/>
        </p:nvSpPr>
        <p:spPr>
          <a:xfrm>
            <a:off x="877195" y="3954385"/>
            <a:ext cx="85953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B5A70"/>
              </a:buClr>
              <a:buSzPts val="1100"/>
              <a:buFont typeface="Arial"/>
              <a:buNone/>
            </a:pPr>
            <a:r>
              <a:rPr lang="en-US" sz="1600" b="0" i="0" u="none" strike="noStrike" cap="none">
                <a:solidFill>
                  <a:srgbClr val="3B5A70"/>
                </a:solidFill>
                <a:latin typeface="Arial"/>
                <a:ea typeface="Arial"/>
                <a:cs typeface="Arial"/>
                <a:sym typeface="Arial"/>
              </a:rPr>
              <a:t>Master's Defense  ·  12 March 2026  ·  Computational Social Systems, University of Graz</a:t>
            </a:r>
            <a:endParaRPr sz="1600" b="0" i="0" u="none" strike="noStrike" cap="none">
              <a:solidFill>
                <a:schemeClr val="dk1"/>
              </a:solidFill>
              <a:latin typeface="Calibri"/>
              <a:ea typeface="Calibri"/>
              <a:cs typeface="Calibri"/>
              <a:sym typeface="Calibri"/>
            </a:endParaRPr>
          </a:p>
        </p:txBody>
      </p:sp>
      <p:sp>
        <p:nvSpPr>
          <p:cNvPr id="22" name="Google Shape;22;p3"/>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 name="Google Shape;23;p3"/>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 name="Google Shape;24;p3"/>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1</a:t>
            </a:r>
            <a:endParaRPr sz="1400" b="0" i="0" u="none" strike="noStrike" cap="none">
              <a:solidFill>
                <a:schemeClr val="dk1"/>
              </a:solidFill>
              <a:latin typeface="Calibri"/>
              <a:ea typeface="Calibri"/>
              <a:cs typeface="Calibri"/>
              <a:sym typeface="Calibri"/>
            </a:endParaRPr>
          </a:p>
        </p:txBody>
      </p:sp>
      <p:sp>
        <p:nvSpPr>
          <p:cNvPr id="25" name="Google Shape;25;p3"/>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26" name="Google Shape;26;p3" descr="preencoded.png"/>
          <p:cNvPicPr preferRelativeResize="0"/>
          <p:nvPr/>
        </p:nvPicPr>
        <p:blipFill rotWithShape="1">
          <a:blip r:embed="rId4">
            <a:alphaModFix/>
          </a:blip>
          <a:srcRect/>
          <a:stretch/>
        </p:blipFill>
        <p:spPr>
          <a:xfrm>
            <a:off x="11155680" y="6720840"/>
            <a:ext cx="1645920" cy="56692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3" name="Google Shape;33;p4"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34" name="Google Shape;34;p4"/>
          <p:cNvSpPr/>
          <p:nvPr/>
        </p:nvSpPr>
        <p:spPr>
          <a:xfrm>
            <a:off x="777240" y="45720"/>
            <a:ext cx="1024128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000" b="1">
                <a:solidFill>
                  <a:srgbClr val="0F0F0F"/>
                </a:solidFill>
              </a:rPr>
              <a:t>Motivation</a:t>
            </a:r>
            <a:endParaRPr sz="2000" b="1">
              <a:solidFill>
                <a:srgbClr val="0F0F0F"/>
              </a:solidFill>
            </a:endParaRPr>
          </a:p>
          <a:p>
            <a:pPr marL="0" lvl="0" indent="0" algn="l" rtl="0">
              <a:spcBef>
                <a:spcPts val="0"/>
              </a:spcBef>
              <a:spcAft>
                <a:spcPts val="0"/>
              </a:spcAft>
              <a:buClr>
                <a:srgbClr val="555555"/>
              </a:buClr>
              <a:buSzPts val="1100"/>
              <a:buFont typeface="Arial"/>
              <a:buNone/>
            </a:pPr>
            <a:r>
              <a:rPr lang="en-US" i="1">
                <a:solidFill>
                  <a:srgbClr val="555555"/>
                </a:solidFill>
              </a:rPr>
              <a:t>CAP = Comparative Agendas Project (21 policy domains, enabling cross-country comparison).</a:t>
            </a:r>
            <a:endParaRPr sz="2000" b="1">
              <a:solidFill>
                <a:srgbClr val="0F0F0F"/>
              </a:solidFill>
            </a:endParaRPr>
          </a:p>
        </p:txBody>
      </p:sp>
      <p:sp>
        <p:nvSpPr>
          <p:cNvPr id="35" name="Google Shape;35;p4"/>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 name="Google Shape;36;p4"/>
          <p:cNvSpPr/>
          <p:nvPr/>
        </p:nvSpPr>
        <p:spPr>
          <a:xfrm>
            <a:off x="7635240" y="1417320"/>
            <a:ext cx="54864" cy="33467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 name="Google Shape;37;p4"/>
          <p:cNvSpPr/>
          <p:nvPr/>
        </p:nvSpPr>
        <p:spPr>
          <a:xfrm>
            <a:off x="7772400" y="3566160"/>
            <a:ext cx="2011680" cy="329184"/>
          </a:xfrm>
          <a:prstGeom prst="rect">
            <a:avLst/>
          </a:prstGeom>
          <a:solidFill>
            <a:srgbClr val="E8F5E9"/>
          </a:solidFill>
          <a:ln w="12700" cap="flat" cmpd="sng">
            <a:solidFill>
              <a:srgbClr val="BBDDB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 name="Google Shape;38;p4"/>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 name="Google Shape;39;p4"/>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 name="Google Shape;40;p4"/>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2</a:t>
            </a:r>
            <a:endParaRPr sz="1400" b="0" i="0" u="none" strike="noStrike" cap="none">
              <a:solidFill>
                <a:schemeClr val="dk1"/>
              </a:solidFill>
              <a:latin typeface="Calibri"/>
              <a:ea typeface="Calibri"/>
              <a:cs typeface="Calibri"/>
              <a:sym typeface="Calibri"/>
            </a:endParaRPr>
          </a:p>
        </p:txBody>
      </p:sp>
      <p:sp>
        <p:nvSpPr>
          <p:cNvPr id="41" name="Google Shape;41;p4"/>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42" name="Google Shape;42;p4"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graphicFrame>
        <p:nvGraphicFramePr>
          <p:cNvPr id="43" name="Google Shape;43;p4"/>
          <p:cNvGraphicFramePr/>
          <p:nvPr/>
        </p:nvGraphicFramePr>
        <p:xfrm>
          <a:off x="228600" y="1062448"/>
          <a:ext cx="12490075" cy="5527350"/>
        </p:xfrm>
        <a:graphic>
          <a:graphicData uri="http://schemas.openxmlformats.org/drawingml/2006/table">
            <a:tbl>
              <a:tblPr firstRow="1" bandRow="1">
                <a:noFill/>
                <a:tableStyleId>{2F5185D8-5CE2-4EA1-9948-1C3A23BE56D5}</a:tableStyleId>
              </a:tblPr>
              <a:tblGrid>
                <a:gridCol w="1706750">
                  <a:extLst>
                    <a:ext uri="{9D8B030D-6E8A-4147-A177-3AD203B41FA5}">
                      <a16:colId xmlns:a16="http://schemas.microsoft.com/office/drawing/2014/main" val="20000"/>
                    </a:ext>
                  </a:extLst>
                </a:gridCol>
                <a:gridCol w="7106125">
                  <a:extLst>
                    <a:ext uri="{9D8B030D-6E8A-4147-A177-3AD203B41FA5}">
                      <a16:colId xmlns:a16="http://schemas.microsoft.com/office/drawing/2014/main" val="20001"/>
                    </a:ext>
                  </a:extLst>
                </a:gridCol>
                <a:gridCol w="2255700">
                  <a:extLst>
                    <a:ext uri="{9D8B030D-6E8A-4147-A177-3AD203B41FA5}">
                      <a16:colId xmlns:a16="http://schemas.microsoft.com/office/drawing/2014/main" val="20002"/>
                    </a:ext>
                  </a:extLst>
                </a:gridCol>
                <a:gridCol w="1421500">
                  <a:extLst>
                    <a:ext uri="{9D8B030D-6E8A-4147-A177-3AD203B41FA5}">
                      <a16:colId xmlns:a16="http://schemas.microsoft.com/office/drawing/2014/main" val="20003"/>
                    </a:ext>
                  </a:extLst>
                </a:gridCol>
              </a:tblGrid>
              <a:tr h="817650">
                <a:tc>
                  <a:txBody>
                    <a:bodyPr/>
                    <a:lstStyle/>
                    <a:p>
                      <a:pPr marL="0" marR="0" lvl="0" indent="0" algn="l" rtl="0">
                        <a:lnSpc>
                          <a:spcPct val="100000"/>
                        </a:lnSpc>
                        <a:spcBef>
                          <a:spcPts val="0"/>
                        </a:spcBef>
                        <a:spcAft>
                          <a:spcPts val="0"/>
                        </a:spcAft>
                        <a:buClr>
                          <a:srgbClr val="000000"/>
                        </a:buClr>
                        <a:buSzPts val="2200"/>
                        <a:buFont typeface="Arial"/>
                        <a:buNone/>
                      </a:pPr>
                      <a:r>
                        <a:rPr lang="en-US" sz="2200" b="1" u="none" strike="noStrike" cap="none">
                          <a:solidFill>
                            <a:schemeClr val="dk1"/>
                          </a:solidFill>
                        </a:rPr>
                        <a:t>Speaker</a:t>
                      </a:r>
                      <a:endParaRPr sz="24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u="none" strike="noStrike" cap="none">
                          <a:solidFill>
                            <a:schemeClr val="dk1"/>
                          </a:solidFill>
                        </a:rPr>
                        <a:t>Text</a:t>
                      </a:r>
                      <a:endParaRPr sz="24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u="none" strike="noStrike" cap="none">
                          <a:solidFill>
                            <a:schemeClr val="dk1"/>
                          </a:solidFill>
                        </a:rPr>
                        <a:t>ParlaCAP topic</a:t>
                      </a:r>
                      <a:endParaRPr sz="22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u="none" strike="noStrike" cap="none">
                          <a:solidFill>
                            <a:schemeClr val="dk1"/>
                          </a:solidFill>
                        </a:rPr>
                        <a:t>Our topic</a:t>
                      </a:r>
                      <a:endParaRPr sz="22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0"/>
                  </a:ext>
                </a:extLst>
              </a:tr>
              <a:tr h="15699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Rudd, Amber</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Our Energy Bill receives Royal Assent today. It is a vital part of our plan to ensure that families and businesses have access to secure, clean and affordable energy. We are delivering on our manifesto commitment to end subsidies for onshore wind.</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i="1" u="none" strike="noStrike" cap="none">
                          <a:solidFill>
                            <a:srgbClr val="F70146"/>
                          </a:solidFill>
                        </a:rPr>
                        <a:t>Energy</a:t>
                      </a:r>
                      <a:endParaRPr sz="2200" b="1" i="1" u="none" strike="noStrike" cap="none">
                        <a:solidFill>
                          <a:srgbClr val="F70146"/>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i="1" u="none" strike="noStrike" cap="none">
                          <a:solidFill>
                            <a:srgbClr val="F70146"/>
                          </a:solidFill>
                        </a:rPr>
                        <a:t>Energy</a:t>
                      </a:r>
                      <a:endParaRPr sz="2200" b="1" i="1" u="none" strike="noStrike" cap="none">
                        <a:solidFill>
                          <a:srgbClr val="F70146"/>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5699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Abrahams, Deborah</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Evidence shows that sick and disabled people are at particular risk of fuel poverty, especially after the recent social security cuts by this Government. Will the Secretary of State look at better targeting of warm home discount funding?</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i="1" u="none" strike="noStrike" cap="none"/>
                        <a:t>Social Welfare</a:t>
                      </a:r>
                      <a:endParaRPr sz="2200" b="1" i="1"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i="1" u="none" strike="noStrike" cap="none">
                          <a:solidFill>
                            <a:srgbClr val="F70146"/>
                          </a:solidFill>
                        </a:rPr>
                        <a:t>Energy</a:t>
                      </a:r>
                      <a:endParaRPr sz="2200" b="1" i="1" u="none" strike="noStrike" cap="none">
                        <a:solidFill>
                          <a:srgbClr val="F70146"/>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5699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Tomlinson-Mynors, M.</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I have been contacted by constituents concerned about fracking in Dorset. What reassurance can the Minister give about environmental considerations, public consultation, and ensuring fracking is considered only in appropriate locations?</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i="1" u="none" strike="noStrike" cap="none"/>
                        <a:t>Environment</a:t>
                      </a:r>
                      <a:endParaRPr sz="2200" b="1" i="1"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1" i="1" u="none" strike="noStrike" cap="none">
                          <a:solidFill>
                            <a:srgbClr val="F70146"/>
                          </a:solidFill>
                        </a:rPr>
                        <a:t>Energy</a:t>
                      </a:r>
                      <a:endParaRPr sz="2200" b="1" i="1" u="none" strike="noStrike" cap="none">
                        <a:solidFill>
                          <a:srgbClr val="F70146"/>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48"/>
        <p:cNvGrpSpPr/>
        <p:nvPr/>
      </p:nvGrpSpPr>
      <p:grpSpPr>
        <a:xfrm>
          <a:off x="0" y="0"/>
          <a:ext cx="0" cy="0"/>
          <a:chOff x="0" y="0"/>
          <a:chExt cx="0" cy="0"/>
        </a:xfrm>
      </p:grpSpPr>
      <p:sp>
        <p:nvSpPr>
          <p:cNvPr id="49" name="Google Shape;49;p5"/>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0" name="Google Shape;50;p5"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51" name="Google Shape;51;p5"/>
          <p:cNvSpPr/>
          <p:nvPr/>
        </p:nvSpPr>
        <p:spPr>
          <a:xfrm>
            <a:off x="777240" y="45720"/>
            <a:ext cx="10241280" cy="70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800" b="1" i="0" u="none" strike="noStrike" cap="none">
                <a:solidFill>
                  <a:srgbClr val="0F0F0F"/>
                </a:solidFill>
                <a:latin typeface="Arial"/>
                <a:ea typeface="Arial"/>
                <a:cs typeface="Arial"/>
                <a:sym typeface="Arial"/>
              </a:rPr>
              <a:t>Research Questions</a:t>
            </a:r>
            <a:endParaRPr sz="2800" b="0" i="0" u="none" strike="noStrike" cap="none">
              <a:solidFill>
                <a:schemeClr val="dk1"/>
              </a:solidFill>
              <a:latin typeface="Calibri"/>
              <a:ea typeface="Calibri"/>
              <a:cs typeface="Calibri"/>
              <a:sym typeface="Calibri"/>
            </a:endParaRPr>
          </a:p>
        </p:txBody>
      </p:sp>
      <p:sp>
        <p:nvSpPr>
          <p:cNvPr id="52" name="Google Shape;52;p5"/>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 name="Google Shape;53;p5"/>
          <p:cNvSpPr/>
          <p:nvPr/>
        </p:nvSpPr>
        <p:spPr>
          <a:xfrm>
            <a:off x="384048" y="1774406"/>
            <a:ext cx="411600" cy="4116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4" name="Google Shape;54;p5"/>
          <p:cNvSpPr/>
          <p:nvPr/>
        </p:nvSpPr>
        <p:spPr>
          <a:xfrm>
            <a:off x="384048" y="1774406"/>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1</a:t>
            </a:r>
            <a:endParaRPr sz="1400" b="0" i="0" u="none" strike="noStrike" cap="none">
              <a:solidFill>
                <a:schemeClr val="dk1"/>
              </a:solidFill>
              <a:latin typeface="Calibri"/>
              <a:ea typeface="Calibri"/>
              <a:cs typeface="Calibri"/>
              <a:sym typeface="Calibri"/>
            </a:endParaRPr>
          </a:p>
        </p:txBody>
      </p:sp>
      <p:sp>
        <p:nvSpPr>
          <p:cNvPr id="55" name="Google Shape;55;p5"/>
          <p:cNvSpPr/>
          <p:nvPr/>
        </p:nvSpPr>
        <p:spPr>
          <a:xfrm>
            <a:off x="914400" y="1609300"/>
            <a:ext cx="7183800" cy="82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300"/>
              <a:buFont typeface="Arial"/>
              <a:buNone/>
            </a:pPr>
            <a:r>
              <a:rPr lang="en-US" sz="2200" b="0" i="0" u="none" strike="noStrike" cap="none">
                <a:solidFill>
                  <a:schemeClr val="dk1"/>
                </a:solidFill>
                <a:latin typeface="Arial"/>
                <a:ea typeface="Arial"/>
                <a:cs typeface="Arial"/>
                <a:sym typeface="Arial"/>
              </a:rPr>
              <a:t>How does policy topic shape linguistic style?</a:t>
            </a:r>
            <a:endParaRPr sz="2200" b="0" i="0" u="none" strike="noStrike" cap="none">
              <a:solidFill>
                <a:schemeClr val="dk1"/>
              </a:solidFill>
              <a:latin typeface="Calibri"/>
              <a:ea typeface="Calibri"/>
              <a:cs typeface="Calibri"/>
              <a:sym typeface="Calibri"/>
            </a:endParaRPr>
          </a:p>
        </p:txBody>
      </p:sp>
      <p:sp>
        <p:nvSpPr>
          <p:cNvPr id="56" name="Google Shape;56;p5"/>
          <p:cNvSpPr/>
          <p:nvPr/>
        </p:nvSpPr>
        <p:spPr>
          <a:xfrm>
            <a:off x="384048" y="3137460"/>
            <a:ext cx="411600" cy="4116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7" name="Google Shape;57;p5"/>
          <p:cNvSpPr/>
          <p:nvPr/>
        </p:nvSpPr>
        <p:spPr>
          <a:xfrm>
            <a:off x="384048" y="313746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2</a:t>
            </a:r>
            <a:endParaRPr sz="1400" b="0" i="0" u="none" strike="noStrike" cap="none">
              <a:solidFill>
                <a:schemeClr val="dk1"/>
              </a:solidFill>
              <a:latin typeface="Calibri"/>
              <a:ea typeface="Calibri"/>
              <a:cs typeface="Calibri"/>
              <a:sym typeface="Calibri"/>
            </a:endParaRPr>
          </a:p>
        </p:txBody>
      </p:sp>
      <p:sp>
        <p:nvSpPr>
          <p:cNvPr id="58" name="Google Shape;58;p5"/>
          <p:cNvSpPr/>
          <p:nvPr/>
        </p:nvSpPr>
        <p:spPr>
          <a:xfrm>
            <a:off x="880800" y="2931813"/>
            <a:ext cx="10104000" cy="82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300"/>
              <a:buFont typeface="Arial"/>
              <a:buNone/>
            </a:pPr>
            <a:r>
              <a:rPr lang="en-US" sz="2200" b="0" i="0" strike="noStrike" cap="none">
                <a:solidFill>
                  <a:schemeClr val="dk1"/>
                </a:solidFill>
                <a:latin typeface="Arial"/>
                <a:ea typeface="Arial"/>
                <a:cs typeface="Arial"/>
                <a:sym typeface="Arial"/>
              </a:rPr>
              <a:t>Do institutional roles and demographics produce systematic style differences?</a:t>
            </a:r>
            <a:endParaRPr sz="2200" b="0" i="0" strike="noStrike" cap="none">
              <a:solidFill>
                <a:schemeClr val="dk1"/>
              </a:solidFill>
              <a:latin typeface="Calibri"/>
              <a:ea typeface="Calibri"/>
              <a:cs typeface="Calibri"/>
              <a:sym typeface="Calibri"/>
            </a:endParaRPr>
          </a:p>
        </p:txBody>
      </p:sp>
      <p:sp>
        <p:nvSpPr>
          <p:cNvPr id="59" name="Google Shape;59;p5"/>
          <p:cNvSpPr/>
          <p:nvPr/>
        </p:nvSpPr>
        <p:spPr>
          <a:xfrm>
            <a:off x="384048" y="4526678"/>
            <a:ext cx="411600" cy="4116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0" name="Google Shape;60;p5"/>
          <p:cNvSpPr/>
          <p:nvPr/>
        </p:nvSpPr>
        <p:spPr>
          <a:xfrm>
            <a:off x="384048" y="4526678"/>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3</a:t>
            </a:r>
            <a:endParaRPr sz="1400" b="0" i="0" u="none" strike="noStrike" cap="none">
              <a:solidFill>
                <a:schemeClr val="dk1"/>
              </a:solidFill>
              <a:latin typeface="Calibri"/>
              <a:ea typeface="Calibri"/>
              <a:cs typeface="Calibri"/>
              <a:sym typeface="Calibri"/>
            </a:endParaRPr>
          </a:p>
        </p:txBody>
      </p:sp>
      <p:sp>
        <p:nvSpPr>
          <p:cNvPr id="61" name="Google Shape;61;p5"/>
          <p:cNvSpPr/>
          <p:nvPr/>
        </p:nvSpPr>
        <p:spPr>
          <a:xfrm>
            <a:off x="879488" y="4321013"/>
            <a:ext cx="10036800" cy="82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300"/>
              <a:buFont typeface="Arial"/>
              <a:buNone/>
            </a:pPr>
            <a:r>
              <a:rPr lang="en-US" sz="2200" b="0" i="0" u="none" strike="noStrike" cap="none">
                <a:solidFill>
                  <a:schemeClr val="dk1"/>
                </a:solidFill>
                <a:latin typeface="Arial"/>
                <a:ea typeface="Arial"/>
                <a:cs typeface="Arial"/>
                <a:sym typeface="Arial"/>
              </a:rPr>
              <a:t>How do external shocks affect agenda attention and rhetoric?</a:t>
            </a:r>
            <a:endParaRPr sz="2200" b="0" i="0" u="none" strike="noStrike" cap="none">
              <a:solidFill>
                <a:schemeClr val="dk1"/>
              </a:solidFill>
              <a:latin typeface="Calibri"/>
              <a:ea typeface="Calibri"/>
              <a:cs typeface="Calibri"/>
              <a:sym typeface="Calibri"/>
            </a:endParaRPr>
          </a:p>
        </p:txBody>
      </p:sp>
      <p:sp>
        <p:nvSpPr>
          <p:cNvPr id="62" name="Google Shape;62;p5"/>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 name="Google Shape;63;p5"/>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 name="Google Shape;64;p5"/>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3</a:t>
            </a:r>
            <a:endParaRPr sz="1400" b="0" i="0" u="none" strike="noStrike" cap="none">
              <a:solidFill>
                <a:schemeClr val="dk1"/>
              </a:solidFill>
              <a:latin typeface="Calibri"/>
              <a:ea typeface="Calibri"/>
              <a:cs typeface="Calibri"/>
              <a:sym typeface="Calibri"/>
            </a:endParaRPr>
          </a:p>
        </p:txBody>
      </p:sp>
      <p:sp>
        <p:nvSpPr>
          <p:cNvPr id="65" name="Google Shape;65;p5"/>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66" name="Google Shape;66;p5"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71"/>
        <p:cNvGrpSpPr/>
        <p:nvPr/>
      </p:nvGrpSpPr>
      <p:grpSpPr>
        <a:xfrm>
          <a:off x="0" y="0"/>
          <a:ext cx="0" cy="0"/>
          <a:chOff x="0" y="0"/>
          <a:chExt cx="0" cy="0"/>
        </a:xfrm>
      </p:grpSpPr>
      <p:sp>
        <p:nvSpPr>
          <p:cNvPr id="72" name="Google Shape;72;p6"/>
          <p:cNvSpPr/>
          <p:nvPr/>
        </p:nvSpPr>
        <p:spPr>
          <a:xfrm>
            <a:off x="-12" y="36575"/>
            <a:ext cx="612600" cy="7773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3" name="Google Shape;73;p6" descr="preencoded.png"/>
          <p:cNvPicPr preferRelativeResize="0"/>
          <p:nvPr/>
        </p:nvPicPr>
        <p:blipFill rotWithShape="1">
          <a:blip r:embed="rId3">
            <a:alphaModFix/>
          </a:blip>
          <a:srcRect/>
          <a:stretch/>
        </p:blipFill>
        <p:spPr>
          <a:xfrm>
            <a:off x="11155668" y="173735"/>
            <a:ext cx="1645920" cy="566928"/>
          </a:xfrm>
          <a:prstGeom prst="rect">
            <a:avLst/>
          </a:prstGeom>
          <a:noFill/>
          <a:ln>
            <a:noFill/>
          </a:ln>
        </p:spPr>
      </p:pic>
      <p:sp>
        <p:nvSpPr>
          <p:cNvPr id="74" name="Google Shape;74;p6"/>
          <p:cNvSpPr/>
          <p:nvPr/>
        </p:nvSpPr>
        <p:spPr>
          <a:xfrm>
            <a:off x="914378" y="-36580"/>
            <a:ext cx="10241400" cy="7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600" b="1" i="0" u="none" strike="noStrike" cap="none">
                <a:solidFill>
                  <a:srgbClr val="0F0F0F"/>
                </a:solidFill>
                <a:latin typeface="Arial"/>
                <a:ea typeface="Arial"/>
                <a:cs typeface="Arial"/>
                <a:sym typeface="Arial"/>
              </a:rPr>
              <a:t>Data</a:t>
            </a:r>
            <a:r>
              <a:rPr lang="en-US" sz="2600" b="1">
                <a:solidFill>
                  <a:srgbClr val="0F0F0F"/>
                </a:solidFill>
              </a:rPr>
              <a:t>set</a:t>
            </a:r>
            <a:endParaRPr sz="2600" b="0" i="0" u="none" strike="noStrike" cap="none">
              <a:solidFill>
                <a:schemeClr val="dk1"/>
              </a:solidFill>
              <a:latin typeface="Calibri"/>
              <a:ea typeface="Calibri"/>
              <a:cs typeface="Calibri"/>
              <a:sym typeface="Calibri"/>
            </a:endParaRPr>
          </a:p>
        </p:txBody>
      </p:sp>
      <p:sp>
        <p:nvSpPr>
          <p:cNvPr id="75" name="Google Shape;75;p6"/>
          <p:cNvSpPr/>
          <p:nvPr/>
        </p:nvSpPr>
        <p:spPr>
          <a:xfrm>
            <a:off x="-12" y="813815"/>
            <a:ext cx="12937800" cy="456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76" name="Google Shape;76;p6"/>
          <p:cNvGraphicFramePr/>
          <p:nvPr/>
        </p:nvGraphicFramePr>
        <p:xfrm>
          <a:off x="226575" y="1291850"/>
          <a:ext cx="12531225" cy="5108375"/>
        </p:xfrm>
        <a:graphic>
          <a:graphicData uri="http://schemas.openxmlformats.org/drawingml/2006/table">
            <a:tbl>
              <a:tblPr firstRow="1" bandRow="1">
                <a:noFill/>
                <a:tableStyleId>{35AEF1F1-F40B-4897-AAF0-8E81607DE95F}</a:tableStyleId>
              </a:tblPr>
              <a:tblGrid>
                <a:gridCol w="3458175">
                  <a:extLst>
                    <a:ext uri="{9D8B030D-6E8A-4147-A177-3AD203B41FA5}">
                      <a16:colId xmlns:a16="http://schemas.microsoft.com/office/drawing/2014/main" val="20000"/>
                    </a:ext>
                  </a:extLst>
                </a:gridCol>
                <a:gridCol w="2593650">
                  <a:extLst>
                    <a:ext uri="{9D8B030D-6E8A-4147-A177-3AD203B41FA5}">
                      <a16:colId xmlns:a16="http://schemas.microsoft.com/office/drawing/2014/main" val="20001"/>
                    </a:ext>
                  </a:extLst>
                </a:gridCol>
                <a:gridCol w="3239700">
                  <a:extLst>
                    <a:ext uri="{9D8B030D-6E8A-4147-A177-3AD203B41FA5}">
                      <a16:colId xmlns:a16="http://schemas.microsoft.com/office/drawing/2014/main" val="20002"/>
                    </a:ext>
                  </a:extLst>
                </a:gridCol>
                <a:gridCol w="3239700">
                  <a:extLst>
                    <a:ext uri="{9D8B030D-6E8A-4147-A177-3AD203B41FA5}">
                      <a16:colId xmlns:a16="http://schemas.microsoft.com/office/drawing/2014/main" val="20003"/>
                    </a:ext>
                  </a:extLst>
                </a:gridCol>
              </a:tblGrid>
              <a:tr h="1021675">
                <a:tc>
                  <a:txBody>
                    <a:bodyPr/>
                    <a:lstStyle/>
                    <a:p>
                      <a:pPr marL="0" marR="0" lvl="0" indent="0" algn="l" rtl="0">
                        <a:lnSpc>
                          <a:spcPct val="100000"/>
                        </a:lnSpc>
                        <a:spcBef>
                          <a:spcPts val="0"/>
                        </a:spcBef>
                        <a:spcAft>
                          <a:spcPts val="0"/>
                        </a:spcAft>
                        <a:buClr>
                          <a:srgbClr val="000000"/>
                        </a:buClr>
                        <a:buSzPts val="1400"/>
                        <a:buFont typeface="Arial"/>
                        <a:buNone/>
                      </a:pPr>
                      <a:r>
                        <a:rPr lang="en-US" sz="2200" b="1" u="none" strike="noStrike" cap="none">
                          <a:solidFill>
                            <a:srgbClr val="FFFFFF"/>
                          </a:solidFill>
                          <a:latin typeface="Arial"/>
                          <a:ea typeface="Arial"/>
                          <a:cs typeface="Arial"/>
                          <a:sym typeface="Arial"/>
                        </a:rPr>
                        <a:t>Country</a:t>
                      </a:r>
                      <a:endParaRPr sz="2200" u="none" strike="noStrike" cap="none"/>
                    </a:p>
                  </a:txBody>
                  <a:tcPr marL="91450" marR="91450" marT="45725" marB="45725">
                    <a:solidFill>
                      <a:srgbClr val="1A1A2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200" b="1" u="none" strike="noStrike" cap="none">
                          <a:solidFill>
                            <a:srgbClr val="FFFFFF"/>
                          </a:solidFill>
                          <a:latin typeface="Arial"/>
                          <a:ea typeface="Arial"/>
                          <a:cs typeface="Arial"/>
                          <a:sym typeface="Arial"/>
                        </a:rPr>
                        <a:t>Period</a:t>
                      </a:r>
                      <a:endParaRPr sz="2200" u="none" strike="noStrike" cap="none"/>
                    </a:p>
                  </a:txBody>
                  <a:tcPr marL="91450" marR="91450" marT="45725" marB="45725">
                    <a:solidFill>
                      <a:srgbClr val="1A1A2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200" b="1" u="none" strike="noStrike" cap="none">
                          <a:solidFill>
                            <a:srgbClr val="FFFFFF"/>
                          </a:solidFill>
                          <a:latin typeface="Arial"/>
                          <a:ea typeface="Arial"/>
                          <a:cs typeface="Arial"/>
                          <a:sym typeface="Arial"/>
                        </a:rPr>
                        <a:t>Sitting Days</a:t>
                      </a:r>
                      <a:endParaRPr sz="2200" u="none" strike="noStrike" cap="none"/>
                    </a:p>
                  </a:txBody>
                  <a:tcPr marL="91450" marR="91450" marT="45725" marB="45725">
                    <a:solidFill>
                      <a:srgbClr val="1A1A2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200" b="1" u="none" strike="noStrike" cap="none">
                          <a:solidFill>
                            <a:srgbClr val="FFFFFF"/>
                          </a:solidFill>
                          <a:latin typeface="Arial"/>
                          <a:ea typeface="Arial"/>
                          <a:cs typeface="Arial"/>
                          <a:sym typeface="Arial"/>
                        </a:rPr>
                        <a:t>Speeches</a:t>
                      </a:r>
                      <a:endParaRPr sz="2200" u="none" strike="noStrike" cap="none"/>
                    </a:p>
                  </a:txBody>
                  <a:tcPr marL="91450" marR="91450" marT="45725" marB="45725">
                    <a:solidFill>
                      <a:srgbClr val="1A1A2E"/>
                    </a:solidFill>
                  </a:tcPr>
                </a:tc>
                <a:extLst>
                  <a:ext uri="{0D108BD9-81ED-4DB2-BD59-A6C34878D82A}">
                    <a16:rowId xmlns:a16="http://schemas.microsoft.com/office/drawing/2014/main" val="10000"/>
                  </a:ext>
                </a:extLst>
              </a:tr>
              <a:tr h="1021675">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Austria (AT)</a:t>
                      </a:r>
                      <a:endParaRPr sz="1800" u="none" strike="noStrike" cap="none"/>
                    </a:p>
                  </a:txBody>
                  <a:tcPr marL="91450" marR="91450" marT="45725" marB="45725">
                    <a:solidFill>
                      <a:srgbClr val="F5F5F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1996–2022</a:t>
                      </a:r>
                      <a:endParaRPr sz="1800" u="none" strike="noStrike" cap="none"/>
                    </a:p>
                  </a:txBody>
                  <a:tcPr marL="91450" marR="91450" marT="45725" marB="45725">
                    <a:solidFill>
                      <a:srgbClr val="F5F5F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1,221</a:t>
                      </a:r>
                      <a:endParaRPr sz="1800" u="none" strike="noStrike" cap="none"/>
                    </a:p>
                  </a:txBody>
                  <a:tcPr marL="91450" marR="91450" marT="45725" marB="45725">
                    <a:solidFill>
                      <a:srgbClr val="F5F5F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231,759</a:t>
                      </a:r>
                      <a:endParaRPr sz="1800" u="none" strike="noStrike" cap="none"/>
                    </a:p>
                  </a:txBody>
                  <a:tcPr marL="91450" marR="91450" marT="45725" marB="45725">
                    <a:solidFill>
                      <a:srgbClr val="F5F5F5"/>
                    </a:solidFill>
                  </a:tcPr>
                </a:tc>
                <a:extLst>
                  <a:ext uri="{0D108BD9-81ED-4DB2-BD59-A6C34878D82A}">
                    <a16:rowId xmlns:a16="http://schemas.microsoft.com/office/drawing/2014/main" val="10001"/>
                  </a:ext>
                </a:extLst>
              </a:tr>
              <a:tr h="1021675">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Croatia (HR)</a:t>
                      </a:r>
                      <a:endParaRPr sz="1800" u="none" strike="noStrike" cap="none"/>
                    </a:p>
                  </a:txBody>
                  <a:tcPr marL="91450" marR="91450" marT="45725" marB="45725">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2003–2022</a:t>
                      </a:r>
                      <a:endParaRPr sz="1800" u="none" strike="noStrike" cap="none"/>
                    </a:p>
                  </a:txBody>
                  <a:tcPr marL="91450" marR="91450" marT="45725" marB="45725">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1,708</a:t>
                      </a:r>
                      <a:endParaRPr sz="1800" u="none" strike="noStrike" cap="none"/>
                    </a:p>
                  </a:txBody>
                  <a:tcPr marL="91450" marR="91450" marT="45725" marB="45725">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504,338</a:t>
                      </a:r>
                      <a:endParaRPr sz="1800" u="none" strike="noStrike" cap="none"/>
                    </a:p>
                  </a:txBody>
                  <a:tcPr marL="91450" marR="91450" marT="45725" marB="45725">
                    <a:solidFill>
                      <a:srgbClr val="FFFFFF"/>
                    </a:solidFill>
                  </a:tcPr>
                </a:tc>
                <a:extLst>
                  <a:ext uri="{0D108BD9-81ED-4DB2-BD59-A6C34878D82A}">
                    <a16:rowId xmlns:a16="http://schemas.microsoft.com/office/drawing/2014/main" val="10002"/>
                  </a:ext>
                </a:extLst>
              </a:tr>
              <a:tr h="1021675">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Great Britain (GB)</a:t>
                      </a:r>
                      <a:endParaRPr sz="1800" u="none" strike="noStrike" cap="none"/>
                    </a:p>
                  </a:txBody>
                  <a:tcPr marL="91450" marR="91450" marT="45725" marB="45725">
                    <a:solidFill>
                      <a:srgbClr val="F5F5F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2015–2022</a:t>
                      </a:r>
                      <a:endParaRPr sz="1800" u="none" strike="noStrike" cap="none"/>
                    </a:p>
                  </a:txBody>
                  <a:tcPr marL="91450" marR="91450" marT="45725" marB="45725">
                    <a:solidFill>
                      <a:srgbClr val="F5F5F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2,209</a:t>
                      </a:r>
                      <a:endParaRPr sz="1800" u="none" strike="noStrike" cap="none"/>
                    </a:p>
                  </a:txBody>
                  <a:tcPr marL="91450" marR="91450" marT="45725" marB="45725">
                    <a:solidFill>
                      <a:srgbClr val="F5F5F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u="none" strike="noStrike" cap="none">
                          <a:solidFill>
                            <a:srgbClr val="0F0F0F"/>
                          </a:solidFill>
                          <a:latin typeface="Arial"/>
                          <a:ea typeface="Arial"/>
                          <a:cs typeface="Arial"/>
                          <a:sym typeface="Arial"/>
                        </a:rPr>
                        <a:t>670,912</a:t>
                      </a:r>
                      <a:endParaRPr sz="1800" u="none" strike="noStrike" cap="none"/>
                    </a:p>
                  </a:txBody>
                  <a:tcPr marL="91450" marR="91450" marT="45725" marB="45725">
                    <a:solidFill>
                      <a:srgbClr val="F5F5F5"/>
                    </a:solidFill>
                  </a:tcPr>
                </a:tc>
                <a:extLst>
                  <a:ext uri="{0D108BD9-81ED-4DB2-BD59-A6C34878D82A}">
                    <a16:rowId xmlns:a16="http://schemas.microsoft.com/office/drawing/2014/main" val="10003"/>
                  </a:ext>
                </a:extLst>
              </a:tr>
              <a:tr h="1021675">
                <a:tc>
                  <a:txBody>
                    <a:bodyPr/>
                    <a:lstStyle/>
                    <a:p>
                      <a:pPr marL="0" marR="0" lvl="0" indent="0" algn="l" rtl="0">
                        <a:lnSpc>
                          <a:spcPct val="100000"/>
                        </a:lnSpc>
                        <a:spcBef>
                          <a:spcPts val="0"/>
                        </a:spcBef>
                        <a:spcAft>
                          <a:spcPts val="0"/>
                        </a:spcAft>
                        <a:buClr>
                          <a:srgbClr val="000000"/>
                        </a:buClr>
                        <a:buSzPts val="1400"/>
                        <a:buFont typeface="Arial"/>
                        <a:buNone/>
                      </a:pPr>
                      <a:r>
                        <a:rPr lang="en-US" sz="1800" b="1" u="none" strike="noStrike" cap="none">
                          <a:solidFill>
                            <a:srgbClr val="FFFFFF"/>
                          </a:solidFill>
                          <a:latin typeface="Arial"/>
                          <a:ea typeface="Arial"/>
                          <a:cs typeface="Arial"/>
                          <a:sym typeface="Arial"/>
                        </a:rPr>
                        <a:t>Total</a:t>
                      </a:r>
                      <a:endParaRPr sz="1800" u="none" strike="noStrike" cap="none"/>
                    </a:p>
                  </a:txBody>
                  <a:tcPr marL="91450" marR="91450" marT="45725" marB="45725">
                    <a:solidFill>
                      <a:srgbClr val="F70146"/>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b="1" u="none" strike="noStrike" cap="none">
                          <a:solidFill>
                            <a:srgbClr val="FFFFFF"/>
                          </a:solidFill>
                          <a:latin typeface="Arial"/>
                          <a:ea typeface="Arial"/>
                          <a:cs typeface="Arial"/>
                          <a:sym typeface="Arial"/>
                        </a:rPr>
                        <a:t>—</a:t>
                      </a:r>
                      <a:endParaRPr sz="1800" u="none" strike="noStrike" cap="none"/>
                    </a:p>
                  </a:txBody>
                  <a:tcPr marL="91450" marR="91450" marT="45725" marB="45725">
                    <a:solidFill>
                      <a:srgbClr val="F70146"/>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b="1" u="none" strike="noStrike" cap="none">
                          <a:solidFill>
                            <a:srgbClr val="FFFFFF"/>
                          </a:solidFill>
                          <a:latin typeface="Arial"/>
                          <a:ea typeface="Arial"/>
                          <a:cs typeface="Arial"/>
                          <a:sym typeface="Arial"/>
                        </a:rPr>
                        <a:t>4,627</a:t>
                      </a:r>
                      <a:endParaRPr sz="1800" u="none" strike="noStrike" cap="none"/>
                    </a:p>
                  </a:txBody>
                  <a:tcPr marL="91450" marR="91450" marT="45725" marB="45725">
                    <a:solidFill>
                      <a:srgbClr val="F70146"/>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800" b="1" u="none" strike="noStrike" cap="none">
                          <a:solidFill>
                            <a:srgbClr val="FFFFFF"/>
                          </a:solidFill>
                          <a:latin typeface="Arial"/>
                          <a:ea typeface="Arial"/>
                          <a:cs typeface="Arial"/>
                          <a:sym typeface="Arial"/>
                        </a:rPr>
                        <a:t>1,407,009</a:t>
                      </a:r>
                      <a:endParaRPr sz="1800" u="none" strike="noStrike" cap="none"/>
                    </a:p>
                  </a:txBody>
                  <a:tcPr marL="91450" marR="91450" marT="45725" marB="45725">
                    <a:solidFill>
                      <a:srgbClr val="F70146"/>
                    </a:solidFill>
                  </a:tcPr>
                </a:tc>
                <a:extLst>
                  <a:ext uri="{0D108BD9-81ED-4DB2-BD59-A6C34878D82A}">
                    <a16:rowId xmlns:a16="http://schemas.microsoft.com/office/drawing/2014/main" val="10004"/>
                  </a:ext>
                </a:extLst>
              </a:tr>
            </a:tbl>
          </a:graphicData>
        </a:graphic>
      </p:graphicFrame>
      <p:sp>
        <p:nvSpPr>
          <p:cNvPr id="77" name="Google Shape;77;p6"/>
          <p:cNvSpPr/>
          <p:nvPr/>
        </p:nvSpPr>
        <p:spPr>
          <a:xfrm>
            <a:off x="-12" y="6748271"/>
            <a:ext cx="12937800" cy="603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 name="Google Shape;78;p6"/>
          <p:cNvSpPr/>
          <p:nvPr/>
        </p:nvSpPr>
        <p:spPr>
          <a:xfrm>
            <a:off x="-12" y="6748271"/>
            <a:ext cx="612600" cy="6036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 name="Google Shape;79;p6"/>
          <p:cNvSpPr/>
          <p:nvPr/>
        </p:nvSpPr>
        <p:spPr>
          <a:xfrm>
            <a:off x="-12" y="6748271"/>
            <a:ext cx="612600" cy="60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4</a:t>
            </a:r>
            <a:endParaRPr sz="1400" b="0" i="0" u="none" strike="noStrike" cap="none">
              <a:solidFill>
                <a:schemeClr val="dk1"/>
              </a:solidFill>
              <a:latin typeface="Calibri"/>
              <a:ea typeface="Calibri"/>
              <a:cs typeface="Calibri"/>
              <a:sym typeface="Calibri"/>
            </a:endParaRPr>
          </a:p>
        </p:txBody>
      </p:sp>
      <p:sp>
        <p:nvSpPr>
          <p:cNvPr id="80" name="Google Shape;80;p6"/>
          <p:cNvSpPr/>
          <p:nvPr/>
        </p:nvSpPr>
        <p:spPr>
          <a:xfrm>
            <a:off x="731507" y="6821423"/>
            <a:ext cx="91440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81" name="Google Shape;81;p6" descr="preencoded.png"/>
          <p:cNvPicPr preferRelativeResize="0"/>
          <p:nvPr/>
        </p:nvPicPr>
        <p:blipFill rotWithShape="1">
          <a:blip r:embed="rId3">
            <a:alphaModFix/>
          </a:blip>
          <a:srcRect/>
          <a:stretch/>
        </p:blipFill>
        <p:spPr>
          <a:xfrm>
            <a:off x="11155668" y="6757415"/>
            <a:ext cx="1645920" cy="5669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86"/>
        <p:cNvGrpSpPr/>
        <p:nvPr/>
      </p:nvGrpSpPr>
      <p:grpSpPr>
        <a:xfrm>
          <a:off x="0" y="0"/>
          <a:ext cx="0" cy="0"/>
          <a:chOff x="0" y="0"/>
          <a:chExt cx="0" cy="0"/>
        </a:xfrm>
      </p:grpSpPr>
      <p:sp>
        <p:nvSpPr>
          <p:cNvPr id="87" name="Google Shape;87;p7"/>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88" name="Google Shape;88;p7"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89" name="Google Shape;89;p7"/>
          <p:cNvSpPr/>
          <p:nvPr/>
        </p:nvSpPr>
        <p:spPr>
          <a:xfrm>
            <a:off x="777240" y="45720"/>
            <a:ext cx="1024128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200" b="1" i="0" u="none" strike="noStrike" cap="none">
                <a:solidFill>
                  <a:srgbClr val="0F0F0F"/>
                </a:solidFill>
                <a:latin typeface="Arial"/>
                <a:ea typeface="Arial"/>
                <a:cs typeface="Arial"/>
                <a:sym typeface="Arial"/>
              </a:rPr>
              <a:t>Method Overview</a:t>
            </a:r>
            <a:endParaRPr sz="2200" b="0" i="0" u="none" strike="noStrike" cap="none">
              <a:solidFill>
                <a:schemeClr val="dk1"/>
              </a:solidFill>
              <a:latin typeface="Calibri"/>
              <a:ea typeface="Calibri"/>
              <a:cs typeface="Calibri"/>
              <a:sym typeface="Calibri"/>
            </a:endParaRPr>
          </a:p>
        </p:txBody>
      </p:sp>
      <p:sp>
        <p:nvSpPr>
          <p:cNvPr id="90" name="Google Shape;90;p7"/>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2" name="Google Shape;92;p7"/>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3" name="Google Shape;93;p7"/>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4" name="Google Shape;94;p7"/>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5</a:t>
            </a:r>
            <a:endParaRPr sz="1400" b="0" i="0" u="none" strike="noStrike" cap="none">
              <a:solidFill>
                <a:schemeClr val="dk1"/>
              </a:solidFill>
              <a:latin typeface="Calibri"/>
              <a:ea typeface="Calibri"/>
              <a:cs typeface="Calibri"/>
              <a:sym typeface="Calibri"/>
            </a:endParaRPr>
          </a:p>
        </p:txBody>
      </p:sp>
      <p:sp>
        <p:nvSpPr>
          <p:cNvPr id="95" name="Google Shape;95;p7"/>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96" name="Google Shape;96;p7"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
        <p:nvSpPr>
          <p:cNvPr id="2" name="AutoShape 2" descr="Sharpened PNG with white background">
            <a:extLst>
              <a:ext uri="{FF2B5EF4-FFF2-40B4-BE49-F238E27FC236}">
                <a16:creationId xmlns:a16="http://schemas.microsoft.com/office/drawing/2014/main" id="{87E3BDD3-CB9C-485E-88D1-04544D484D60}"/>
              </a:ext>
            </a:extLst>
          </p:cNvPr>
          <p:cNvSpPr>
            <a:spLocks noChangeAspect="1" noChangeArrowheads="1"/>
          </p:cNvSpPr>
          <p:nvPr/>
        </p:nvSpPr>
        <p:spPr bwMode="auto">
          <a:xfrm>
            <a:off x="6316663" y="350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6" name="Picture 5">
            <a:extLst>
              <a:ext uri="{FF2B5EF4-FFF2-40B4-BE49-F238E27FC236}">
                <a16:creationId xmlns:a16="http://schemas.microsoft.com/office/drawing/2014/main" id="{23BEE89E-ECB4-4653-81C6-40A8A78886AE}"/>
              </a:ext>
            </a:extLst>
          </p:cNvPr>
          <p:cNvPicPr>
            <a:picLocks noChangeAspect="1"/>
          </p:cNvPicPr>
          <p:nvPr/>
        </p:nvPicPr>
        <p:blipFill>
          <a:blip r:embed="rId4"/>
          <a:stretch>
            <a:fillRect/>
          </a:stretch>
        </p:blipFill>
        <p:spPr>
          <a:xfrm>
            <a:off x="279277" y="1261570"/>
            <a:ext cx="12379570" cy="48880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101"/>
        <p:cNvGrpSpPr/>
        <p:nvPr/>
      </p:nvGrpSpPr>
      <p:grpSpPr>
        <a:xfrm>
          <a:off x="0" y="0"/>
          <a:ext cx="0" cy="0"/>
          <a:chOff x="0" y="0"/>
          <a:chExt cx="0" cy="0"/>
        </a:xfrm>
      </p:grpSpPr>
      <p:sp>
        <p:nvSpPr>
          <p:cNvPr id="102" name="Google Shape;102;p8"/>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3" name="Google Shape;103;p8"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104" name="Google Shape;104;p8"/>
          <p:cNvSpPr/>
          <p:nvPr/>
        </p:nvSpPr>
        <p:spPr>
          <a:xfrm>
            <a:off x="777240" y="45720"/>
            <a:ext cx="1024128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200" b="1" i="0" u="none" strike="noStrike" cap="none">
                <a:solidFill>
                  <a:srgbClr val="0F0F0F"/>
                </a:solidFill>
                <a:latin typeface="Arial"/>
                <a:ea typeface="Arial"/>
                <a:cs typeface="Arial"/>
                <a:sym typeface="Arial"/>
              </a:rPr>
              <a:t>Se</a:t>
            </a:r>
            <a:r>
              <a:rPr lang="en-US" sz="2200" b="1">
                <a:solidFill>
                  <a:srgbClr val="0F0F0F"/>
                </a:solidFill>
              </a:rPr>
              <a:t>gmentation</a:t>
            </a:r>
            <a:endParaRPr sz="2200" b="0" i="0" u="none" strike="noStrike" cap="none">
              <a:solidFill>
                <a:schemeClr val="dk1"/>
              </a:solidFill>
              <a:latin typeface="Calibri"/>
              <a:ea typeface="Calibri"/>
              <a:cs typeface="Calibri"/>
              <a:sym typeface="Calibri"/>
            </a:endParaRPr>
          </a:p>
        </p:txBody>
      </p:sp>
      <p:sp>
        <p:nvSpPr>
          <p:cNvPr id="105" name="Google Shape;105;p8"/>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6" name="Google Shape;106;p8"/>
          <p:cNvSpPr/>
          <p:nvPr/>
        </p:nvSpPr>
        <p:spPr>
          <a:xfrm>
            <a:off x="228600" y="3479025"/>
            <a:ext cx="5943600" cy="30222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2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7" name="Google Shape;107;p8"/>
          <p:cNvSpPr/>
          <p:nvPr/>
        </p:nvSpPr>
        <p:spPr>
          <a:xfrm>
            <a:off x="228600" y="3479025"/>
            <a:ext cx="54900" cy="30222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 name="Google Shape;108;p8"/>
          <p:cNvSpPr/>
          <p:nvPr/>
        </p:nvSpPr>
        <p:spPr>
          <a:xfrm>
            <a:off x="411455" y="3602093"/>
            <a:ext cx="5577900" cy="22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400"/>
              <a:buFont typeface="Arial"/>
              <a:buNone/>
            </a:pPr>
            <a:r>
              <a:rPr lang="en-US" sz="2000" b="1" i="0" u="none" strike="noStrike" cap="none">
                <a:solidFill>
                  <a:srgbClr val="0F0F0F"/>
                </a:solidFill>
                <a:latin typeface="Arial"/>
                <a:ea typeface="Arial"/>
                <a:cs typeface="Arial"/>
                <a:sym typeface="Arial"/>
              </a:rPr>
              <a:t>Boundary Signals</a:t>
            </a:r>
            <a:endParaRPr sz="2000" b="0" i="0" u="none" strike="noStrike" cap="none">
              <a:solidFill>
                <a:schemeClr val="dk1"/>
              </a:solidFill>
              <a:latin typeface="Calibri"/>
              <a:ea typeface="Calibri"/>
              <a:cs typeface="Calibri"/>
              <a:sym typeface="Calibri"/>
            </a:endParaRPr>
          </a:p>
        </p:txBody>
      </p:sp>
      <p:sp>
        <p:nvSpPr>
          <p:cNvPr id="109" name="Google Shape;109;p8"/>
          <p:cNvSpPr/>
          <p:nvPr/>
        </p:nvSpPr>
        <p:spPr>
          <a:xfrm>
            <a:off x="434280" y="3976071"/>
            <a:ext cx="5577900" cy="237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0" name="Google Shape;110;p8"/>
          <p:cNvSpPr/>
          <p:nvPr/>
        </p:nvSpPr>
        <p:spPr>
          <a:xfrm>
            <a:off x="411475" y="3941000"/>
            <a:ext cx="5623500" cy="24414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Semantic similarity drops (cosine between sliding windows; k auto-optimised per country)</a:t>
            </a:r>
            <a:endParaRPr sz="2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Chairperson agenda cues (language-specific)</a:t>
            </a:r>
            <a:br>
              <a:rPr lang="en-US" sz="2200" b="0" i="0" u="none" strike="noStrike" cap="none">
                <a:solidFill>
                  <a:schemeClr val="dk1"/>
                </a:solidFill>
                <a:latin typeface="Calibri"/>
                <a:ea typeface="Calibri"/>
                <a:cs typeface="Calibri"/>
                <a:sym typeface="Calibri"/>
              </a:rPr>
            </a:br>
            <a:endParaRPr sz="2200" b="0" i="0" u="none" strike="noStrike" cap="none">
              <a:solidFill>
                <a:schemeClr val="dk1"/>
              </a:solidFill>
              <a:latin typeface="Calibri"/>
              <a:ea typeface="Calibri"/>
              <a:cs typeface="Calibri"/>
              <a:sym typeface="Calibri"/>
            </a:endParaRPr>
          </a:p>
        </p:txBody>
      </p:sp>
      <p:sp>
        <p:nvSpPr>
          <p:cNvPr id="111" name="Google Shape;111;p8"/>
          <p:cNvSpPr/>
          <p:nvPr/>
        </p:nvSpPr>
        <p:spPr>
          <a:xfrm>
            <a:off x="819591" y="916725"/>
            <a:ext cx="116295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400"/>
              <a:buFont typeface="Arial"/>
              <a:buNone/>
            </a:pPr>
            <a:r>
              <a:rPr lang="en-US" sz="2000" b="1" i="0" u="none" strike="noStrike" cap="none">
                <a:solidFill>
                  <a:srgbClr val="0F0F0F"/>
                </a:solidFill>
                <a:latin typeface="Arial"/>
                <a:ea typeface="Arial"/>
                <a:cs typeface="Arial"/>
                <a:sym typeface="Arial"/>
              </a:rPr>
              <a:t>How a sitting gets segmented</a:t>
            </a:r>
            <a:endParaRPr sz="2000" b="0" i="0" u="none" strike="noStrike" cap="none">
              <a:solidFill>
                <a:schemeClr val="dk1"/>
              </a:solidFill>
              <a:latin typeface="Calibri"/>
              <a:ea typeface="Calibri"/>
              <a:cs typeface="Calibri"/>
              <a:sym typeface="Calibri"/>
            </a:endParaRPr>
          </a:p>
        </p:txBody>
      </p:sp>
      <p:sp>
        <p:nvSpPr>
          <p:cNvPr id="112" name="Google Shape;112;p8"/>
          <p:cNvSpPr/>
          <p:nvPr/>
        </p:nvSpPr>
        <p:spPr>
          <a:xfrm>
            <a:off x="819609" y="1276457"/>
            <a:ext cx="11629500" cy="366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3" name="Google Shape;113;p8"/>
          <p:cNvSpPr/>
          <p:nvPr/>
        </p:nvSpPr>
        <p:spPr>
          <a:xfrm>
            <a:off x="543225" y="1766543"/>
            <a:ext cx="819000" cy="571500"/>
          </a:xfrm>
          <a:prstGeom prst="roundRect">
            <a:avLst>
              <a:gd name="adj" fmla="val 11905"/>
            </a:avLst>
          </a:prstGeom>
          <a:solidFill>
            <a:srgbClr val="285F82"/>
          </a:solidFill>
          <a:ln w="12700" cap="flat" cmpd="sng">
            <a:solidFill>
              <a:srgbClr val="285F8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4" name="Google Shape;114;p8"/>
          <p:cNvSpPr/>
          <p:nvPr/>
        </p:nvSpPr>
        <p:spPr>
          <a:xfrm>
            <a:off x="543225"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S1</a:t>
            </a:r>
            <a:endParaRPr sz="800" b="0" i="0" u="none" strike="noStrike" cap="none">
              <a:solidFill>
                <a:schemeClr val="dk1"/>
              </a:solidFill>
              <a:latin typeface="Calibri"/>
              <a:ea typeface="Calibri"/>
              <a:cs typeface="Calibri"/>
              <a:sym typeface="Calibri"/>
            </a:endParaRPr>
          </a:p>
        </p:txBody>
      </p:sp>
      <p:sp>
        <p:nvSpPr>
          <p:cNvPr id="115" name="Google Shape;115;p8"/>
          <p:cNvSpPr/>
          <p:nvPr/>
        </p:nvSpPr>
        <p:spPr>
          <a:xfrm>
            <a:off x="1543273" y="1766543"/>
            <a:ext cx="819000" cy="571500"/>
          </a:xfrm>
          <a:prstGeom prst="roundRect">
            <a:avLst>
              <a:gd name="adj" fmla="val 11905"/>
            </a:avLst>
          </a:prstGeom>
          <a:solidFill>
            <a:srgbClr val="3B5A70"/>
          </a:solidFill>
          <a:ln w="12700" cap="flat" cmpd="sng">
            <a:solidFill>
              <a:srgbClr val="3B5A7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6" name="Google Shape;116;p8"/>
          <p:cNvSpPr/>
          <p:nvPr/>
        </p:nvSpPr>
        <p:spPr>
          <a:xfrm>
            <a:off x="1543273"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S2</a:t>
            </a:r>
            <a:endParaRPr sz="800" b="0" i="0" u="none" strike="noStrike" cap="none">
              <a:solidFill>
                <a:schemeClr val="dk1"/>
              </a:solidFill>
              <a:latin typeface="Calibri"/>
              <a:ea typeface="Calibri"/>
              <a:cs typeface="Calibri"/>
              <a:sym typeface="Calibri"/>
            </a:endParaRPr>
          </a:p>
        </p:txBody>
      </p:sp>
      <p:sp>
        <p:nvSpPr>
          <p:cNvPr id="117" name="Google Shape;117;p8"/>
          <p:cNvSpPr/>
          <p:nvPr/>
        </p:nvSpPr>
        <p:spPr>
          <a:xfrm>
            <a:off x="2543321" y="1766543"/>
            <a:ext cx="819000" cy="571500"/>
          </a:xfrm>
          <a:prstGeom prst="roundRect">
            <a:avLst>
              <a:gd name="adj" fmla="val 11905"/>
            </a:avLst>
          </a:prstGeom>
          <a:solidFill>
            <a:srgbClr val="285F82"/>
          </a:solidFill>
          <a:ln w="12700" cap="flat" cmpd="sng">
            <a:solidFill>
              <a:srgbClr val="285F8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8" name="Google Shape;118;p8"/>
          <p:cNvSpPr/>
          <p:nvPr/>
        </p:nvSpPr>
        <p:spPr>
          <a:xfrm>
            <a:off x="2543321"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S3</a:t>
            </a:r>
            <a:endParaRPr sz="800" b="0" i="0" u="none" strike="noStrike" cap="none">
              <a:solidFill>
                <a:schemeClr val="dk1"/>
              </a:solidFill>
              <a:latin typeface="Calibri"/>
              <a:ea typeface="Calibri"/>
              <a:cs typeface="Calibri"/>
              <a:sym typeface="Calibri"/>
            </a:endParaRPr>
          </a:p>
        </p:txBody>
      </p:sp>
      <p:sp>
        <p:nvSpPr>
          <p:cNvPr id="119" name="Google Shape;119;p8"/>
          <p:cNvSpPr/>
          <p:nvPr/>
        </p:nvSpPr>
        <p:spPr>
          <a:xfrm>
            <a:off x="3543368" y="1766543"/>
            <a:ext cx="819000" cy="571500"/>
          </a:xfrm>
          <a:prstGeom prst="roundRect">
            <a:avLst>
              <a:gd name="adj" fmla="val 11905"/>
            </a:avLst>
          </a:prstGeom>
          <a:solidFill>
            <a:srgbClr val="3B5A70"/>
          </a:solidFill>
          <a:ln w="12700" cap="flat" cmpd="sng">
            <a:solidFill>
              <a:srgbClr val="3B5A7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0" name="Google Shape;120;p8"/>
          <p:cNvSpPr/>
          <p:nvPr/>
        </p:nvSpPr>
        <p:spPr>
          <a:xfrm>
            <a:off x="3543368"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S4</a:t>
            </a:r>
            <a:endParaRPr sz="800" b="0" i="0" u="none" strike="noStrike" cap="none">
              <a:solidFill>
                <a:schemeClr val="dk1"/>
              </a:solidFill>
              <a:latin typeface="Calibri"/>
              <a:ea typeface="Calibri"/>
              <a:cs typeface="Calibri"/>
              <a:sym typeface="Calibri"/>
            </a:endParaRPr>
          </a:p>
        </p:txBody>
      </p:sp>
      <p:sp>
        <p:nvSpPr>
          <p:cNvPr id="121" name="Google Shape;121;p8"/>
          <p:cNvSpPr/>
          <p:nvPr/>
        </p:nvSpPr>
        <p:spPr>
          <a:xfrm>
            <a:off x="4543416" y="1766543"/>
            <a:ext cx="819000" cy="571500"/>
          </a:xfrm>
          <a:prstGeom prst="roundRect">
            <a:avLst>
              <a:gd name="adj" fmla="val 11905"/>
            </a:avLst>
          </a:prstGeom>
          <a:solidFill>
            <a:srgbClr val="285F82"/>
          </a:solidFill>
          <a:ln w="12700" cap="flat" cmpd="sng">
            <a:solidFill>
              <a:srgbClr val="285F8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2" name="Google Shape;122;p8"/>
          <p:cNvSpPr/>
          <p:nvPr/>
        </p:nvSpPr>
        <p:spPr>
          <a:xfrm>
            <a:off x="4543416"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S5</a:t>
            </a:r>
            <a:endParaRPr sz="800" b="0" i="0" u="none" strike="noStrike" cap="none">
              <a:solidFill>
                <a:schemeClr val="dk1"/>
              </a:solidFill>
              <a:latin typeface="Calibri"/>
              <a:ea typeface="Calibri"/>
              <a:cs typeface="Calibri"/>
              <a:sym typeface="Calibri"/>
            </a:endParaRPr>
          </a:p>
        </p:txBody>
      </p:sp>
      <p:sp>
        <p:nvSpPr>
          <p:cNvPr id="123" name="Google Shape;123;p8"/>
          <p:cNvSpPr/>
          <p:nvPr/>
        </p:nvSpPr>
        <p:spPr>
          <a:xfrm>
            <a:off x="5543464" y="1766543"/>
            <a:ext cx="819000" cy="571500"/>
          </a:xfrm>
          <a:prstGeom prst="roundRect">
            <a:avLst>
              <a:gd name="adj" fmla="val 11905"/>
            </a:avLst>
          </a:prstGeom>
          <a:solidFill>
            <a:srgbClr val="2E7D32"/>
          </a:solidFill>
          <a:ln w="1270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4" name="Google Shape;124;p8"/>
          <p:cNvSpPr/>
          <p:nvPr/>
        </p:nvSpPr>
        <p:spPr>
          <a:xfrm>
            <a:off x="5543464"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S6</a:t>
            </a:r>
            <a:endParaRPr sz="800" b="0" i="0" u="none" strike="noStrike" cap="none">
              <a:solidFill>
                <a:schemeClr val="dk1"/>
              </a:solidFill>
              <a:latin typeface="Calibri"/>
              <a:ea typeface="Calibri"/>
              <a:cs typeface="Calibri"/>
              <a:sym typeface="Calibri"/>
            </a:endParaRPr>
          </a:p>
        </p:txBody>
      </p:sp>
      <p:sp>
        <p:nvSpPr>
          <p:cNvPr id="125" name="Google Shape;125;p8"/>
          <p:cNvSpPr/>
          <p:nvPr/>
        </p:nvSpPr>
        <p:spPr>
          <a:xfrm>
            <a:off x="6543512" y="1766543"/>
            <a:ext cx="819000" cy="571500"/>
          </a:xfrm>
          <a:prstGeom prst="roundRect">
            <a:avLst>
              <a:gd name="adj" fmla="val 11905"/>
            </a:avLst>
          </a:prstGeom>
          <a:solidFill>
            <a:srgbClr val="2E7D32"/>
          </a:solidFill>
          <a:ln w="1270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6" name="Google Shape;126;p8"/>
          <p:cNvSpPr/>
          <p:nvPr/>
        </p:nvSpPr>
        <p:spPr>
          <a:xfrm>
            <a:off x="6543512"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S7</a:t>
            </a:r>
            <a:endParaRPr sz="800" b="0" i="0" u="none" strike="noStrike" cap="none">
              <a:solidFill>
                <a:schemeClr val="dk1"/>
              </a:solidFill>
              <a:latin typeface="Calibri"/>
              <a:ea typeface="Calibri"/>
              <a:cs typeface="Calibri"/>
              <a:sym typeface="Calibri"/>
            </a:endParaRPr>
          </a:p>
        </p:txBody>
      </p:sp>
      <p:sp>
        <p:nvSpPr>
          <p:cNvPr id="127" name="Google Shape;127;p8"/>
          <p:cNvSpPr/>
          <p:nvPr/>
        </p:nvSpPr>
        <p:spPr>
          <a:xfrm>
            <a:off x="7543559" y="1766543"/>
            <a:ext cx="819000" cy="571500"/>
          </a:xfrm>
          <a:prstGeom prst="roundRect">
            <a:avLst>
              <a:gd name="adj" fmla="val 11905"/>
            </a:avLst>
          </a:prstGeom>
          <a:solidFill>
            <a:srgbClr val="2E7D32"/>
          </a:solidFill>
          <a:ln w="1270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8" name="Google Shape;128;p8"/>
          <p:cNvSpPr/>
          <p:nvPr/>
        </p:nvSpPr>
        <p:spPr>
          <a:xfrm>
            <a:off x="7543559"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S8</a:t>
            </a:r>
            <a:endParaRPr sz="800" b="0" i="0" u="none" strike="noStrike" cap="none">
              <a:solidFill>
                <a:schemeClr val="dk1"/>
              </a:solidFill>
              <a:latin typeface="Calibri"/>
              <a:ea typeface="Calibri"/>
              <a:cs typeface="Calibri"/>
              <a:sym typeface="Calibri"/>
            </a:endParaRPr>
          </a:p>
        </p:txBody>
      </p:sp>
      <p:sp>
        <p:nvSpPr>
          <p:cNvPr id="129" name="Google Shape;129;p8"/>
          <p:cNvSpPr/>
          <p:nvPr/>
        </p:nvSpPr>
        <p:spPr>
          <a:xfrm>
            <a:off x="8543607" y="1766543"/>
            <a:ext cx="819000" cy="571500"/>
          </a:xfrm>
          <a:prstGeom prst="roundRect">
            <a:avLst>
              <a:gd name="adj" fmla="val 11905"/>
            </a:avLst>
          </a:prstGeom>
          <a:solidFill>
            <a:srgbClr val="2E7D32"/>
          </a:solidFill>
          <a:ln w="1270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8"/>
          <p:cNvSpPr/>
          <p:nvPr/>
        </p:nvSpPr>
        <p:spPr>
          <a:xfrm>
            <a:off x="8543607"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S9</a:t>
            </a:r>
            <a:endParaRPr sz="800" b="0" i="0" u="none" strike="noStrike" cap="none">
              <a:solidFill>
                <a:schemeClr val="dk1"/>
              </a:solidFill>
              <a:latin typeface="Calibri"/>
              <a:ea typeface="Calibri"/>
              <a:cs typeface="Calibri"/>
              <a:sym typeface="Calibri"/>
            </a:endParaRPr>
          </a:p>
        </p:txBody>
      </p:sp>
      <p:sp>
        <p:nvSpPr>
          <p:cNvPr id="131" name="Google Shape;131;p8"/>
          <p:cNvSpPr/>
          <p:nvPr/>
        </p:nvSpPr>
        <p:spPr>
          <a:xfrm>
            <a:off x="9543655" y="1766543"/>
            <a:ext cx="819000" cy="571500"/>
          </a:xfrm>
          <a:prstGeom prst="roundRect">
            <a:avLst>
              <a:gd name="adj" fmla="val 11905"/>
            </a:avLst>
          </a:prstGeom>
          <a:solidFill>
            <a:srgbClr val="7B3F00"/>
          </a:solidFill>
          <a:ln w="12700" cap="flat" cmpd="sng">
            <a:solidFill>
              <a:srgbClr val="7B3F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2" name="Google Shape;132;p8"/>
          <p:cNvSpPr/>
          <p:nvPr/>
        </p:nvSpPr>
        <p:spPr>
          <a:xfrm>
            <a:off x="9543655"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S10</a:t>
            </a:r>
            <a:endParaRPr sz="800" b="0" i="0" u="none" strike="noStrike" cap="none">
              <a:solidFill>
                <a:schemeClr val="dk1"/>
              </a:solidFill>
              <a:latin typeface="Calibri"/>
              <a:ea typeface="Calibri"/>
              <a:cs typeface="Calibri"/>
              <a:sym typeface="Calibri"/>
            </a:endParaRPr>
          </a:p>
        </p:txBody>
      </p:sp>
      <p:sp>
        <p:nvSpPr>
          <p:cNvPr id="133" name="Google Shape;133;p8"/>
          <p:cNvSpPr/>
          <p:nvPr/>
        </p:nvSpPr>
        <p:spPr>
          <a:xfrm>
            <a:off x="10543703" y="1766543"/>
            <a:ext cx="819000" cy="571500"/>
          </a:xfrm>
          <a:prstGeom prst="roundRect">
            <a:avLst>
              <a:gd name="adj" fmla="val 11905"/>
            </a:avLst>
          </a:prstGeom>
          <a:solidFill>
            <a:srgbClr val="7B3F00"/>
          </a:solidFill>
          <a:ln w="12700" cap="flat" cmpd="sng">
            <a:solidFill>
              <a:srgbClr val="7B3F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4" name="Google Shape;134;p8"/>
          <p:cNvSpPr/>
          <p:nvPr/>
        </p:nvSpPr>
        <p:spPr>
          <a:xfrm>
            <a:off x="10543703"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S11</a:t>
            </a:r>
            <a:endParaRPr sz="800" b="0" i="0" u="none" strike="noStrike" cap="none">
              <a:solidFill>
                <a:schemeClr val="dk1"/>
              </a:solidFill>
              <a:latin typeface="Calibri"/>
              <a:ea typeface="Calibri"/>
              <a:cs typeface="Calibri"/>
              <a:sym typeface="Calibri"/>
            </a:endParaRPr>
          </a:p>
        </p:txBody>
      </p:sp>
      <p:sp>
        <p:nvSpPr>
          <p:cNvPr id="135" name="Google Shape;135;p8"/>
          <p:cNvSpPr/>
          <p:nvPr/>
        </p:nvSpPr>
        <p:spPr>
          <a:xfrm>
            <a:off x="11543751" y="1766543"/>
            <a:ext cx="819000" cy="571500"/>
          </a:xfrm>
          <a:prstGeom prst="roundRect">
            <a:avLst>
              <a:gd name="adj" fmla="val 11905"/>
            </a:avLst>
          </a:prstGeom>
          <a:solidFill>
            <a:srgbClr val="7B3F00"/>
          </a:solidFill>
          <a:ln w="12700" cap="flat" cmpd="sng">
            <a:solidFill>
              <a:srgbClr val="7B3F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6" name="Google Shape;136;p8"/>
          <p:cNvSpPr/>
          <p:nvPr/>
        </p:nvSpPr>
        <p:spPr>
          <a:xfrm>
            <a:off x="11543751" y="1766543"/>
            <a:ext cx="819000" cy="57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S12</a:t>
            </a:r>
            <a:endParaRPr sz="800" b="0" i="0" u="none" strike="noStrike" cap="none">
              <a:solidFill>
                <a:schemeClr val="dk1"/>
              </a:solidFill>
              <a:latin typeface="Calibri"/>
              <a:ea typeface="Calibri"/>
              <a:cs typeface="Calibri"/>
              <a:sym typeface="Calibri"/>
            </a:endParaRPr>
          </a:p>
        </p:txBody>
      </p:sp>
      <p:sp>
        <p:nvSpPr>
          <p:cNvPr id="137" name="Google Shape;137;p8"/>
          <p:cNvSpPr/>
          <p:nvPr/>
        </p:nvSpPr>
        <p:spPr>
          <a:xfrm>
            <a:off x="634138" y="2446726"/>
            <a:ext cx="4636500" cy="54600"/>
          </a:xfrm>
          <a:prstGeom prst="rect">
            <a:avLst/>
          </a:prstGeom>
          <a:solidFill>
            <a:srgbClr val="285F82"/>
          </a:solidFill>
          <a:ln w="12700" cap="flat" cmpd="sng">
            <a:solidFill>
              <a:srgbClr val="285F8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8" name="Google Shape;138;p8"/>
          <p:cNvSpPr/>
          <p:nvPr/>
        </p:nvSpPr>
        <p:spPr>
          <a:xfrm>
            <a:off x="543354" y="2473902"/>
            <a:ext cx="4818300" cy="979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85F82"/>
              </a:buClr>
              <a:buSzPts val="1000"/>
              <a:buFont typeface="Arial"/>
              <a:buNone/>
            </a:pPr>
            <a:r>
              <a:rPr lang="en-US" b="1" i="0" u="none" strike="noStrike" cap="none">
                <a:solidFill>
                  <a:srgbClr val="285F82"/>
                </a:solidFill>
                <a:latin typeface="Arial"/>
                <a:ea typeface="Arial"/>
                <a:cs typeface="Arial"/>
                <a:sym typeface="Arial"/>
              </a:rPr>
              <a:t>Episode A</a:t>
            </a:r>
            <a:endParaRPr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285F82"/>
              </a:buClr>
              <a:buSzPts val="1000"/>
              <a:buFont typeface="Arial"/>
              <a:buNone/>
            </a:pPr>
            <a:r>
              <a:rPr lang="en-US" b="1" i="0" u="none" strike="noStrike" cap="none">
                <a:solidFill>
                  <a:srgbClr val="285F82"/>
                </a:solidFill>
                <a:latin typeface="Arial"/>
                <a:ea typeface="Arial"/>
                <a:cs typeface="Arial"/>
                <a:sym typeface="Arial"/>
              </a:rPr>
              <a:t>(e.g. </a:t>
            </a:r>
            <a:r>
              <a:rPr lang="en-US" b="1">
                <a:solidFill>
                  <a:srgbClr val="285F82"/>
                </a:solidFill>
              </a:rPr>
              <a:t>Energy</a:t>
            </a:r>
            <a:r>
              <a:rPr lang="en-US" b="1" i="0" u="none" strike="noStrike" cap="none">
                <a:solidFill>
                  <a:srgbClr val="285F82"/>
                </a:solidFill>
                <a:latin typeface="Arial"/>
                <a:ea typeface="Arial"/>
                <a:cs typeface="Arial"/>
                <a:sym typeface="Arial"/>
              </a:rPr>
              <a:t>)</a:t>
            </a:r>
            <a:endParaRPr b="0" i="0" u="none" strike="noStrike" cap="none">
              <a:solidFill>
                <a:schemeClr val="dk1"/>
              </a:solidFill>
              <a:latin typeface="Calibri"/>
              <a:ea typeface="Calibri"/>
              <a:cs typeface="Calibri"/>
              <a:sym typeface="Calibri"/>
            </a:endParaRPr>
          </a:p>
        </p:txBody>
      </p:sp>
      <p:sp>
        <p:nvSpPr>
          <p:cNvPr id="139" name="Google Shape;139;p8"/>
          <p:cNvSpPr/>
          <p:nvPr/>
        </p:nvSpPr>
        <p:spPr>
          <a:xfrm>
            <a:off x="5634377" y="2446726"/>
            <a:ext cx="3818400" cy="546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0" name="Google Shape;140;p8"/>
          <p:cNvSpPr/>
          <p:nvPr/>
        </p:nvSpPr>
        <p:spPr>
          <a:xfrm>
            <a:off x="5543464" y="2609970"/>
            <a:ext cx="4000500" cy="70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E7D32"/>
              </a:buClr>
              <a:buSzPts val="1000"/>
              <a:buFont typeface="Arial"/>
              <a:buNone/>
            </a:pPr>
            <a:r>
              <a:rPr lang="en-US" b="1" i="0" u="none" strike="noStrike" cap="none">
                <a:solidFill>
                  <a:srgbClr val="2E7D32"/>
                </a:solidFill>
                <a:latin typeface="Arial"/>
                <a:ea typeface="Arial"/>
                <a:cs typeface="Arial"/>
                <a:sym typeface="Arial"/>
              </a:rPr>
              <a:t>Episode B</a:t>
            </a:r>
            <a:endParaRPr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2E7D32"/>
              </a:buClr>
              <a:buSzPts val="1000"/>
              <a:buFont typeface="Arial"/>
              <a:buNone/>
            </a:pPr>
            <a:r>
              <a:rPr lang="en-US" b="1" i="0" u="none" strike="noStrike" cap="none">
                <a:solidFill>
                  <a:srgbClr val="2E7D32"/>
                </a:solidFill>
                <a:latin typeface="Arial"/>
                <a:ea typeface="Arial"/>
                <a:cs typeface="Arial"/>
                <a:sym typeface="Arial"/>
              </a:rPr>
              <a:t>(e.g. </a:t>
            </a:r>
            <a:r>
              <a:rPr lang="en-US" b="1">
                <a:solidFill>
                  <a:srgbClr val="2E7D32"/>
                </a:solidFill>
              </a:rPr>
              <a:t>Environment</a:t>
            </a:r>
            <a:r>
              <a:rPr lang="en-US" b="1" i="0" u="none" strike="noStrike" cap="none">
                <a:solidFill>
                  <a:srgbClr val="2E7D32"/>
                </a:solidFill>
                <a:latin typeface="Arial"/>
                <a:ea typeface="Arial"/>
                <a:cs typeface="Arial"/>
                <a:sym typeface="Arial"/>
              </a:rPr>
              <a:t>)</a:t>
            </a:r>
            <a:endParaRPr b="0" i="0" u="none" strike="noStrike" cap="none">
              <a:solidFill>
                <a:schemeClr val="dk1"/>
              </a:solidFill>
              <a:latin typeface="Calibri"/>
              <a:ea typeface="Calibri"/>
              <a:cs typeface="Calibri"/>
              <a:sym typeface="Calibri"/>
            </a:endParaRPr>
          </a:p>
        </p:txBody>
      </p:sp>
      <p:sp>
        <p:nvSpPr>
          <p:cNvPr id="141" name="Google Shape;141;p8"/>
          <p:cNvSpPr/>
          <p:nvPr/>
        </p:nvSpPr>
        <p:spPr>
          <a:xfrm>
            <a:off x="9598209" y="2446726"/>
            <a:ext cx="2818500" cy="54600"/>
          </a:xfrm>
          <a:prstGeom prst="rect">
            <a:avLst/>
          </a:prstGeom>
          <a:solidFill>
            <a:srgbClr val="7B3F00"/>
          </a:solidFill>
          <a:ln w="12700" cap="flat" cmpd="sng">
            <a:solidFill>
              <a:srgbClr val="7B3F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2" name="Google Shape;142;p8"/>
          <p:cNvSpPr/>
          <p:nvPr/>
        </p:nvSpPr>
        <p:spPr>
          <a:xfrm>
            <a:off x="9725482" y="2609970"/>
            <a:ext cx="3000000" cy="70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B3F00"/>
              </a:buClr>
              <a:buSzPts val="1000"/>
              <a:buFont typeface="Arial"/>
              <a:buNone/>
            </a:pPr>
            <a:r>
              <a:rPr lang="en-US" b="1" i="0" u="none" strike="noStrike" cap="none">
                <a:solidFill>
                  <a:srgbClr val="7B3F00"/>
                </a:solidFill>
                <a:latin typeface="Arial"/>
                <a:ea typeface="Arial"/>
                <a:cs typeface="Arial"/>
                <a:sym typeface="Arial"/>
              </a:rPr>
              <a:t>Episode C</a:t>
            </a:r>
            <a:endParaRPr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7B3F00"/>
              </a:buClr>
              <a:buSzPts val="1000"/>
              <a:buFont typeface="Arial"/>
              <a:buNone/>
            </a:pPr>
            <a:r>
              <a:rPr lang="en-US" b="1" i="0" u="none" strike="noStrike" cap="none">
                <a:solidFill>
                  <a:srgbClr val="7B3F00"/>
                </a:solidFill>
                <a:latin typeface="Arial"/>
                <a:ea typeface="Arial"/>
                <a:cs typeface="Arial"/>
                <a:sym typeface="Arial"/>
              </a:rPr>
              <a:t>(e.g. </a:t>
            </a:r>
            <a:r>
              <a:rPr lang="en-US" b="1">
                <a:solidFill>
                  <a:srgbClr val="7B3F00"/>
                </a:solidFill>
              </a:rPr>
              <a:t>Social Support</a:t>
            </a:r>
            <a:r>
              <a:rPr lang="en-US" b="1" i="0" u="none" strike="noStrike" cap="none">
                <a:solidFill>
                  <a:srgbClr val="7B3F00"/>
                </a:solidFill>
                <a:latin typeface="Arial"/>
                <a:ea typeface="Arial"/>
                <a:cs typeface="Arial"/>
                <a:sym typeface="Arial"/>
              </a:rPr>
              <a:t>)</a:t>
            </a:r>
            <a:endParaRPr b="0" i="0" u="none" strike="noStrike" cap="none">
              <a:solidFill>
                <a:schemeClr val="dk1"/>
              </a:solidFill>
              <a:latin typeface="Calibri"/>
              <a:ea typeface="Calibri"/>
              <a:cs typeface="Calibri"/>
              <a:sym typeface="Calibri"/>
            </a:endParaRPr>
          </a:p>
        </p:txBody>
      </p:sp>
      <p:sp>
        <p:nvSpPr>
          <p:cNvPr id="143" name="Google Shape;143;p8"/>
          <p:cNvSpPr/>
          <p:nvPr/>
        </p:nvSpPr>
        <p:spPr>
          <a:xfrm>
            <a:off x="5397847" y="1603300"/>
            <a:ext cx="109200" cy="9795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4" name="Google Shape;144;p8"/>
          <p:cNvSpPr/>
          <p:nvPr/>
        </p:nvSpPr>
        <p:spPr>
          <a:xfrm>
            <a:off x="4652512" y="1331227"/>
            <a:ext cx="1454400" cy="272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70146"/>
              </a:buClr>
              <a:buSzPts val="700"/>
              <a:buFont typeface="Arial"/>
              <a:buNone/>
            </a:pPr>
            <a:r>
              <a:rPr lang="en-US" b="1" i="0" u="none" strike="noStrike" cap="none">
                <a:solidFill>
                  <a:srgbClr val="F70146"/>
                </a:solidFill>
                <a:latin typeface="Arial"/>
                <a:ea typeface="Arial"/>
                <a:cs typeface="Arial"/>
                <a:sym typeface="Arial"/>
              </a:rPr>
              <a:t>BOUNDARY</a:t>
            </a:r>
            <a:endParaRPr b="0" i="0" u="none" strike="noStrike" cap="none">
              <a:solidFill>
                <a:schemeClr val="dk1"/>
              </a:solidFill>
              <a:latin typeface="Calibri"/>
              <a:ea typeface="Calibri"/>
              <a:cs typeface="Calibri"/>
              <a:sym typeface="Calibri"/>
            </a:endParaRPr>
          </a:p>
        </p:txBody>
      </p:sp>
      <p:sp>
        <p:nvSpPr>
          <p:cNvPr id="145" name="Google Shape;145;p8"/>
          <p:cNvSpPr/>
          <p:nvPr/>
        </p:nvSpPr>
        <p:spPr>
          <a:xfrm>
            <a:off x="9398444" y="1603300"/>
            <a:ext cx="109200" cy="9795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6" name="Google Shape;146;p8"/>
          <p:cNvSpPr/>
          <p:nvPr/>
        </p:nvSpPr>
        <p:spPr>
          <a:xfrm>
            <a:off x="8834530" y="1331227"/>
            <a:ext cx="1454400" cy="272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70146"/>
              </a:buClr>
              <a:buSzPts val="700"/>
              <a:buFont typeface="Arial"/>
              <a:buNone/>
            </a:pPr>
            <a:r>
              <a:rPr lang="en-US" b="1" i="0" u="none" strike="noStrike" cap="none">
                <a:solidFill>
                  <a:srgbClr val="F70146"/>
                </a:solidFill>
                <a:latin typeface="Arial"/>
                <a:ea typeface="Arial"/>
                <a:cs typeface="Arial"/>
                <a:sym typeface="Arial"/>
              </a:rPr>
              <a:t>BOUNDARY</a:t>
            </a:r>
            <a:endParaRPr b="0" i="0" u="none" strike="noStrike" cap="none">
              <a:solidFill>
                <a:schemeClr val="dk1"/>
              </a:solidFill>
              <a:latin typeface="Calibri"/>
              <a:ea typeface="Calibri"/>
              <a:cs typeface="Calibri"/>
              <a:sym typeface="Calibri"/>
            </a:endParaRPr>
          </a:p>
        </p:txBody>
      </p:sp>
      <p:sp>
        <p:nvSpPr>
          <p:cNvPr id="147" name="Google Shape;147;p8"/>
          <p:cNvSpPr/>
          <p:nvPr/>
        </p:nvSpPr>
        <p:spPr>
          <a:xfrm>
            <a:off x="6446525" y="3485075"/>
            <a:ext cx="6263700" cy="3022200"/>
          </a:xfrm>
          <a:prstGeom prst="rect">
            <a:avLst/>
          </a:prstGeom>
          <a:solidFill>
            <a:srgbClr val="0F0F0F"/>
          </a:solidFill>
          <a:ln w="12700" cap="flat" cmpd="sng">
            <a:solidFill>
              <a:srgbClr val="0F0F0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8" name="Google Shape;148;p8"/>
          <p:cNvSpPr/>
          <p:nvPr/>
        </p:nvSpPr>
        <p:spPr>
          <a:xfrm>
            <a:off x="6384849" y="3479000"/>
            <a:ext cx="54900" cy="30222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9" name="Google Shape;149;p8"/>
          <p:cNvSpPr/>
          <p:nvPr/>
        </p:nvSpPr>
        <p:spPr>
          <a:xfrm>
            <a:off x="6652325" y="3666799"/>
            <a:ext cx="58521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70146"/>
              </a:buClr>
              <a:buSzPts val="1400"/>
              <a:buFont typeface="Arial"/>
              <a:buNone/>
            </a:pPr>
            <a:r>
              <a:rPr lang="en-US" sz="2200" b="1" i="0" u="none" strike="noStrike" cap="none">
                <a:solidFill>
                  <a:srgbClr val="F70146"/>
                </a:solidFill>
                <a:latin typeface="Arial"/>
                <a:ea typeface="Arial"/>
                <a:cs typeface="Arial"/>
                <a:sym typeface="Arial"/>
              </a:rPr>
              <a:t>Intuition</a:t>
            </a:r>
            <a:endParaRPr sz="2200" b="0" i="0" u="none" strike="noStrike" cap="none">
              <a:solidFill>
                <a:schemeClr val="dk1"/>
              </a:solidFill>
              <a:latin typeface="Calibri"/>
              <a:ea typeface="Calibri"/>
              <a:cs typeface="Calibri"/>
              <a:sym typeface="Calibri"/>
            </a:endParaRPr>
          </a:p>
        </p:txBody>
      </p:sp>
      <p:sp>
        <p:nvSpPr>
          <p:cNvPr id="150" name="Google Shape;150;p8"/>
          <p:cNvSpPr/>
          <p:nvPr/>
        </p:nvSpPr>
        <p:spPr>
          <a:xfrm>
            <a:off x="6652325" y="4050400"/>
            <a:ext cx="5852100" cy="23421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FFFFFF"/>
              </a:buClr>
              <a:buSzPts val="1750"/>
              <a:buFont typeface="Arial"/>
              <a:buChar char="•"/>
            </a:pPr>
            <a:r>
              <a:rPr lang="en-US" sz="1750" b="0" i="0" u="none" strike="noStrike" cap="none">
                <a:solidFill>
                  <a:srgbClr val="FFFFFF"/>
                </a:solidFill>
                <a:latin typeface="Arial"/>
                <a:ea typeface="Arial"/>
                <a:cs typeface="Arial"/>
                <a:sym typeface="Arial"/>
              </a:rPr>
              <a:t>Agenda changes can be announced (chair cue) OR gradual (semantic drift), we capture both.</a:t>
            </a:r>
            <a:endParaRPr sz="17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1000"/>
              </a:spcBef>
              <a:spcAft>
                <a:spcPts val="0"/>
              </a:spcAft>
              <a:buClr>
                <a:srgbClr val="FFFFFF"/>
              </a:buClr>
              <a:buSzPts val="1750"/>
              <a:buFont typeface="Arial"/>
              <a:buChar char="•"/>
            </a:pPr>
            <a:r>
              <a:rPr lang="en-US" sz="1750" b="0" i="0" u="none" strike="noStrike" cap="none">
                <a:solidFill>
                  <a:srgbClr val="FFFFFF"/>
                </a:solidFill>
                <a:latin typeface="Arial"/>
                <a:ea typeface="Arial"/>
                <a:cs typeface="Arial"/>
                <a:sym typeface="Arial"/>
              </a:rPr>
              <a:t>Fusing procedural markers + semantic cohesion gives robust episode boundaries.</a:t>
            </a:r>
            <a:endParaRPr sz="17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1000"/>
              </a:spcBef>
              <a:spcAft>
                <a:spcPts val="0"/>
              </a:spcAft>
              <a:buClr>
                <a:srgbClr val="FFFFFF"/>
              </a:buClr>
              <a:buSzPts val="1750"/>
              <a:buFont typeface="Arial"/>
              <a:buChar char="•"/>
            </a:pPr>
            <a:r>
              <a:rPr lang="en-US" sz="1750" b="0" i="0" u="none" strike="noStrike" cap="none">
                <a:solidFill>
                  <a:srgbClr val="FFFFFF"/>
                </a:solidFill>
                <a:latin typeface="Arial"/>
                <a:ea typeface="Arial"/>
                <a:cs typeface="Arial"/>
                <a:sym typeface="Arial"/>
              </a:rPr>
              <a:t>Output: coherent episodes, the right unit for clustering and time-series aggregation.</a:t>
            </a:r>
            <a:endParaRPr sz="1750" b="0" i="0" u="none" strike="noStrike" cap="none">
              <a:solidFill>
                <a:schemeClr val="dk1"/>
              </a:solidFill>
              <a:latin typeface="Calibri"/>
              <a:ea typeface="Calibri"/>
              <a:cs typeface="Calibri"/>
              <a:sym typeface="Calibri"/>
            </a:endParaRPr>
          </a:p>
        </p:txBody>
      </p:sp>
      <p:sp>
        <p:nvSpPr>
          <p:cNvPr id="151" name="Google Shape;151;p8"/>
          <p:cNvSpPr/>
          <p:nvPr/>
        </p:nvSpPr>
        <p:spPr>
          <a:xfrm>
            <a:off x="74589" y="6450623"/>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2" name="Google Shape;152;p8"/>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3" name="Google Shape;153;p8"/>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6</a:t>
            </a:r>
            <a:endParaRPr sz="1400" b="0" i="0" u="none" strike="noStrike" cap="none">
              <a:solidFill>
                <a:schemeClr val="dk1"/>
              </a:solidFill>
              <a:latin typeface="Calibri"/>
              <a:ea typeface="Calibri"/>
              <a:cs typeface="Calibri"/>
              <a:sym typeface="Calibri"/>
            </a:endParaRPr>
          </a:p>
        </p:txBody>
      </p:sp>
      <p:sp>
        <p:nvSpPr>
          <p:cNvPr id="154" name="Google Shape;154;p8"/>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155" name="Google Shape;155;p8"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4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4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4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3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3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4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4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0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3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4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4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4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160"/>
        <p:cNvGrpSpPr/>
        <p:nvPr/>
      </p:nvGrpSpPr>
      <p:grpSpPr>
        <a:xfrm>
          <a:off x="0" y="0"/>
          <a:ext cx="0" cy="0"/>
          <a:chOff x="0" y="0"/>
          <a:chExt cx="0" cy="0"/>
        </a:xfrm>
      </p:grpSpPr>
      <p:sp>
        <p:nvSpPr>
          <p:cNvPr id="161" name="Google Shape;161;p9"/>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62" name="Google Shape;162;p9"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163" name="Google Shape;163;p9"/>
          <p:cNvSpPr/>
          <p:nvPr/>
        </p:nvSpPr>
        <p:spPr>
          <a:xfrm>
            <a:off x="777240" y="45720"/>
            <a:ext cx="1024128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200" b="1" i="0" u="none" strike="noStrike" cap="none">
                <a:solidFill>
                  <a:srgbClr val="0F0F0F"/>
                </a:solidFill>
                <a:latin typeface="Arial"/>
                <a:ea typeface="Arial"/>
                <a:cs typeface="Arial"/>
                <a:sym typeface="Arial"/>
              </a:rPr>
              <a:t>Topic Modelling &amp; CAP Alignment</a:t>
            </a:r>
            <a:endParaRPr sz="2200" b="0" i="0" u="none" strike="noStrike" cap="none">
              <a:solidFill>
                <a:schemeClr val="dk1"/>
              </a:solidFill>
              <a:latin typeface="Calibri"/>
              <a:ea typeface="Calibri"/>
              <a:cs typeface="Calibri"/>
              <a:sym typeface="Calibri"/>
            </a:endParaRPr>
          </a:p>
        </p:txBody>
      </p:sp>
      <p:sp>
        <p:nvSpPr>
          <p:cNvPr id="164" name="Google Shape;164;p9"/>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5" name="Google Shape;165;p9"/>
          <p:cNvSpPr/>
          <p:nvPr/>
        </p:nvSpPr>
        <p:spPr>
          <a:xfrm>
            <a:off x="443050" y="1998750"/>
            <a:ext cx="2249400" cy="3317700"/>
          </a:xfrm>
          <a:prstGeom prst="rect">
            <a:avLst/>
          </a:prstGeom>
          <a:solidFill>
            <a:srgbClr val="0F0F0F"/>
          </a:solidFill>
          <a:ln w="12700" cap="flat" cmpd="sng">
            <a:solidFill>
              <a:srgbClr val="0F0F0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6" name="Google Shape;166;p9"/>
          <p:cNvSpPr/>
          <p:nvPr/>
        </p:nvSpPr>
        <p:spPr>
          <a:xfrm>
            <a:off x="1293440" y="2090266"/>
            <a:ext cx="548700" cy="6864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7" name="Google Shape;167;p9"/>
          <p:cNvSpPr/>
          <p:nvPr/>
        </p:nvSpPr>
        <p:spPr>
          <a:xfrm>
            <a:off x="1293440" y="2090266"/>
            <a:ext cx="548700" cy="686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1</a:t>
            </a:r>
            <a:endParaRPr sz="1600" b="0" i="0" u="none" strike="noStrike" cap="none">
              <a:solidFill>
                <a:schemeClr val="dk1"/>
              </a:solidFill>
              <a:latin typeface="Calibri"/>
              <a:ea typeface="Calibri"/>
              <a:cs typeface="Calibri"/>
              <a:sym typeface="Calibri"/>
            </a:endParaRPr>
          </a:p>
        </p:txBody>
      </p:sp>
      <p:sp>
        <p:nvSpPr>
          <p:cNvPr id="168" name="Google Shape;168;p9"/>
          <p:cNvSpPr/>
          <p:nvPr/>
        </p:nvSpPr>
        <p:spPr>
          <a:xfrm>
            <a:off x="443050" y="2891033"/>
            <a:ext cx="2249400" cy="48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70146"/>
              </a:buClr>
              <a:buSzPts val="1400"/>
              <a:buFont typeface="Arial"/>
              <a:buNone/>
            </a:pPr>
            <a:r>
              <a:rPr lang="en-US" sz="2000" b="1" i="0" u="none" strike="noStrike" cap="none">
                <a:solidFill>
                  <a:srgbClr val="F70146"/>
                </a:solidFill>
                <a:latin typeface="Arial"/>
                <a:ea typeface="Arial"/>
                <a:cs typeface="Arial"/>
                <a:sym typeface="Arial"/>
              </a:rPr>
              <a:t>Embed</a:t>
            </a:r>
            <a:endParaRPr sz="2000" b="0" i="0" u="none" strike="noStrike" cap="none">
              <a:solidFill>
                <a:schemeClr val="dk1"/>
              </a:solidFill>
              <a:latin typeface="Calibri"/>
              <a:ea typeface="Calibri"/>
              <a:cs typeface="Calibri"/>
              <a:sym typeface="Calibri"/>
            </a:endParaRPr>
          </a:p>
        </p:txBody>
      </p:sp>
      <p:sp>
        <p:nvSpPr>
          <p:cNvPr id="169" name="Google Shape;169;p9"/>
          <p:cNvSpPr/>
          <p:nvPr/>
        </p:nvSpPr>
        <p:spPr>
          <a:xfrm>
            <a:off x="552778" y="3428691"/>
            <a:ext cx="2030100" cy="17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BAAI/bge-m3</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1024-d, 8k tokens</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chunk + average</a:t>
            </a:r>
            <a:endParaRPr sz="1600" b="0" i="0" u="none" strike="noStrike" cap="none">
              <a:solidFill>
                <a:schemeClr val="dk1"/>
              </a:solidFill>
              <a:latin typeface="Calibri"/>
              <a:ea typeface="Calibri"/>
              <a:cs typeface="Calibri"/>
              <a:sym typeface="Calibri"/>
            </a:endParaRPr>
          </a:p>
        </p:txBody>
      </p:sp>
      <p:cxnSp>
        <p:nvCxnSpPr>
          <p:cNvPr id="170" name="Google Shape;170;p9"/>
          <p:cNvCxnSpPr/>
          <p:nvPr/>
        </p:nvCxnSpPr>
        <p:spPr>
          <a:xfrm>
            <a:off x="2692470" y="3657481"/>
            <a:ext cx="201300" cy="0"/>
          </a:xfrm>
          <a:prstGeom prst="straightConnector1">
            <a:avLst/>
          </a:prstGeom>
          <a:noFill/>
          <a:ln w="25400" cap="flat" cmpd="sng">
            <a:solidFill>
              <a:srgbClr val="F70146"/>
            </a:solidFill>
            <a:prstDash val="solid"/>
            <a:round/>
            <a:headEnd type="none" w="sm" len="sm"/>
            <a:tailEnd type="none" w="sm" len="sm"/>
          </a:ln>
        </p:spPr>
      </p:cxnSp>
      <p:sp>
        <p:nvSpPr>
          <p:cNvPr id="171" name="Google Shape;171;p9"/>
          <p:cNvSpPr/>
          <p:nvPr/>
        </p:nvSpPr>
        <p:spPr>
          <a:xfrm>
            <a:off x="2893638" y="1998750"/>
            <a:ext cx="2249400" cy="3317700"/>
          </a:xfrm>
          <a:prstGeom prst="rect">
            <a:avLst/>
          </a:prstGeom>
          <a:solidFill>
            <a:srgbClr val="0F0F0F"/>
          </a:solidFill>
          <a:ln w="12700" cap="flat" cmpd="sng">
            <a:solidFill>
              <a:srgbClr val="0F0F0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2" name="Google Shape;172;p9"/>
          <p:cNvSpPr/>
          <p:nvPr/>
        </p:nvSpPr>
        <p:spPr>
          <a:xfrm>
            <a:off x="3744028" y="2090266"/>
            <a:ext cx="548700" cy="6864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3" name="Google Shape;173;p9"/>
          <p:cNvSpPr/>
          <p:nvPr/>
        </p:nvSpPr>
        <p:spPr>
          <a:xfrm>
            <a:off x="3744028" y="2090266"/>
            <a:ext cx="548700" cy="686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2</a:t>
            </a:r>
            <a:endParaRPr sz="1600" b="0" i="0" u="none" strike="noStrike" cap="none">
              <a:solidFill>
                <a:schemeClr val="dk1"/>
              </a:solidFill>
              <a:latin typeface="Calibri"/>
              <a:ea typeface="Calibri"/>
              <a:cs typeface="Calibri"/>
              <a:sym typeface="Calibri"/>
            </a:endParaRPr>
          </a:p>
        </p:txBody>
      </p:sp>
      <p:sp>
        <p:nvSpPr>
          <p:cNvPr id="174" name="Google Shape;174;p9"/>
          <p:cNvSpPr/>
          <p:nvPr/>
        </p:nvSpPr>
        <p:spPr>
          <a:xfrm>
            <a:off x="2893638" y="2891033"/>
            <a:ext cx="2249400" cy="48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70146"/>
              </a:buClr>
              <a:buSzPts val="1400"/>
              <a:buFont typeface="Arial"/>
              <a:buNone/>
            </a:pPr>
            <a:r>
              <a:rPr lang="en-US" sz="2000" b="1" i="0" u="none" strike="noStrike" cap="none">
                <a:solidFill>
                  <a:srgbClr val="F70146"/>
                </a:solidFill>
                <a:latin typeface="Arial"/>
                <a:ea typeface="Arial"/>
                <a:cs typeface="Arial"/>
                <a:sym typeface="Arial"/>
              </a:rPr>
              <a:t>Reduce</a:t>
            </a:r>
            <a:endParaRPr sz="2000" b="0" i="0" u="none" strike="noStrike" cap="none">
              <a:solidFill>
                <a:schemeClr val="dk1"/>
              </a:solidFill>
              <a:latin typeface="Calibri"/>
              <a:ea typeface="Calibri"/>
              <a:cs typeface="Calibri"/>
              <a:sym typeface="Calibri"/>
            </a:endParaRPr>
          </a:p>
        </p:txBody>
      </p:sp>
      <p:sp>
        <p:nvSpPr>
          <p:cNvPr id="175" name="Google Shape;175;p9"/>
          <p:cNvSpPr/>
          <p:nvPr/>
        </p:nvSpPr>
        <p:spPr>
          <a:xfrm>
            <a:off x="3003365" y="3428691"/>
            <a:ext cx="2030100" cy="17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UMAP</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to 10 dimensions</a:t>
            </a:r>
            <a:endParaRPr sz="1600" b="0" i="0" u="none" strike="noStrike" cap="none">
              <a:solidFill>
                <a:schemeClr val="dk1"/>
              </a:solidFill>
              <a:latin typeface="Calibri"/>
              <a:ea typeface="Calibri"/>
              <a:cs typeface="Calibri"/>
              <a:sym typeface="Calibri"/>
            </a:endParaRPr>
          </a:p>
        </p:txBody>
      </p:sp>
      <p:cxnSp>
        <p:nvCxnSpPr>
          <p:cNvPr id="176" name="Google Shape;176;p9"/>
          <p:cNvCxnSpPr/>
          <p:nvPr/>
        </p:nvCxnSpPr>
        <p:spPr>
          <a:xfrm>
            <a:off x="5143058" y="3657481"/>
            <a:ext cx="201300" cy="0"/>
          </a:xfrm>
          <a:prstGeom prst="straightConnector1">
            <a:avLst/>
          </a:prstGeom>
          <a:noFill/>
          <a:ln w="25400" cap="flat" cmpd="sng">
            <a:solidFill>
              <a:srgbClr val="F70146"/>
            </a:solidFill>
            <a:prstDash val="solid"/>
            <a:round/>
            <a:headEnd type="none" w="sm" len="sm"/>
            <a:tailEnd type="none" w="sm" len="sm"/>
          </a:ln>
        </p:spPr>
      </p:cxnSp>
      <p:sp>
        <p:nvSpPr>
          <p:cNvPr id="177" name="Google Shape;177;p9"/>
          <p:cNvSpPr/>
          <p:nvPr/>
        </p:nvSpPr>
        <p:spPr>
          <a:xfrm>
            <a:off x="5344225" y="1998750"/>
            <a:ext cx="2249400" cy="3317700"/>
          </a:xfrm>
          <a:prstGeom prst="rect">
            <a:avLst/>
          </a:prstGeom>
          <a:solidFill>
            <a:srgbClr val="0F0F0F"/>
          </a:solidFill>
          <a:ln w="12700" cap="flat" cmpd="sng">
            <a:solidFill>
              <a:srgbClr val="0F0F0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8" name="Google Shape;178;p9"/>
          <p:cNvSpPr/>
          <p:nvPr/>
        </p:nvSpPr>
        <p:spPr>
          <a:xfrm>
            <a:off x="6194616" y="2090266"/>
            <a:ext cx="548700" cy="6864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9" name="Google Shape;179;p9"/>
          <p:cNvSpPr/>
          <p:nvPr/>
        </p:nvSpPr>
        <p:spPr>
          <a:xfrm>
            <a:off x="6194616" y="2090266"/>
            <a:ext cx="548700" cy="686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3</a:t>
            </a:r>
            <a:endParaRPr sz="1600" b="0" i="0" u="none" strike="noStrike" cap="none">
              <a:solidFill>
                <a:schemeClr val="dk1"/>
              </a:solidFill>
              <a:latin typeface="Calibri"/>
              <a:ea typeface="Calibri"/>
              <a:cs typeface="Calibri"/>
              <a:sym typeface="Calibri"/>
            </a:endParaRPr>
          </a:p>
        </p:txBody>
      </p:sp>
      <p:sp>
        <p:nvSpPr>
          <p:cNvPr id="180" name="Google Shape;180;p9"/>
          <p:cNvSpPr/>
          <p:nvPr/>
        </p:nvSpPr>
        <p:spPr>
          <a:xfrm>
            <a:off x="5344225" y="2891033"/>
            <a:ext cx="2249400" cy="48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70146"/>
              </a:buClr>
              <a:buSzPts val="1400"/>
              <a:buFont typeface="Arial"/>
              <a:buNone/>
            </a:pPr>
            <a:r>
              <a:rPr lang="en-US" sz="2000" b="1" i="0" u="none" strike="noStrike" cap="none">
                <a:solidFill>
                  <a:srgbClr val="F70146"/>
                </a:solidFill>
                <a:latin typeface="Arial"/>
                <a:ea typeface="Arial"/>
                <a:cs typeface="Arial"/>
                <a:sym typeface="Arial"/>
              </a:rPr>
              <a:t>Cluster</a:t>
            </a:r>
            <a:endParaRPr sz="2000" b="0" i="0" u="none" strike="noStrike" cap="none">
              <a:solidFill>
                <a:schemeClr val="dk1"/>
              </a:solidFill>
              <a:latin typeface="Calibri"/>
              <a:ea typeface="Calibri"/>
              <a:cs typeface="Calibri"/>
              <a:sym typeface="Calibri"/>
            </a:endParaRPr>
          </a:p>
        </p:txBody>
      </p:sp>
      <p:sp>
        <p:nvSpPr>
          <p:cNvPr id="181" name="Google Shape;181;p9"/>
          <p:cNvSpPr/>
          <p:nvPr/>
        </p:nvSpPr>
        <p:spPr>
          <a:xfrm>
            <a:off x="5453953" y="3428691"/>
            <a:ext cx="2030100" cy="17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GMM</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soft cluster</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assignments</a:t>
            </a:r>
            <a:endParaRPr sz="1600" b="0" i="0" u="none" strike="noStrike" cap="none">
              <a:solidFill>
                <a:schemeClr val="dk1"/>
              </a:solidFill>
              <a:latin typeface="Calibri"/>
              <a:ea typeface="Calibri"/>
              <a:cs typeface="Calibri"/>
              <a:sym typeface="Calibri"/>
            </a:endParaRPr>
          </a:p>
        </p:txBody>
      </p:sp>
      <p:cxnSp>
        <p:nvCxnSpPr>
          <p:cNvPr id="182" name="Google Shape;182;p9"/>
          <p:cNvCxnSpPr/>
          <p:nvPr/>
        </p:nvCxnSpPr>
        <p:spPr>
          <a:xfrm>
            <a:off x="7593645" y="3657481"/>
            <a:ext cx="201300" cy="0"/>
          </a:xfrm>
          <a:prstGeom prst="straightConnector1">
            <a:avLst/>
          </a:prstGeom>
          <a:noFill/>
          <a:ln w="25400" cap="flat" cmpd="sng">
            <a:solidFill>
              <a:srgbClr val="F70146"/>
            </a:solidFill>
            <a:prstDash val="solid"/>
            <a:round/>
            <a:headEnd type="none" w="sm" len="sm"/>
            <a:tailEnd type="none" w="sm" len="sm"/>
          </a:ln>
        </p:spPr>
      </p:cxnSp>
      <p:sp>
        <p:nvSpPr>
          <p:cNvPr id="183" name="Google Shape;183;p9"/>
          <p:cNvSpPr/>
          <p:nvPr/>
        </p:nvSpPr>
        <p:spPr>
          <a:xfrm>
            <a:off x="7794813" y="1998750"/>
            <a:ext cx="2249400" cy="3317700"/>
          </a:xfrm>
          <a:prstGeom prst="rect">
            <a:avLst/>
          </a:prstGeom>
          <a:solidFill>
            <a:srgbClr val="0F0F0F"/>
          </a:solidFill>
          <a:ln w="12700" cap="flat" cmpd="sng">
            <a:solidFill>
              <a:srgbClr val="0F0F0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4" name="Google Shape;184;p9"/>
          <p:cNvSpPr/>
          <p:nvPr/>
        </p:nvSpPr>
        <p:spPr>
          <a:xfrm>
            <a:off x="8645203" y="2090266"/>
            <a:ext cx="548700" cy="6864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5" name="Google Shape;185;p9"/>
          <p:cNvSpPr/>
          <p:nvPr/>
        </p:nvSpPr>
        <p:spPr>
          <a:xfrm>
            <a:off x="8645203" y="2090266"/>
            <a:ext cx="548700" cy="686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4</a:t>
            </a:r>
            <a:endParaRPr sz="1600" b="0" i="0" u="none" strike="noStrike" cap="none">
              <a:solidFill>
                <a:schemeClr val="dk1"/>
              </a:solidFill>
              <a:latin typeface="Calibri"/>
              <a:ea typeface="Calibri"/>
              <a:cs typeface="Calibri"/>
              <a:sym typeface="Calibri"/>
            </a:endParaRPr>
          </a:p>
        </p:txBody>
      </p:sp>
      <p:sp>
        <p:nvSpPr>
          <p:cNvPr id="186" name="Google Shape;186;p9"/>
          <p:cNvSpPr/>
          <p:nvPr/>
        </p:nvSpPr>
        <p:spPr>
          <a:xfrm>
            <a:off x="7794813" y="2891033"/>
            <a:ext cx="2249400" cy="48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70146"/>
              </a:buClr>
              <a:buSzPts val="1400"/>
              <a:buFont typeface="Arial"/>
              <a:buNone/>
            </a:pPr>
            <a:r>
              <a:rPr lang="en-US" sz="2000" b="1" i="0" u="none" strike="noStrike" cap="none">
                <a:solidFill>
                  <a:srgbClr val="F70146"/>
                </a:solidFill>
                <a:latin typeface="Arial"/>
                <a:ea typeface="Arial"/>
                <a:cs typeface="Arial"/>
                <a:sym typeface="Arial"/>
              </a:rPr>
              <a:t>Keywords</a:t>
            </a:r>
            <a:endParaRPr sz="2000" b="0" i="0" u="none" strike="noStrike" cap="none">
              <a:solidFill>
                <a:schemeClr val="dk1"/>
              </a:solidFill>
              <a:latin typeface="Calibri"/>
              <a:ea typeface="Calibri"/>
              <a:cs typeface="Calibri"/>
              <a:sym typeface="Calibri"/>
            </a:endParaRPr>
          </a:p>
        </p:txBody>
      </p:sp>
      <p:sp>
        <p:nvSpPr>
          <p:cNvPr id="187" name="Google Shape;187;p9"/>
          <p:cNvSpPr/>
          <p:nvPr/>
        </p:nvSpPr>
        <p:spPr>
          <a:xfrm>
            <a:off x="7904541" y="3428691"/>
            <a:ext cx="2030100" cy="17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c-TF-IDF</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per cluster</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top terms</a:t>
            </a:r>
            <a:endParaRPr sz="1600" b="0" i="0" u="none" strike="noStrike" cap="none">
              <a:solidFill>
                <a:schemeClr val="dk1"/>
              </a:solidFill>
              <a:latin typeface="Calibri"/>
              <a:ea typeface="Calibri"/>
              <a:cs typeface="Calibri"/>
              <a:sym typeface="Calibri"/>
            </a:endParaRPr>
          </a:p>
        </p:txBody>
      </p:sp>
      <p:cxnSp>
        <p:nvCxnSpPr>
          <p:cNvPr id="188" name="Google Shape;188;p9"/>
          <p:cNvCxnSpPr/>
          <p:nvPr/>
        </p:nvCxnSpPr>
        <p:spPr>
          <a:xfrm>
            <a:off x="10044233" y="3657481"/>
            <a:ext cx="201300" cy="0"/>
          </a:xfrm>
          <a:prstGeom prst="straightConnector1">
            <a:avLst/>
          </a:prstGeom>
          <a:noFill/>
          <a:ln w="25400" cap="flat" cmpd="sng">
            <a:solidFill>
              <a:srgbClr val="F70146"/>
            </a:solidFill>
            <a:prstDash val="solid"/>
            <a:round/>
            <a:headEnd type="none" w="sm" len="sm"/>
            <a:tailEnd type="none" w="sm" len="sm"/>
          </a:ln>
        </p:spPr>
      </p:cxnSp>
      <p:sp>
        <p:nvSpPr>
          <p:cNvPr id="189" name="Google Shape;189;p9"/>
          <p:cNvSpPr/>
          <p:nvPr/>
        </p:nvSpPr>
        <p:spPr>
          <a:xfrm>
            <a:off x="10245401" y="1998750"/>
            <a:ext cx="2249400" cy="3317700"/>
          </a:xfrm>
          <a:prstGeom prst="rect">
            <a:avLst/>
          </a:prstGeom>
          <a:solidFill>
            <a:srgbClr val="0F0F0F"/>
          </a:solidFill>
          <a:ln w="12700" cap="flat" cmpd="sng">
            <a:solidFill>
              <a:srgbClr val="0F0F0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0" name="Google Shape;190;p9"/>
          <p:cNvSpPr/>
          <p:nvPr/>
        </p:nvSpPr>
        <p:spPr>
          <a:xfrm>
            <a:off x="11095791" y="2090266"/>
            <a:ext cx="548700" cy="6864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1" name="Google Shape;191;p9"/>
          <p:cNvSpPr/>
          <p:nvPr/>
        </p:nvSpPr>
        <p:spPr>
          <a:xfrm>
            <a:off x="11095791" y="2090266"/>
            <a:ext cx="548700" cy="686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5</a:t>
            </a:r>
            <a:endParaRPr sz="1600" b="0" i="0" u="none" strike="noStrike" cap="none">
              <a:solidFill>
                <a:schemeClr val="dk1"/>
              </a:solidFill>
              <a:latin typeface="Calibri"/>
              <a:ea typeface="Calibri"/>
              <a:cs typeface="Calibri"/>
              <a:sym typeface="Calibri"/>
            </a:endParaRPr>
          </a:p>
        </p:txBody>
      </p:sp>
      <p:sp>
        <p:nvSpPr>
          <p:cNvPr id="192" name="Google Shape;192;p9"/>
          <p:cNvSpPr/>
          <p:nvPr/>
        </p:nvSpPr>
        <p:spPr>
          <a:xfrm>
            <a:off x="10245401" y="2891033"/>
            <a:ext cx="2249400" cy="48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70146"/>
              </a:buClr>
              <a:buSzPts val="1400"/>
              <a:buFont typeface="Arial"/>
              <a:buNone/>
            </a:pPr>
            <a:r>
              <a:rPr lang="en-US" sz="2000" b="1" i="0" u="none" strike="noStrike" cap="none">
                <a:solidFill>
                  <a:srgbClr val="F70146"/>
                </a:solidFill>
                <a:latin typeface="Arial"/>
                <a:ea typeface="Arial"/>
                <a:cs typeface="Arial"/>
                <a:sym typeface="Arial"/>
              </a:rPr>
              <a:t>Map → CAP</a:t>
            </a:r>
            <a:endParaRPr sz="2000" b="0" i="0" u="none" strike="noStrike" cap="none">
              <a:solidFill>
                <a:schemeClr val="dk1"/>
              </a:solidFill>
              <a:latin typeface="Calibri"/>
              <a:ea typeface="Calibri"/>
              <a:cs typeface="Calibri"/>
              <a:sym typeface="Calibri"/>
            </a:endParaRPr>
          </a:p>
        </p:txBody>
      </p:sp>
      <p:sp>
        <p:nvSpPr>
          <p:cNvPr id="193" name="Google Shape;193;p9"/>
          <p:cNvSpPr/>
          <p:nvPr/>
        </p:nvSpPr>
        <p:spPr>
          <a:xfrm>
            <a:off x="10355128" y="3428691"/>
            <a:ext cx="2030100" cy="17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GPT prompt</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CCCCCC"/>
              </a:buClr>
              <a:buSzPts val="1100"/>
              <a:buFont typeface="Arial"/>
              <a:buNone/>
            </a:pPr>
            <a:r>
              <a:rPr lang="en-US" sz="1600" b="0" i="0" u="none" strike="noStrike" cap="none">
                <a:solidFill>
                  <a:srgbClr val="CCCCCC"/>
                </a:solidFill>
                <a:latin typeface="Arial"/>
                <a:ea typeface="Arial"/>
                <a:cs typeface="Arial"/>
                <a:sym typeface="Arial"/>
              </a:rPr>
              <a:t>22 domains</a:t>
            </a:r>
            <a:endParaRPr sz="1600" b="0" i="0" u="none" strike="noStrike" cap="none">
              <a:solidFill>
                <a:schemeClr val="dk1"/>
              </a:solidFill>
              <a:latin typeface="Calibri"/>
              <a:ea typeface="Calibri"/>
              <a:cs typeface="Calibri"/>
              <a:sym typeface="Calibri"/>
            </a:endParaRPr>
          </a:p>
        </p:txBody>
      </p:sp>
      <p:sp>
        <p:nvSpPr>
          <p:cNvPr id="194" name="Google Shape;194;p9"/>
          <p:cNvSpPr/>
          <p:nvPr/>
        </p:nvSpPr>
        <p:spPr>
          <a:xfrm>
            <a:off x="136525" y="6696093"/>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5" name="Google Shape;195;p9"/>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6" name="Google Shape;196;p9"/>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7</a:t>
            </a:r>
            <a:endParaRPr sz="1400" b="0" i="0" u="none" strike="noStrike" cap="none">
              <a:solidFill>
                <a:schemeClr val="dk1"/>
              </a:solidFill>
              <a:latin typeface="Calibri"/>
              <a:ea typeface="Calibri"/>
              <a:cs typeface="Calibri"/>
              <a:sym typeface="Calibri"/>
            </a:endParaRPr>
          </a:p>
        </p:txBody>
      </p:sp>
      <p:sp>
        <p:nvSpPr>
          <p:cNvPr id="197" name="Google Shape;197;p9"/>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198" name="Google Shape;198;p9"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8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8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8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8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8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8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8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9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9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9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203"/>
        <p:cNvGrpSpPr/>
        <p:nvPr/>
      </p:nvGrpSpPr>
      <p:grpSpPr>
        <a:xfrm>
          <a:off x="0" y="0"/>
          <a:ext cx="0" cy="0"/>
          <a:chOff x="0" y="0"/>
          <a:chExt cx="0" cy="0"/>
        </a:xfrm>
      </p:grpSpPr>
      <p:sp>
        <p:nvSpPr>
          <p:cNvPr id="204" name="Google Shape;204;p10"/>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05" name="Google Shape;205;p10"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206" name="Google Shape;206;p10"/>
          <p:cNvSpPr/>
          <p:nvPr/>
        </p:nvSpPr>
        <p:spPr>
          <a:xfrm>
            <a:off x="777240" y="45720"/>
            <a:ext cx="1024128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200" b="1" i="0" u="none" strike="noStrike" cap="none">
                <a:solidFill>
                  <a:srgbClr val="0F0F0F"/>
                </a:solidFill>
                <a:latin typeface="Arial"/>
                <a:ea typeface="Arial"/>
                <a:cs typeface="Arial"/>
                <a:sym typeface="Arial"/>
              </a:rPr>
              <a:t>Evaluation</a:t>
            </a:r>
            <a:endParaRPr sz="2200" b="0" i="0" u="none" strike="noStrike" cap="none">
              <a:solidFill>
                <a:schemeClr val="dk1"/>
              </a:solidFill>
              <a:latin typeface="Calibri"/>
              <a:ea typeface="Calibri"/>
              <a:cs typeface="Calibri"/>
              <a:sym typeface="Calibri"/>
            </a:endParaRPr>
          </a:p>
        </p:txBody>
      </p:sp>
      <p:sp>
        <p:nvSpPr>
          <p:cNvPr id="207" name="Google Shape;207;p10"/>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8" name="Google Shape;208;p10"/>
          <p:cNvSpPr/>
          <p:nvPr/>
        </p:nvSpPr>
        <p:spPr>
          <a:xfrm>
            <a:off x="279650" y="1879738"/>
            <a:ext cx="5303400" cy="3775200"/>
          </a:xfrm>
          <a:prstGeom prst="rect">
            <a:avLst/>
          </a:prstGeom>
          <a:solidFill>
            <a:srgbClr val="0F0F0F"/>
          </a:solidFill>
          <a:ln w="12700" cap="flat" cmpd="sng">
            <a:solidFill>
              <a:srgbClr val="0F0F0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9" name="Google Shape;209;p10"/>
          <p:cNvSpPr/>
          <p:nvPr/>
        </p:nvSpPr>
        <p:spPr>
          <a:xfrm flipH="1">
            <a:off x="279650" y="1879713"/>
            <a:ext cx="40500" cy="37752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0" name="Google Shape;210;p10"/>
          <p:cNvSpPr/>
          <p:nvPr/>
        </p:nvSpPr>
        <p:spPr>
          <a:xfrm>
            <a:off x="393950" y="2044288"/>
            <a:ext cx="5074800" cy="9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70146"/>
              </a:buClr>
              <a:buSzPts val="1300"/>
              <a:buFont typeface="Arial"/>
              <a:buNone/>
            </a:pPr>
            <a:r>
              <a:rPr lang="en-US" sz="2600" b="1" i="0" u="none" strike="noStrike" cap="none">
                <a:solidFill>
                  <a:srgbClr val="F70146"/>
                </a:solidFill>
                <a:latin typeface="Arial"/>
                <a:ea typeface="Arial"/>
                <a:cs typeface="Arial"/>
                <a:sym typeface="Arial"/>
              </a:rPr>
              <a:t>Human annotator ceiling </a:t>
            </a:r>
            <a:endParaRPr sz="2600" b="1">
              <a:solidFill>
                <a:srgbClr val="F70146"/>
              </a:solidFill>
            </a:endParaRPr>
          </a:p>
          <a:p>
            <a:pPr marL="0" marR="0" lvl="0" indent="0" algn="ctr" rtl="0">
              <a:lnSpc>
                <a:spcPct val="100000"/>
              </a:lnSpc>
              <a:spcBef>
                <a:spcPts val="0"/>
              </a:spcBef>
              <a:spcAft>
                <a:spcPts val="0"/>
              </a:spcAft>
              <a:buClr>
                <a:srgbClr val="F70146"/>
              </a:buClr>
              <a:buSzPts val="1300"/>
              <a:buFont typeface="Arial"/>
              <a:buNone/>
            </a:pPr>
            <a:r>
              <a:rPr lang="en-US" sz="2600" b="1" i="0" u="none" strike="noStrike" cap="none">
                <a:solidFill>
                  <a:srgbClr val="F70146"/>
                </a:solidFill>
                <a:latin typeface="Arial"/>
                <a:ea typeface="Arial"/>
                <a:cs typeface="Arial"/>
                <a:sym typeface="Arial"/>
              </a:rPr>
              <a:t> the benchmark</a:t>
            </a:r>
            <a:endParaRPr sz="2600" b="0" i="0" u="none" strike="noStrike" cap="none">
              <a:solidFill>
                <a:schemeClr val="dk1"/>
              </a:solidFill>
              <a:latin typeface="Calibri"/>
              <a:ea typeface="Calibri"/>
              <a:cs typeface="Calibri"/>
              <a:sym typeface="Calibri"/>
            </a:endParaRPr>
          </a:p>
        </p:txBody>
      </p:sp>
      <p:sp>
        <p:nvSpPr>
          <p:cNvPr id="211" name="Google Shape;211;p10"/>
          <p:cNvSpPr/>
          <p:nvPr/>
        </p:nvSpPr>
        <p:spPr>
          <a:xfrm>
            <a:off x="508188" y="3351803"/>
            <a:ext cx="4846200" cy="1005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5200"/>
              <a:buFont typeface="Arial"/>
              <a:buNone/>
            </a:pPr>
            <a:r>
              <a:rPr lang="en-US" sz="4600" b="1" i="0" u="none" strike="noStrike" cap="none">
                <a:solidFill>
                  <a:srgbClr val="FFFFFF"/>
                </a:solidFill>
                <a:latin typeface="Arial"/>
                <a:ea typeface="Arial"/>
                <a:cs typeface="Arial"/>
                <a:sym typeface="Arial"/>
              </a:rPr>
              <a:t>α ≈ 0.</a:t>
            </a:r>
            <a:r>
              <a:rPr lang="en-US" sz="4600" b="1">
                <a:solidFill>
                  <a:srgbClr val="FFFFFF"/>
                </a:solidFill>
              </a:rPr>
              <a:t>60</a:t>
            </a:r>
            <a:r>
              <a:rPr lang="en-US" sz="4600" b="1" i="0" u="none" strike="noStrike" cap="none">
                <a:solidFill>
                  <a:srgbClr val="FFFFFF"/>
                </a:solidFill>
                <a:latin typeface="Arial"/>
                <a:ea typeface="Arial"/>
                <a:cs typeface="Arial"/>
                <a:sym typeface="Arial"/>
              </a:rPr>
              <a:t>–0.68</a:t>
            </a:r>
            <a:endParaRPr sz="4600" b="0" i="0" u="none" strike="noStrike" cap="none">
              <a:solidFill>
                <a:schemeClr val="dk1"/>
              </a:solidFill>
              <a:latin typeface="Calibri"/>
              <a:ea typeface="Calibri"/>
              <a:cs typeface="Calibri"/>
              <a:sym typeface="Calibri"/>
            </a:endParaRPr>
          </a:p>
        </p:txBody>
      </p:sp>
      <p:sp>
        <p:nvSpPr>
          <p:cNvPr id="212" name="Google Shape;212;p10"/>
          <p:cNvSpPr/>
          <p:nvPr/>
        </p:nvSpPr>
        <p:spPr>
          <a:xfrm>
            <a:off x="425300" y="4705243"/>
            <a:ext cx="4846200" cy="73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5A5A5"/>
              </a:buClr>
              <a:buSzPts val="1150"/>
              <a:buFont typeface="Arial"/>
              <a:buNone/>
            </a:pPr>
            <a:r>
              <a:rPr lang="en-US" sz="1350" b="0" i="0" u="none" strike="noStrike" cap="none">
                <a:solidFill>
                  <a:srgbClr val="A5A5A5"/>
                </a:solidFill>
                <a:latin typeface="Arial"/>
                <a:ea typeface="Arial"/>
                <a:cs typeface="Arial"/>
                <a:sym typeface="Arial"/>
              </a:rPr>
              <a:t>Expert human inter-annotator agreement on the same test set.</a:t>
            </a:r>
            <a:endParaRPr sz="1350" b="0" i="0" u="none" strike="noStrike" cap="none">
              <a:solidFill>
                <a:schemeClr val="dk1"/>
              </a:solidFill>
              <a:latin typeface="Calibri"/>
              <a:ea typeface="Calibri"/>
              <a:cs typeface="Calibri"/>
              <a:sym typeface="Calibri"/>
            </a:endParaRPr>
          </a:p>
        </p:txBody>
      </p:sp>
      <p:sp>
        <p:nvSpPr>
          <p:cNvPr id="213" name="Google Shape;213;p10"/>
          <p:cNvSpPr/>
          <p:nvPr/>
        </p:nvSpPr>
        <p:spPr>
          <a:xfrm>
            <a:off x="5852090" y="1550570"/>
            <a:ext cx="69495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0F0F"/>
              </a:buClr>
              <a:buSzPts val="1300"/>
              <a:buFont typeface="Arial"/>
              <a:buNone/>
            </a:pPr>
            <a:r>
              <a:rPr lang="en-US" sz="1900" b="1" i="0" u="none" strike="noStrike" cap="none">
                <a:solidFill>
                  <a:srgbClr val="0F0F0F"/>
                </a:solidFill>
                <a:latin typeface="Arial"/>
                <a:ea typeface="Arial"/>
                <a:cs typeface="Arial"/>
                <a:sym typeface="Arial"/>
              </a:rPr>
              <a:t>Our </a:t>
            </a:r>
            <a:r>
              <a:rPr lang="en-US" sz="1900" b="1">
                <a:solidFill>
                  <a:srgbClr val="0F0F0F"/>
                </a:solidFill>
              </a:rPr>
              <a:t>model </a:t>
            </a:r>
            <a:r>
              <a:rPr lang="en-US" sz="1900" b="1" i="0" u="none" strike="noStrike" cap="none">
                <a:solidFill>
                  <a:srgbClr val="0F0F0F"/>
                </a:solidFill>
                <a:latin typeface="Arial"/>
                <a:ea typeface="Arial"/>
                <a:cs typeface="Arial"/>
                <a:sym typeface="Arial"/>
              </a:rPr>
              <a:t>vs. ParlaCAP and human label</a:t>
            </a:r>
            <a:r>
              <a:rPr lang="en-US" sz="1900" b="1">
                <a:solidFill>
                  <a:srgbClr val="0F0F0F"/>
                </a:solidFill>
              </a:rPr>
              <a:t>ers</a:t>
            </a:r>
            <a:endParaRPr sz="1900" b="0" i="0" u="none" strike="noStrike" cap="none">
              <a:solidFill>
                <a:schemeClr val="dk1"/>
              </a:solidFill>
              <a:latin typeface="Calibri"/>
              <a:ea typeface="Calibri"/>
              <a:cs typeface="Calibri"/>
              <a:sym typeface="Calibri"/>
            </a:endParaRPr>
          </a:p>
        </p:txBody>
      </p:sp>
      <p:sp>
        <p:nvSpPr>
          <p:cNvPr id="214" name="Google Shape;214;p10"/>
          <p:cNvSpPr/>
          <p:nvPr/>
        </p:nvSpPr>
        <p:spPr>
          <a:xfrm>
            <a:off x="5852090" y="1898042"/>
            <a:ext cx="6949500" cy="366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215" name="Google Shape;215;p10"/>
          <p:cNvGraphicFramePr/>
          <p:nvPr/>
        </p:nvGraphicFramePr>
        <p:xfrm>
          <a:off x="5924925" y="1989475"/>
          <a:ext cx="6630325" cy="3775150"/>
        </p:xfrm>
        <a:graphic>
          <a:graphicData uri="http://schemas.openxmlformats.org/drawingml/2006/table">
            <a:tbl>
              <a:tblPr firstRow="1" bandRow="1">
                <a:noFill/>
                <a:tableStyleId>{35AEF1F1-F40B-4897-AAF0-8E81607DE95F}</a:tableStyleId>
              </a:tblPr>
              <a:tblGrid>
                <a:gridCol w="1756500">
                  <a:extLst>
                    <a:ext uri="{9D8B030D-6E8A-4147-A177-3AD203B41FA5}">
                      <a16:colId xmlns:a16="http://schemas.microsoft.com/office/drawing/2014/main" val="20000"/>
                    </a:ext>
                  </a:extLst>
                </a:gridCol>
                <a:gridCol w="1463725">
                  <a:extLst>
                    <a:ext uri="{9D8B030D-6E8A-4147-A177-3AD203B41FA5}">
                      <a16:colId xmlns:a16="http://schemas.microsoft.com/office/drawing/2014/main" val="20001"/>
                    </a:ext>
                  </a:extLst>
                </a:gridCol>
                <a:gridCol w="1463725">
                  <a:extLst>
                    <a:ext uri="{9D8B030D-6E8A-4147-A177-3AD203B41FA5}">
                      <a16:colId xmlns:a16="http://schemas.microsoft.com/office/drawing/2014/main" val="20002"/>
                    </a:ext>
                  </a:extLst>
                </a:gridCol>
                <a:gridCol w="1946375">
                  <a:extLst>
                    <a:ext uri="{9D8B030D-6E8A-4147-A177-3AD203B41FA5}">
                      <a16:colId xmlns:a16="http://schemas.microsoft.com/office/drawing/2014/main" val="20003"/>
                    </a:ext>
                  </a:extLst>
                </a:gridCol>
              </a:tblGrid>
              <a:tr h="898850">
                <a:tc>
                  <a:txBody>
                    <a:bodyPr/>
                    <a:lstStyle/>
                    <a:p>
                      <a:pPr marL="0" marR="0" lvl="0" indent="0" algn="l" rtl="0">
                        <a:lnSpc>
                          <a:spcPct val="100000"/>
                        </a:lnSpc>
                        <a:spcBef>
                          <a:spcPts val="0"/>
                        </a:spcBef>
                        <a:spcAft>
                          <a:spcPts val="0"/>
                        </a:spcAft>
                        <a:buClr>
                          <a:srgbClr val="000000"/>
                        </a:buClr>
                        <a:buSzPts val="1200"/>
                        <a:buFont typeface="Arial"/>
                        <a:buNone/>
                      </a:pPr>
                      <a:r>
                        <a:rPr lang="en-US" sz="1800" b="1" u="none" strike="noStrike" cap="none">
                          <a:solidFill>
                            <a:srgbClr val="FFFFFF"/>
                          </a:solidFill>
                          <a:latin typeface="Arial"/>
                          <a:ea typeface="Arial"/>
                          <a:cs typeface="Arial"/>
                          <a:sym typeface="Arial"/>
                        </a:rPr>
                        <a:t>Country</a:t>
                      </a:r>
                      <a:endParaRPr sz="1800" u="none" strike="noStrike" cap="none"/>
                    </a:p>
                  </a:txBody>
                  <a:tcPr marL="91450" marR="91450" marT="45725" marB="45725">
                    <a:solidFill>
                      <a:srgbClr val="1A1A2E"/>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b="1" u="none" strike="noStrike" cap="none">
                          <a:solidFill>
                            <a:srgbClr val="FFFFFF"/>
                          </a:solidFill>
                          <a:latin typeface="Arial"/>
                          <a:ea typeface="Arial"/>
                          <a:cs typeface="Arial"/>
                          <a:sym typeface="Arial"/>
                        </a:rPr>
                        <a:t>vs. ParlaCAP</a:t>
                      </a:r>
                      <a:endParaRPr sz="1800" u="none" strike="noStrike" cap="none"/>
                    </a:p>
                  </a:txBody>
                  <a:tcPr marL="91450" marR="91450" marT="45725" marB="45725">
                    <a:solidFill>
                      <a:srgbClr val="1A1A2E"/>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b="1" u="none" strike="noStrike" cap="none">
                          <a:solidFill>
                            <a:srgbClr val="FFFFFF"/>
                          </a:solidFill>
                          <a:latin typeface="Arial"/>
                          <a:ea typeface="Arial"/>
                          <a:cs typeface="Arial"/>
                          <a:sym typeface="Arial"/>
                        </a:rPr>
                        <a:t>vs. ParlaCAP</a:t>
                      </a:r>
                      <a:endParaRPr sz="1800" u="none" strike="noStrike" cap="none"/>
                    </a:p>
                  </a:txBody>
                  <a:tcPr marL="91450" marR="91450" marT="45725" marB="45725">
                    <a:solidFill>
                      <a:srgbClr val="1A1A2E"/>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b="1" u="none" strike="noStrike" cap="none">
                          <a:solidFill>
                            <a:srgbClr val="FFFFFF"/>
                          </a:solidFill>
                          <a:latin typeface="Arial"/>
                          <a:ea typeface="Arial"/>
                          <a:cs typeface="Arial"/>
                          <a:sym typeface="Arial"/>
                        </a:rPr>
                        <a:t>vs. Human Tests</a:t>
                      </a:r>
                      <a:endParaRPr sz="1800" u="none" strike="noStrike" cap="none"/>
                    </a:p>
                  </a:txBody>
                  <a:tcPr marL="91450" marR="91450" marT="45725" marB="45725">
                    <a:solidFill>
                      <a:srgbClr val="1A1A2E"/>
                    </a:solidFill>
                  </a:tcPr>
                </a:tc>
                <a:extLst>
                  <a:ext uri="{0D108BD9-81ED-4DB2-BD59-A6C34878D82A}">
                    <a16:rowId xmlns:a16="http://schemas.microsoft.com/office/drawing/2014/main" val="10000"/>
                  </a:ext>
                </a:extLst>
              </a:tr>
              <a:tr h="719075">
                <a:tc>
                  <a:txBody>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txBody>
                  <a:tcPr marL="91450" marR="91450" marT="45725" marB="45725">
                    <a:solidFill>
                      <a:srgbClr val="E8E8E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b="1" i="1" u="none" strike="noStrike" cap="none">
                          <a:solidFill>
                            <a:srgbClr val="555555"/>
                          </a:solidFill>
                          <a:latin typeface="Arial"/>
                          <a:ea typeface="Arial"/>
                          <a:cs typeface="Arial"/>
                          <a:sym typeface="Arial"/>
                        </a:rPr>
                        <a:t>Macro-F1</a:t>
                      </a:r>
                      <a:endParaRPr sz="1800" u="none" strike="noStrike" cap="none"/>
                    </a:p>
                  </a:txBody>
                  <a:tcPr marL="91450" marR="91450" marT="45725" marB="45725">
                    <a:solidFill>
                      <a:srgbClr val="E8E8E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b="1" i="1" u="none" strike="noStrike" cap="none">
                          <a:solidFill>
                            <a:srgbClr val="555555"/>
                          </a:solidFill>
                          <a:latin typeface="Arial"/>
                          <a:ea typeface="Arial"/>
                          <a:cs typeface="Arial"/>
                          <a:sym typeface="Arial"/>
                        </a:rPr>
                        <a:t>Micro-F1</a:t>
                      </a:r>
                      <a:endParaRPr sz="1800" u="none" strike="noStrike" cap="none"/>
                    </a:p>
                  </a:txBody>
                  <a:tcPr marL="91450" marR="91450" marT="45725" marB="45725">
                    <a:solidFill>
                      <a:srgbClr val="E8E8E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b="1" i="1" u="none" strike="noStrike" cap="none">
                          <a:solidFill>
                            <a:srgbClr val="555555"/>
                          </a:solidFill>
                          <a:latin typeface="Arial"/>
                          <a:ea typeface="Arial"/>
                          <a:cs typeface="Arial"/>
                          <a:sym typeface="Arial"/>
                        </a:rPr>
                        <a:t>Macro-F1</a:t>
                      </a:r>
                      <a:endParaRPr sz="1800" u="none" strike="noStrike" cap="none"/>
                    </a:p>
                  </a:txBody>
                  <a:tcPr marL="91450" marR="91450" marT="45725" marB="45725">
                    <a:solidFill>
                      <a:srgbClr val="E8E8E8"/>
                    </a:solidFill>
                  </a:tcPr>
                </a:tc>
                <a:extLst>
                  <a:ext uri="{0D108BD9-81ED-4DB2-BD59-A6C34878D82A}">
                    <a16:rowId xmlns:a16="http://schemas.microsoft.com/office/drawing/2014/main" val="10001"/>
                  </a:ext>
                </a:extLst>
              </a:tr>
              <a:tr h="719075">
                <a:tc>
                  <a:txBody>
                    <a:bodyPr/>
                    <a:lstStyle/>
                    <a:p>
                      <a:pPr marL="0" marR="0" lvl="0" indent="0" algn="l"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Austria (AT)</a:t>
                      </a:r>
                      <a:endParaRPr sz="1800" u="none" strike="noStrike" cap="none"/>
                    </a:p>
                  </a:txBody>
                  <a:tcPr marL="91450" marR="91450" marT="45725" marB="45725">
                    <a:solidFill>
                      <a:srgbClr val="F5F5F5"/>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0.55</a:t>
                      </a:r>
                      <a:endParaRPr sz="1800" u="none" strike="noStrike" cap="none"/>
                    </a:p>
                  </a:txBody>
                  <a:tcPr marL="91450" marR="91450" marT="45725" marB="45725">
                    <a:solidFill>
                      <a:srgbClr val="F5F5F5"/>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0.57</a:t>
                      </a:r>
                      <a:endParaRPr sz="1800" u="none" strike="noStrike" cap="none"/>
                    </a:p>
                  </a:txBody>
                  <a:tcPr marL="91450" marR="91450" marT="45725" marB="45725">
                    <a:solidFill>
                      <a:srgbClr val="F5F5F5"/>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a:solidFill>
                            <a:srgbClr val="888888"/>
                          </a:solidFill>
                        </a:rPr>
                        <a:t>na</a:t>
                      </a:r>
                      <a:endParaRPr sz="1800" u="none" strike="noStrike" cap="none"/>
                    </a:p>
                  </a:txBody>
                  <a:tcPr marL="91450" marR="91450" marT="45725" marB="45725">
                    <a:solidFill>
                      <a:srgbClr val="F5F5F5"/>
                    </a:solidFill>
                  </a:tcPr>
                </a:tc>
                <a:extLst>
                  <a:ext uri="{0D108BD9-81ED-4DB2-BD59-A6C34878D82A}">
                    <a16:rowId xmlns:a16="http://schemas.microsoft.com/office/drawing/2014/main" val="10002"/>
                  </a:ext>
                </a:extLst>
              </a:tr>
              <a:tr h="719075">
                <a:tc>
                  <a:txBody>
                    <a:bodyPr/>
                    <a:lstStyle/>
                    <a:p>
                      <a:pPr marL="0" marR="0" lvl="0" indent="0" algn="l"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Great Britain (GB)</a:t>
                      </a:r>
                      <a:endParaRPr sz="1800" u="none" strike="noStrike" cap="none"/>
                    </a:p>
                  </a:txBody>
                  <a:tcPr marL="91450" marR="91450" marT="45725" marB="45725">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0.47</a:t>
                      </a:r>
                      <a:endParaRPr sz="1800" u="none" strike="noStrike" cap="none"/>
                    </a:p>
                  </a:txBody>
                  <a:tcPr marL="91450" marR="91450" marT="45725" marB="45725">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0.51</a:t>
                      </a:r>
                      <a:endParaRPr sz="1800" u="none" strike="noStrike" cap="none"/>
                    </a:p>
                  </a:txBody>
                  <a:tcPr marL="91450" marR="91450" marT="45725" marB="45725">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0.43</a:t>
                      </a:r>
                      <a:endParaRPr sz="1800" u="none" strike="noStrike" cap="none"/>
                    </a:p>
                  </a:txBody>
                  <a:tcPr marL="91450" marR="91450" marT="45725" marB="45725">
                    <a:solidFill>
                      <a:srgbClr val="FFFFFF"/>
                    </a:solidFill>
                  </a:tcPr>
                </a:tc>
                <a:extLst>
                  <a:ext uri="{0D108BD9-81ED-4DB2-BD59-A6C34878D82A}">
                    <a16:rowId xmlns:a16="http://schemas.microsoft.com/office/drawing/2014/main" val="10003"/>
                  </a:ext>
                </a:extLst>
              </a:tr>
              <a:tr h="719075">
                <a:tc>
                  <a:txBody>
                    <a:bodyPr/>
                    <a:lstStyle/>
                    <a:p>
                      <a:pPr marL="0" marR="0" lvl="0" indent="0" algn="l"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Croatia (HR)</a:t>
                      </a:r>
                      <a:endParaRPr sz="1800" u="none" strike="noStrike" cap="none"/>
                    </a:p>
                  </a:txBody>
                  <a:tcPr marL="91450" marR="91450" marT="45725" marB="45725">
                    <a:solidFill>
                      <a:srgbClr val="F5F5F5"/>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0.52</a:t>
                      </a:r>
                      <a:endParaRPr sz="1800" u="none" strike="noStrike" cap="none"/>
                    </a:p>
                  </a:txBody>
                  <a:tcPr marL="91450" marR="91450" marT="45725" marB="45725">
                    <a:solidFill>
                      <a:srgbClr val="F5F5F5"/>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0.56</a:t>
                      </a:r>
                      <a:endParaRPr sz="1800" u="none" strike="noStrike" cap="none"/>
                    </a:p>
                  </a:txBody>
                  <a:tcPr marL="91450" marR="91450" marT="45725" marB="45725">
                    <a:solidFill>
                      <a:srgbClr val="F5F5F5"/>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800" u="none" strike="noStrike" cap="none">
                          <a:solidFill>
                            <a:srgbClr val="0F0F0F"/>
                          </a:solidFill>
                          <a:latin typeface="Arial"/>
                          <a:ea typeface="Arial"/>
                          <a:cs typeface="Arial"/>
                          <a:sym typeface="Arial"/>
                        </a:rPr>
                        <a:t>0.47</a:t>
                      </a:r>
                      <a:endParaRPr sz="1800" u="none" strike="noStrike" cap="none"/>
                    </a:p>
                  </a:txBody>
                  <a:tcPr marL="91450" marR="91450" marT="45725" marB="45725">
                    <a:solidFill>
                      <a:srgbClr val="F5F5F5"/>
                    </a:solidFill>
                  </a:tcPr>
                </a:tc>
                <a:extLst>
                  <a:ext uri="{0D108BD9-81ED-4DB2-BD59-A6C34878D82A}">
                    <a16:rowId xmlns:a16="http://schemas.microsoft.com/office/drawing/2014/main" val="10004"/>
                  </a:ext>
                </a:extLst>
              </a:tr>
            </a:tbl>
          </a:graphicData>
        </a:graphic>
      </p:graphicFrame>
      <p:sp>
        <p:nvSpPr>
          <p:cNvPr id="216" name="Google Shape;216;p10"/>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7" name="Google Shape;217;p10"/>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8" name="Google Shape;218;p10"/>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8</a:t>
            </a:r>
            <a:endParaRPr sz="1400" b="0" i="0" u="none" strike="noStrike" cap="none">
              <a:solidFill>
                <a:schemeClr val="dk1"/>
              </a:solidFill>
              <a:latin typeface="Calibri"/>
              <a:ea typeface="Calibri"/>
              <a:cs typeface="Calibri"/>
              <a:sym typeface="Calibri"/>
            </a:endParaRPr>
          </a:p>
        </p:txBody>
      </p:sp>
      <p:sp>
        <p:nvSpPr>
          <p:cNvPr id="219" name="Google Shape;219;p10"/>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220" name="Google Shape;220;p10"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225"/>
        <p:cNvGrpSpPr/>
        <p:nvPr/>
      </p:nvGrpSpPr>
      <p:grpSpPr>
        <a:xfrm>
          <a:off x="0" y="0"/>
          <a:ext cx="0" cy="0"/>
          <a:chOff x="0" y="0"/>
          <a:chExt cx="0" cy="0"/>
        </a:xfrm>
      </p:grpSpPr>
      <p:sp>
        <p:nvSpPr>
          <p:cNvPr id="226" name="Google Shape;226;p11"/>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27" name="Google Shape;227;p11"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228" name="Google Shape;228;p11"/>
          <p:cNvSpPr/>
          <p:nvPr/>
        </p:nvSpPr>
        <p:spPr>
          <a:xfrm>
            <a:off x="7356325" y="45725"/>
            <a:ext cx="3578700" cy="7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100" b="1" i="0" u="none" strike="noStrike" cap="none">
                <a:solidFill>
                  <a:srgbClr val="0F0F0F"/>
                </a:solidFill>
                <a:latin typeface="Arial"/>
                <a:ea typeface="Arial"/>
                <a:cs typeface="Arial"/>
                <a:sym typeface="Arial"/>
              </a:rPr>
              <a:t>Where Do 'Errors' Happen?</a:t>
            </a:r>
            <a:endParaRPr sz="2100" b="0" i="0" u="none" strike="noStrike" cap="none">
              <a:solidFill>
                <a:schemeClr val="dk1"/>
              </a:solidFill>
              <a:latin typeface="Calibri"/>
              <a:ea typeface="Calibri"/>
              <a:cs typeface="Calibri"/>
              <a:sym typeface="Calibri"/>
            </a:endParaRPr>
          </a:p>
        </p:txBody>
      </p:sp>
      <p:sp>
        <p:nvSpPr>
          <p:cNvPr id="229" name="Google Shape;229;p11"/>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0" name="Google Shape;230;p11"/>
          <p:cNvSpPr/>
          <p:nvPr/>
        </p:nvSpPr>
        <p:spPr>
          <a:xfrm>
            <a:off x="7360925" y="1030125"/>
            <a:ext cx="5394900" cy="13698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1" name="Google Shape;231;p11"/>
          <p:cNvSpPr/>
          <p:nvPr/>
        </p:nvSpPr>
        <p:spPr>
          <a:xfrm>
            <a:off x="7360926" y="1030125"/>
            <a:ext cx="54900" cy="13698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2" name="Google Shape;232;p11"/>
          <p:cNvSpPr/>
          <p:nvPr/>
        </p:nvSpPr>
        <p:spPr>
          <a:xfrm>
            <a:off x="7571232" y="1102394"/>
            <a:ext cx="5029200" cy="457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300"/>
              <a:buFont typeface="Arial"/>
              <a:buNone/>
            </a:pPr>
            <a:r>
              <a:rPr lang="en-US" sz="2000" b="1" i="0" u="none" strike="noStrike" cap="none">
                <a:solidFill>
                  <a:srgbClr val="0F0F0F"/>
                </a:solidFill>
                <a:latin typeface="Arial"/>
                <a:ea typeface="Arial"/>
                <a:cs typeface="Arial"/>
                <a:sym typeface="Arial"/>
              </a:rPr>
              <a:t>Diagonal dominates</a:t>
            </a:r>
            <a:endParaRPr sz="2000" b="0" i="0" u="none" strike="noStrike" cap="none">
              <a:solidFill>
                <a:schemeClr val="dk1"/>
              </a:solidFill>
              <a:latin typeface="Calibri"/>
              <a:ea typeface="Calibri"/>
              <a:cs typeface="Calibri"/>
              <a:sym typeface="Calibri"/>
            </a:endParaRPr>
          </a:p>
        </p:txBody>
      </p:sp>
      <p:sp>
        <p:nvSpPr>
          <p:cNvPr id="233" name="Google Shape;233;p11"/>
          <p:cNvSpPr/>
          <p:nvPr/>
        </p:nvSpPr>
        <p:spPr>
          <a:xfrm>
            <a:off x="7571225" y="1566582"/>
            <a:ext cx="5029200" cy="795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50"/>
              <a:buFont typeface="Arial"/>
              <a:buNone/>
            </a:pPr>
            <a:r>
              <a:rPr lang="en-US" sz="1850" b="0" i="0" u="none" strike="noStrike" cap="none">
                <a:solidFill>
                  <a:srgbClr val="333333"/>
                </a:solidFill>
                <a:latin typeface="Arial"/>
                <a:ea typeface="Arial"/>
                <a:cs typeface="Arial"/>
                <a:sym typeface="Arial"/>
              </a:rPr>
              <a:t>Most mass is on the diagonal</a:t>
            </a:r>
            <a:r>
              <a:rPr lang="en-US" sz="1850">
                <a:solidFill>
                  <a:srgbClr val="333333"/>
                </a:solidFill>
              </a:rPr>
              <a:t>,</a:t>
            </a:r>
            <a:r>
              <a:rPr lang="en-US" sz="1850" b="0" i="0" u="none" strike="noStrike" cap="none">
                <a:solidFill>
                  <a:srgbClr val="333333"/>
                </a:solidFill>
                <a:latin typeface="Arial"/>
                <a:ea typeface="Arial"/>
                <a:cs typeface="Arial"/>
                <a:sym typeface="Arial"/>
              </a:rPr>
              <a:t> labels are on-target overall.</a:t>
            </a:r>
            <a:endParaRPr sz="1850" b="0" i="0" u="none" strike="noStrike" cap="none">
              <a:solidFill>
                <a:schemeClr val="dk1"/>
              </a:solidFill>
              <a:latin typeface="Calibri"/>
              <a:ea typeface="Calibri"/>
              <a:cs typeface="Calibri"/>
              <a:sym typeface="Calibri"/>
            </a:endParaRPr>
          </a:p>
        </p:txBody>
      </p:sp>
      <p:sp>
        <p:nvSpPr>
          <p:cNvPr id="234" name="Google Shape;234;p11"/>
          <p:cNvSpPr/>
          <p:nvPr/>
        </p:nvSpPr>
        <p:spPr>
          <a:xfrm>
            <a:off x="7376941" y="2625250"/>
            <a:ext cx="5394900" cy="17745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5" name="Google Shape;235;p11"/>
          <p:cNvSpPr/>
          <p:nvPr/>
        </p:nvSpPr>
        <p:spPr>
          <a:xfrm flipH="1">
            <a:off x="7344925" y="2625274"/>
            <a:ext cx="54900" cy="17745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6" name="Google Shape;236;p11"/>
          <p:cNvSpPr/>
          <p:nvPr/>
        </p:nvSpPr>
        <p:spPr>
          <a:xfrm>
            <a:off x="7532373" y="2703013"/>
            <a:ext cx="50292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300"/>
              <a:buFont typeface="Arial"/>
              <a:buNone/>
            </a:pPr>
            <a:r>
              <a:rPr lang="en-US" sz="2000" b="1" i="0" u="none" strike="noStrike" cap="none">
                <a:solidFill>
                  <a:srgbClr val="0F0F0F"/>
                </a:solidFill>
                <a:latin typeface="Arial"/>
                <a:ea typeface="Arial"/>
                <a:cs typeface="Arial"/>
                <a:sym typeface="Arial"/>
              </a:rPr>
              <a:t> Semantic Neighbor confusions</a:t>
            </a:r>
            <a:endParaRPr sz="2000" b="0" i="0" u="none" strike="noStrike" cap="none">
              <a:solidFill>
                <a:schemeClr val="dk1"/>
              </a:solidFill>
              <a:latin typeface="Calibri"/>
              <a:ea typeface="Calibri"/>
              <a:cs typeface="Calibri"/>
              <a:sym typeface="Calibri"/>
            </a:endParaRPr>
          </a:p>
        </p:txBody>
      </p:sp>
      <p:sp>
        <p:nvSpPr>
          <p:cNvPr id="237" name="Google Shape;237;p11"/>
          <p:cNvSpPr/>
          <p:nvPr/>
        </p:nvSpPr>
        <p:spPr>
          <a:xfrm>
            <a:off x="7532366" y="3183640"/>
            <a:ext cx="5029200" cy="1109700"/>
          </a:xfrm>
          <a:prstGeom prst="rect">
            <a:avLst/>
          </a:prstGeom>
          <a:noFill/>
          <a:ln>
            <a:noFill/>
          </a:ln>
        </p:spPr>
        <p:txBody>
          <a:bodyPr spcFirstLastPara="1" wrap="square" lIns="0" tIns="0" rIns="0" bIns="0" anchor="t" anchorCtr="0">
            <a:noAutofit/>
          </a:bodyPr>
          <a:lstStyle/>
          <a:p>
            <a:pPr marL="457200" lvl="0" indent="-346075" algn="l" rtl="0">
              <a:spcBef>
                <a:spcPts val="0"/>
              </a:spcBef>
              <a:spcAft>
                <a:spcPts val="0"/>
              </a:spcAft>
              <a:buClr>
                <a:srgbClr val="333333"/>
              </a:buClr>
              <a:buSzPts val="1850"/>
              <a:buChar char="●"/>
            </a:pPr>
            <a:r>
              <a:rPr lang="en-US" sz="1850">
                <a:solidFill>
                  <a:srgbClr val="333333"/>
                </a:solidFill>
              </a:rPr>
              <a:t> Public Lands ↔ Environment</a:t>
            </a:r>
            <a:endParaRPr sz="1850">
              <a:solidFill>
                <a:srgbClr val="333333"/>
              </a:solidFill>
            </a:endParaRPr>
          </a:p>
          <a:p>
            <a:pPr marL="457200" marR="0" lvl="0" indent="-346075" algn="l" rtl="0">
              <a:lnSpc>
                <a:spcPct val="100000"/>
              </a:lnSpc>
              <a:spcBef>
                <a:spcPts val="0"/>
              </a:spcBef>
              <a:spcAft>
                <a:spcPts val="0"/>
              </a:spcAft>
              <a:buClr>
                <a:srgbClr val="333333"/>
              </a:buClr>
              <a:buSzPts val="1850"/>
              <a:buFont typeface="Arial"/>
              <a:buChar char="●"/>
            </a:pPr>
            <a:r>
              <a:rPr lang="en-US" sz="1850">
                <a:solidFill>
                  <a:srgbClr val="333333"/>
                </a:solidFill>
              </a:rPr>
              <a:t> Labor </a:t>
            </a:r>
            <a:r>
              <a:rPr lang="en-US" sz="1850" b="0" i="0" u="none" strike="noStrike" cap="none">
                <a:solidFill>
                  <a:srgbClr val="333333"/>
                </a:solidFill>
                <a:latin typeface="Arial"/>
                <a:ea typeface="Arial"/>
                <a:cs typeface="Arial"/>
                <a:sym typeface="Arial"/>
              </a:rPr>
              <a:t>↔ </a:t>
            </a:r>
            <a:r>
              <a:rPr lang="en-US" sz="1850">
                <a:solidFill>
                  <a:srgbClr val="333333"/>
                </a:solidFill>
              </a:rPr>
              <a:t>Social Welfare</a:t>
            </a:r>
            <a:endParaRPr sz="1850" b="0" i="0" u="none" strike="noStrike" cap="none">
              <a:solidFill>
                <a:schemeClr val="dk1"/>
              </a:solidFill>
              <a:latin typeface="Calibri"/>
              <a:ea typeface="Calibri"/>
              <a:cs typeface="Calibri"/>
              <a:sym typeface="Calibri"/>
            </a:endParaRPr>
          </a:p>
          <a:p>
            <a:pPr marL="457200" marR="0" lvl="0" indent="-346075" algn="l" rtl="0">
              <a:lnSpc>
                <a:spcPct val="100000"/>
              </a:lnSpc>
              <a:spcBef>
                <a:spcPts val="0"/>
              </a:spcBef>
              <a:spcAft>
                <a:spcPts val="0"/>
              </a:spcAft>
              <a:buClr>
                <a:srgbClr val="333333"/>
              </a:buClr>
              <a:buSzPts val="1850"/>
              <a:buChar char="●"/>
            </a:pPr>
            <a:r>
              <a:rPr lang="en-US" sz="1850">
                <a:solidFill>
                  <a:srgbClr val="333333"/>
                </a:solidFill>
              </a:rPr>
              <a:t> International Affairs </a:t>
            </a:r>
            <a:r>
              <a:rPr lang="en-US" sz="1850" b="0" i="0" u="none" strike="noStrike" cap="none">
                <a:solidFill>
                  <a:srgbClr val="333333"/>
                </a:solidFill>
                <a:latin typeface="Arial"/>
                <a:ea typeface="Arial"/>
                <a:cs typeface="Arial"/>
                <a:sym typeface="Arial"/>
              </a:rPr>
              <a:t>↔ </a:t>
            </a:r>
            <a:r>
              <a:rPr lang="en-US" sz="1850">
                <a:solidFill>
                  <a:srgbClr val="333333"/>
                </a:solidFill>
              </a:rPr>
              <a:t>Defense</a:t>
            </a:r>
            <a:endParaRPr sz="1850" b="0" i="0" u="none" strike="noStrike" cap="none">
              <a:solidFill>
                <a:schemeClr val="dk1"/>
              </a:solidFill>
              <a:latin typeface="Calibri"/>
              <a:ea typeface="Calibri"/>
              <a:cs typeface="Calibri"/>
              <a:sym typeface="Calibri"/>
            </a:endParaRPr>
          </a:p>
        </p:txBody>
      </p:sp>
      <p:sp>
        <p:nvSpPr>
          <p:cNvPr id="238" name="Google Shape;238;p11"/>
          <p:cNvSpPr/>
          <p:nvPr/>
        </p:nvSpPr>
        <p:spPr>
          <a:xfrm>
            <a:off x="7360925" y="4663452"/>
            <a:ext cx="5394900" cy="17745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9" name="Google Shape;239;p11"/>
          <p:cNvSpPr/>
          <p:nvPr/>
        </p:nvSpPr>
        <p:spPr>
          <a:xfrm flipH="1">
            <a:off x="7360934" y="4663452"/>
            <a:ext cx="54900" cy="17745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0" name="Google Shape;240;p11"/>
          <p:cNvSpPr/>
          <p:nvPr/>
        </p:nvSpPr>
        <p:spPr>
          <a:xfrm>
            <a:off x="7571232" y="4718304"/>
            <a:ext cx="5029200" cy="3474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300"/>
              <a:buFont typeface="Arial"/>
              <a:buNone/>
            </a:pPr>
            <a:r>
              <a:rPr lang="en-US" sz="2000" b="1" i="0" u="none" strike="noStrike" cap="none">
                <a:solidFill>
                  <a:srgbClr val="0F0F0F"/>
                </a:solidFill>
                <a:latin typeface="Arial"/>
                <a:ea typeface="Arial"/>
                <a:cs typeface="Arial"/>
                <a:sym typeface="Arial"/>
              </a:rPr>
              <a:t> Interpretation</a:t>
            </a:r>
            <a:endParaRPr sz="2000" b="0" i="0" u="none" strike="noStrike" cap="none">
              <a:solidFill>
                <a:schemeClr val="dk1"/>
              </a:solidFill>
              <a:latin typeface="Calibri"/>
              <a:ea typeface="Calibri"/>
              <a:cs typeface="Calibri"/>
              <a:sym typeface="Calibri"/>
            </a:endParaRPr>
          </a:p>
        </p:txBody>
      </p:sp>
      <p:sp>
        <p:nvSpPr>
          <p:cNvPr id="241" name="Google Shape;241;p11"/>
          <p:cNvSpPr/>
          <p:nvPr/>
        </p:nvSpPr>
        <p:spPr>
          <a:xfrm>
            <a:off x="7571225" y="5288149"/>
            <a:ext cx="5029200" cy="10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50"/>
              <a:buFont typeface="Arial"/>
              <a:buNone/>
            </a:pPr>
            <a:r>
              <a:rPr lang="en-US" sz="1850" b="0" i="0" u="none" strike="noStrike" cap="none" dirty="0">
                <a:solidFill>
                  <a:srgbClr val="333333"/>
                </a:solidFill>
                <a:latin typeface="Arial"/>
                <a:ea typeface="Arial"/>
                <a:cs typeface="Arial"/>
                <a:sym typeface="Arial"/>
              </a:rPr>
              <a:t>Errors are not random</a:t>
            </a:r>
            <a:r>
              <a:rPr lang="en-US" sz="1850" dirty="0">
                <a:solidFill>
                  <a:srgbClr val="333333"/>
                </a:solidFill>
              </a:rPr>
              <a:t>,</a:t>
            </a:r>
            <a:r>
              <a:rPr lang="en-US" sz="1850" b="0" i="0" u="none" strike="noStrike" cap="none" dirty="0">
                <a:solidFill>
                  <a:srgbClr val="333333"/>
                </a:solidFill>
                <a:latin typeface="Arial"/>
                <a:ea typeface="Arial"/>
                <a:cs typeface="Arial"/>
                <a:sym typeface="Arial"/>
              </a:rPr>
              <a:t> they reflect genuine boundary or mixed-issue episodes where multiple labels are plausible.</a:t>
            </a:r>
            <a:endParaRPr sz="1850" b="0" i="0" u="none" strike="noStrike" cap="none" dirty="0">
              <a:solidFill>
                <a:schemeClr val="dk1"/>
              </a:solidFill>
              <a:latin typeface="Calibri"/>
              <a:ea typeface="Calibri"/>
              <a:cs typeface="Calibri"/>
              <a:sym typeface="Calibri"/>
            </a:endParaRPr>
          </a:p>
        </p:txBody>
      </p:sp>
      <p:pic>
        <p:nvPicPr>
          <p:cNvPr id="243" name="Google Shape;243;p11"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pic>
        <p:nvPicPr>
          <p:cNvPr id="244" name="Google Shape;244;p11" descr="preencoded.png"/>
          <p:cNvPicPr preferRelativeResize="0"/>
          <p:nvPr/>
        </p:nvPicPr>
        <p:blipFill rotWithShape="1">
          <a:blip r:embed="rId4">
            <a:alphaModFix/>
          </a:blip>
          <a:srcRect/>
          <a:stretch/>
        </p:blipFill>
        <p:spPr>
          <a:xfrm>
            <a:off x="0" y="-1"/>
            <a:ext cx="7086600" cy="7315201"/>
          </a:xfrm>
          <a:prstGeom prst="rect">
            <a:avLst/>
          </a:prstGeom>
          <a:noFill/>
          <a:ln>
            <a:noFill/>
          </a:ln>
        </p:spPr>
      </p:pic>
      <p:sp>
        <p:nvSpPr>
          <p:cNvPr id="245" name="Google Shape;245;p11"/>
          <p:cNvSpPr/>
          <p:nvPr/>
        </p:nvSpPr>
        <p:spPr>
          <a:xfrm rot="7281292">
            <a:off x="5493959" y="1628949"/>
            <a:ext cx="414539" cy="347343"/>
          </a:xfrm>
          <a:prstGeom prst="rightArrow">
            <a:avLst>
              <a:gd name="adj1" fmla="val 50000"/>
              <a:gd name="adj2" fmla="val 50000"/>
            </a:avLst>
          </a:prstGeom>
          <a:solidFill>
            <a:srgbClr val="F70146"/>
          </a:solidFill>
          <a:ln w="9525" cap="flat" cmpd="sng">
            <a:solidFill>
              <a:srgbClr val="F70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 name="Google Shape;246;p11"/>
          <p:cNvSpPr/>
          <p:nvPr/>
        </p:nvSpPr>
        <p:spPr>
          <a:xfrm rot="7281292">
            <a:off x="2345384" y="1958999"/>
            <a:ext cx="414539" cy="347343"/>
          </a:xfrm>
          <a:prstGeom prst="rightArrow">
            <a:avLst>
              <a:gd name="adj1" fmla="val 50000"/>
              <a:gd name="adj2" fmla="val 50000"/>
            </a:avLst>
          </a:prstGeom>
          <a:solidFill>
            <a:srgbClr val="F70146"/>
          </a:solidFill>
          <a:ln w="9525" cap="flat" cmpd="sng">
            <a:solidFill>
              <a:srgbClr val="F70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 name="Google Shape;247;p11"/>
          <p:cNvSpPr/>
          <p:nvPr/>
        </p:nvSpPr>
        <p:spPr>
          <a:xfrm rot="7281292">
            <a:off x="3476459" y="4718362"/>
            <a:ext cx="414539" cy="347343"/>
          </a:xfrm>
          <a:prstGeom prst="rightArrow">
            <a:avLst>
              <a:gd name="adj1" fmla="val 50000"/>
              <a:gd name="adj2" fmla="val 50000"/>
            </a:avLst>
          </a:prstGeom>
          <a:solidFill>
            <a:srgbClr val="F70146"/>
          </a:solidFill>
          <a:ln w="9525" cap="flat" cmpd="sng">
            <a:solidFill>
              <a:srgbClr val="F70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252"/>
        <p:cNvGrpSpPr/>
        <p:nvPr/>
      </p:nvGrpSpPr>
      <p:grpSpPr>
        <a:xfrm>
          <a:off x="0" y="0"/>
          <a:ext cx="0" cy="0"/>
          <a:chOff x="0" y="0"/>
          <a:chExt cx="0" cy="0"/>
        </a:xfrm>
      </p:grpSpPr>
      <p:sp>
        <p:nvSpPr>
          <p:cNvPr id="253" name="Google Shape;253;p12"/>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54" name="Google Shape;254;p12"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255" name="Google Shape;255;p12"/>
          <p:cNvSpPr/>
          <p:nvPr/>
        </p:nvSpPr>
        <p:spPr>
          <a:xfrm>
            <a:off x="731525" y="45725"/>
            <a:ext cx="10287300" cy="71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0F0F"/>
              </a:buClr>
              <a:buSzPts val="2000"/>
              <a:buFont typeface="Arial"/>
              <a:buNone/>
            </a:pPr>
            <a:r>
              <a:rPr lang="en-US" sz="2000" b="1" i="0" u="none" strike="noStrike" cap="none">
                <a:solidFill>
                  <a:srgbClr val="0F0F0F"/>
                </a:solidFill>
                <a:latin typeface="Arial"/>
                <a:ea typeface="Arial"/>
                <a:cs typeface="Arial"/>
                <a:sym typeface="Arial"/>
              </a:rPr>
              <a:t>Topic Styles Are Distinctive: Macroeconomics vs Rest</a:t>
            </a:r>
            <a:endParaRPr sz="2000" b="0" i="0" u="none" strike="noStrike" cap="none">
              <a:solidFill>
                <a:schemeClr val="dk1"/>
              </a:solidFill>
              <a:latin typeface="Calibri"/>
              <a:ea typeface="Calibri"/>
              <a:cs typeface="Calibri"/>
              <a:sym typeface="Calibri"/>
            </a:endParaRPr>
          </a:p>
        </p:txBody>
      </p:sp>
      <p:sp>
        <p:nvSpPr>
          <p:cNvPr id="256" name="Google Shape;256;p12"/>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7" name="Google Shape;257;p12"/>
          <p:cNvSpPr/>
          <p:nvPr/>
        </p:nvSpPr>
        <p:spPr>
          <a:xfrm>
            <a:off x="7183275" y="1238673"/>
            <a:ext cx="5577900" cy="15726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8" name="Google Shape;258;p12"/>
          <p:cNvSpPr/>
          <p:nvPr/>
        </p:nvSpPr>
        <p:spPr>
          <a:xfrm>
            <a:off x="7172815" y="1238675"/>
            <a:ext cx="54900" cy="15726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12"/>
          <p:cNvSpPr/>
          <p:nvPr/>
        </p:nvSpPr>
        <p:spPr>
          <a:xfrm>
            <a:off x="7401445" y="1311817"/>
            <a:ext cx="52122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300"/>
              <a:buFont typeface="Arial"/>
              <a:buNone/>
            </a:pPr>
            <a:r>
              <a:rPr lang="en-US" sz="2000" b="1" i="0" u="none" strike="noStrike" cap="none">
                <a:solidFill>
                  <a:srgbClr val="0F0F0F"/>
                </a:solidFill>
                <a:latin typeface="Arial"/>
                <a:ea typeface="Arial"/>
                <a:cs typeface="Arial"/>
                <a:sym typeface="Arial"/>
              </a:rPr>
              <a:t>Macroeconomics</a:t>
            </a:r>
            <a:endParaRPr sz="2000" b="0" i="0" u="none" strike="noStrike" cap="none">
              <a:solidFill>
                <a:schemeClr val="dk1"/>
              </a:solidFill>
              <a:latin typeface="Calibri"/>
              <a:ea typeface="Calibri"/>
              <a:cs typeface="Calibri"/>
              <a:sym typeface="Calibri"/>
            </a:endParaRPr>
          </a:p>
        </p:txBody>
      </p:sp>
      <p:sp>
        <p:nvSpPr>
          <p:cNvPr id="260" name="Google Shape;260;p12"/>
          <p:cNvSpPr/>
          <p:nvPr/>
        </p:nvSpPr>
        <p:spPr>
          <a:xfrm>
            <a:off x="7384425" y="1659299"/>
            <a:ext cx="5212200" cy="12435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1800"/>
              <a:buFont typeface="Arial"/>
              <a:buChar char="•"/>
            </a:pPr>
            <a:r>
              <a:rPr lang="en-US" sz="1800" b="0" i="0" u="none" strike="noStrike" cap="none">
                <a:solidFill>
                  <a:srgbClr val="333333"/>
                </a:solidFill>
                <a:latin typeface="Arial"/>
                <a:ea typeface="Arial"/>
                <a:cs typeface="Arial"/>
                <a:sym typeface="Arial"/>
              </a:rPr>
              <a:t>money </a:t>
            </a:r>
            <a:r>
              <a:rPr lang="en-US" sz="1800">
                <a:solidFill>
                  <a:srgbClr val="333333"/>
                </a:solidFill>
              </a:rPr>
              <a:t>/ c</a:t>
            </a:r>
            <a:r>
              <a:rPr lang="en-US" sz="1800" b="0" i="0" u="none" strike="noStrike" cap="none">
                <a:solidFill>
                  <a:srgbClr val="333333"/>
                </a:solidFill>
                <a:latin typeface="Arial"/>
                <a:ea typeface="Arial"/>
                <a:cs typeface="Arial"/>
                <a:sym typeface="Arial"/>
              </a:rPr>
              <a:t>lout ↑</a:t>
            </a:r>
            <a:endParaRPr sz="18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1800"/>
              <a:buFont typeface="Arial"/>
              <a:buChar char="•"/>
            </a:pPr>
            <a:r>
              <a:rPr lang="en-US" sz="1800" b="0" i="0" u="none" strike="noStrike" cap="none">
                <a:solidFill>
                  <a:srgbClr val="333333"/>
                </a:solidFill>
                <a:latin typeface="Arial"/>
                <a:ea typeface="Arial"/>
                <a:cs typeface="Arial"/>
                <a:sym typeface="Arial"/>
              </a:rPr>
              <a:t>moral / insight / power</a:t>
            </a:r>
            <a:r>
              <a:rPr lang="en-US" sz="1800">
                <a:solidFill>
                  <a:srgbClr val="333333"/>
                </a:solidFill>
              </a:rPr>
              <a:t> / cognitive processes</a:t>
            </a:r>
            <a:r>
              <a:rPr lang="en-US" sz="1800" b="0" i="0" u="none" strike="noStrike" cap="none">
                <a:solidFill>
                  <a:srgbClr val="333333"/>
                </a:solidFill>
                <a:latin typeface="Arial"/>
                <a:ea typeface="Arial"/>
                <a:cs typeface="Arial"/>
                <a:sym typeface="Arial"/>
              </a:rPr>
              <a:t> ↓</a:t>
            </a:r>
            <a:endParaRPr sz="1800" b="0" i="0" u="none" strike="noStrike" cap="none">
              <a:solidFill>
                <a:schemeClr val="dk1"/>
              </a:solidFill>
              <a:latin typeface="Calibri"/>
              <a:ea typeface="Calibri"/>
              <a:cs typeface="Calibri"/>
              <a:sym typeface="Calibri"/>
            </a:endParaRPr>
          </a:p>
        </p:txBody>
      </p:sp>
      <p:sp>
        <p:nvSpPr>
          <p:cNvPr id="261" name="Google Shape;261;p12"/>
          <p:cNvSpPr/>
          <p:nvPr/>
        </p:nvSpPr>
        <p:spPr>
          <a:xfrm>
            <a:off x="7201565" y="3400384"/>
            <a:ext cx="5577900" cy="13899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2" name="Google Shape;262;p12"/>
          <p:cNvSpPr/>
          <p:nvPr/>
        </p:nvSpPr>
        <p:spPr>
          <a:xfrm>
            <a:off x="7201565" y="3400384"/>
            <a:ext cx="54900" cy="13899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3" name="Google Shape;263;p12"/>
          <p:cNvSpPr/>
          <p:nvPr/>
        </p:nvSpPr>
        <p:spPr>
          <a:xfrm>
            <a:off x="7402733" y="3473536"/>
            <a:ext cx="52122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300"/>
              <a:buFont typeface="Arial"/>
              <a:buNone/>
            </a:pPr>
            <a:r>
              <a:rPr lang="en-US" sz="2000" b="1" i="0" u="none" strike="noStrike" cap="none">
                <a:solidFill>
                  <a:srgbClr val="0F0F0F"/>
                </a:solidFill>
                <a:latin typeface="Arial"/>
                <a:ea typeface="Arial"/>
                <a:cs typeface="Arial"/>
                <a:sym typeface="Arial"/>
              </a:rPr>
              <a:t>Health</a:t>
            </a:r>
            <a:endParaRPr sz="2000" b="0" i="0" u="none" strike="noStrike" cap="none">
              <a:solidFill>
                <a:schemeClr val="dk1"/>
              </a:solidFill>
              <a:latin typeface="Calibri"/>
              <a:ea typeface="Calibri"/>
              <a:cs typeface="Calibri"/>
              <a:sym typeface="Calibri"/>
            </a:endParaRPr>
          </a:p>
        </p:txBody>
      </p:sp>
      <p:sp>
        <p:nvSpPr>
          <p:cNvPr id="264" name="Google Shape;264;p12"/>
          <p:cNvSpPr/>
          <p:nvPr/>
        </p:nvSpPr>
        <p:spPr>
          <a:xfrm>
            <a:off x="7402733" y="3821008"/>
            <a:ext cx="5212200" cy="9510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1800"/>
              <a:buFont typeface="Arial"/>
              <a:buChar char="•"/>
            </a:pPr>
            <a:r>
              <a:rPr lang="en-US" sz="1800" b="0" i="0" u="none" strike="noStrike" cap="none">
                <a:solidFill>
                  <a:srgbClr val="333333"/>
                </a:solidFill>
                <a:latin typeface="Arial"/>
                <a:ea typeface="Arial"/>
                <a:cs typeface="Arial"/>
                <a:sym typeface="Arial"/>
              </a:rPr>
              <a:t>politic / power / money ↓</a:t>
            </a:r>
            <a:endParaRPr sz="18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1800"/>
              <a:buFont typeface="Arial"/>
              <a:buChar char="•"/>
            </a:pPr>
            <a:r>
              <a:rPr lang="en-US" sz="1800" b="0" i="0" u="none" strike="noStrike" cap="none">
                <a:solidFill>
                  <a:srgbClr val="333333"/>
                </a:solidFill>
                <a:latin typeface="Arial"/>
                <a:ea typeface="Arial"/>
                <a:cs typeface="Arial"/>
                <a:sym typeface="Arial"/>
              </a:rPr>
              <a:t>Tone / Analy</a:t>
            </a:r>
            <a:r>
              <a:rPr lang="en-US" sz="1800">
                <a:solidFill>
                  <a:srgbClr val="333333"/>
                </a:solidFill>
              </a:rPr>
              <a:t>tic </a:t>
            </a:r>
            <a:r>
              <a:rPr lang="en-US" sz="1800" b="0" i="0" u="none" strike="noStrike" cap="none">
                <a:solidFill>
                  <a:srgbClr val="333333"/>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265" name="Google Shape;265;p12"/>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6" name="Google Shape;266;p12"/>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7" name="Google Shape;267;p12"/>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b="1">
                <a:solidFill>
                  <a:srgbClr val="FFFFFF"/>
                </a:solidFill>
              </a:rPr>
              <a:t>10</a:t>
            </a:r>
            <a:endParaRPr sz="1400" b="0" i="0" u="none" strike="noStrike" cap="none">
              <a:solidFill>
                <a:schemeClr val="dk1"/>
              </a:solidFill>
              <a:latin typeface="Calibri"/>
              <a:ea typeface="Calibri"/>
              <a:cs typeface="Calibri"/>
              <a:sym typeface="Calibri"/>
            </a:endParaRPr>
          </a:p>
        </p:txBody>
      </p:sp>
      <p:sp>
        <p:nvSpPr>
          <p:cNvPr id="268" name="Google Shape;268;p12"/>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269" name="Google Shape;269;p12"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pic>
        <p:nvPicPr>
          <p:cNvPr id="270" name="Google Shape;270;p12"/>
          <p:cNvPicPr preferRelativeResize="0"/>
          <p:nvPr/>
        </p:nvPicPr>
        <p:blipFill rotWithShape="1">
          <a:blip r:embed="rId4">
            <a:alphaModFix/>
          </a:blip>
          <a:srcRect/>
          <a:stretch/>
        </p:blipFill>
        <p:spPr>
          <a:xfrm>
            <a:off x="0" y="842774"/>
            <a:ext cx="7010876" cy="5852175"/>
          </a:xfrm>
          <a:prstGeom prst="rect">
            <a:avLst/>
          </a:prstGeom>
          <a:noFill/>
          <a:ln>
            <a:noFill/>
          </a:ln>
        </p:spPr>
      </p:pic>
      <p:sp>
        <p:nvSpPr>
          <p:cNvPr id="271" name="Google Shape;271;p12"/>
          <p:cNvSpPr txBox="1"/>
          <p:nvPr/>
        </p:nvSpPr>
        <p:spPr>
          <a:xfrm>
            <a:off x="7028425" y="5379388"/>
            <a:ext cx="5947800" cy="124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t>Each cell show </a:t>
            </a:r>
            <a:endParaRPr sz="1800"/>
          </a:p>
          <a:p>
            <a:pPr marL="0" lvl="0" indent="0" algn="l" rtl="0">
              <a:spcBef>
                <a:spcPts val="0"/>
              </a:spcBef>
              <a:spcAft>
                <a:spcPts val="0"/>
              </a:spcAft>
              <a:buNone/>
            </a:pPr>
            <a:r>
              <a:rPr lang="en-US" sz="1800"/>
              <a:t>Δz = target topic − other topics</a:t>
            </a:r>
            <a:endParaRPr sz="1800"/>
          </a:p>
          <a:p>
            <a:pPr marL="0" lvl="0" indent="0" algn="l" rtl="0">
              <a:spcBef>
                <a:spcPts val="0"/>
              </a:spcBef>
              <a:spcAft>
                <a:spcPts val="0"/>
              </a:spcAft>
              <a:buNone/>
            </a:pPr>
            <a:r>
              <a:rPr lang="en-US" sz="1800"/>
              <a:t>1.0 = one standard deviation higher than comparison</a:t>
            </a:r>
            <a:endParaRPr sz="1800"/>
          </a:p>
        </p:txBody>
      </p:sp>
      <p:sp>
        <p:nvSpPr>
          <p:cNvPr id="272" name="Google Shape;272;p12"/>
          <p:cNvSpPr/>
          <p:nvPr/>
        </p:nvSpPr>
        <p:spPr>
          <a:xfrm rot="10800000">
            <a:off x="5667876" y="4440774"/>
            <a:ext cx="414600" cy="347400"/>
          </a:xfrm>
          <a:prstGeom prst="rightArrow">
            <a:avLst>
              <a:gd name="adj1" fmla="val 50000"/>
              <a:gd name="adj2" fmla="val 50000"/>
            </a:avLst>
          </a:prstGeom>
          <a:solidFill>
            <a:srgbClr val="F70146"/>
          </a:solidFill>
          <a:ln w="9525" cap="flat" cmpd="sng">
            <a:solidFill>
              <a:srgbClr val="F70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277"/>
        <p:cNvGrpSpPr/>
        <p:nvPr/>
      </p:nvGrpSpPr>
      <p:grpSpPr>
        <a:xfrm>
          <a:off x="0" y="0"/>
          <a:ext cx="0" cy="0"/>
          <a:chOff x="0" y="0"/>
          <a:chExt cx="0" cy="0"/>
        </a:xfrm>
      </p:grpSpPr>
      <p:sp>
        <p:nvSpPr>
          <p:cNvPr id="278" name="Google Shape;278;p13"/>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79" name="Google Shape;279;p13"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280" name="Google Shape;280;p13"/>
          <p:cNvSpPr/>
          <p:nvPr/>
        </p:nvSpPr>
        <p:spPr>
          <a:xfrm>
            <a:off x="777252" y="45725"/>
            <a:ext cx="10026600" cy="7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200" b="1" i="0" u="none" strike="noStrike" cap="none" dirty="0">
                <a:solidFill>
                  <a:srgbClr val="0F0F0F"/>
                </a:solidFill>
                <a:latin typeface="Arial"/>
                <a:ea typeface="Arial"/>
                <a:cs typeface="Arial"/>
                <a:sym typeface="Arial"/>
              </a:rPr>
              <a:t>Institutional Role and </a:t>
            </a:r>
            <a:r>
              <a:rPr lang="en-US" sz="2200" b="1" dirty="0">
                <a:solidFill>
                  <a:srgbClr val="0F0F0F"/>
                </a:solidFill>
              </a:rPr>
              <a:t>Gender </a:t>
            </a:r>
            <a:r>
              <a:rPr lang="en-US" sz="2200" b="1" i="0" u="none" strike="noStrike" cap="none" dirty="0">
                <a:solidFill>
                  <a:srgbClr val="0F0F0F"/>
                </a:solidFill>
                <a:latin typeface="Arial"/>
                <a:ea typeface="Arial"/>
                <a:cs typeface="Arial"/>
                <a:sym typeface="Arial"/>
              </a:rPr>
              <a:t>Shape Language Style</a:t>
            </a:r>
            <a:endParaRPr sz="2200" b="0" i="0" u="none" strike="noStrike" cap="none" dirty="0">
              <a:solidFill>
                <a:schemeClr val="dk1"/>
              </a:solidFill>
              <a:latin typeface="Calibri"/>
              <a:ea typeface="Calibri"/>
              <a:cs typeface="Calibri"/>
              <a:sym typeface="Calibri"/>
            </a:endParaRPr>
          </a:p>
        </p:txBody>
      </p:sp>
      <p:sp>
        <p:nvSpPr>
          <p:cNvPr id="281" name="Google Shape;281;p13"/>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2" name="Google Shape;282;p13"/>
          <p:cNvSpPr/>
          <p:nvPr/>
        </p:nvSpPr>
        <p:spPr>
          <a:xfrm>
            <a:off x="612650" y="4819700"/>
            <a:ext cx="3850800" cy="17982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3" name="Google Shape;283;p13" descr="preencoded.png"/>
          <p:cNvPicPr preferRelativeResize="0"/>
          <p:nvPr/>
        </p:nvPicPr>
        <p:blipFill rotWithShape="1">
          <a:blip r:embed="rId4">
            <a:alphaModFix/>
          </a:blip>
          <a:srcRect/>
          <a:stretch/>
        </p:blipFill>
        <p:spPr>
          <a:xfrm>
            <a:off x="0" y="921450"/>
            <a:ext cx="7246225" cy="3804425"/>
          </a:xfrm>
          <a:prstGeom prst="rect">
            <a:avLst/>
          </a:prstGeom>
          <a:noFill/>
          <a:ln>
            <a:noFill/>
          </a:ln>
        </p:spPr>
      </p:pic>
      <p:sp>
        <p:nvSpPr>
          <p:cNvPr id="284" name="Google Shape;284;p13"/>
          <p:cNvSpPr/>
          <p:nvPr/>
        </p:nvSpPr>
        <p:spPr>
          <a:xfrm>
            <a:off x="664850" y="4824375"/>
            <a:ext cx="3798600" cy="17982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2000"/>
              <a:buFont typeface="Arial" panose="020B0604020202020204" pitchFamily="34" charset="0"/>
              <a:buChar char="•"/>
            </a:pPr>
            <a:r>
              <a:rPr lang="en-US" sz="2000" b="1" i="0" u="none" strike="noStrike" cap="none" dirty="0">
                <a:solidFill>
                  <a:srgbClr val="333333"/>
                </a:solidFill>
                <a:latin typeface="Arial"/>
                <a:ea typeface="Arial"/>
                <a:cs typeface="Arial"/>
                <a:sym typeface="Arial"/>
              </a:rPr>
              <a:t>Coalition :</a:t>
            </a:r>
            <a:endParaRPr sz="2000" b="1" i="0" u="none" strike="noStrike" cap="none" dirty="0">
              <a:solidFill>
                <a:srgbClr val="333333"/>
              </a:solidFill>
              <a:latin typeface="Arial"/>
              <a:ea typeface="Arial"/>
              <a:cs typeface="Arial"/>
              <a:sym typeface="Arial"/>
            </a:endParaRPr>
          </a:p>
          <a:p>
            <a:pPr marL="857250" lvl="1" indent="-285750" algn="l" rtl="0">
              <a:spcBef>
                <a:spcPts val="0"/>
              </a:spcBef>
              <a:spcAft>
                <a:spcPts val="0"/>
              </a:spcAft>
              <a:buClr>
                <a:srgbClr val="333333"/>
              </a:buClr>
              <a:buSzPts val="1800"/>
              <a:buFont typeface="Courier New" panose="02070309020205020404" pitchFamily="49" charset="0"/>
              <a:buChar char="o"/>
            </a:pPr>
            <a:r>
              <a:rPr lang="en-US" sz="1800" dirty="0">
                <a:solidFill>
                  <a:srgbClr val="333333"/>
                </a:solidFill>
              </a:rPr>
              <a:t>tone / authentic / we ↑</a:t>
            </a:r>
            <a:endParaRPr sz="1800" dirty="0">
              <a:solidFill>
                <a:schemeClr val="dk1"/>
              </a:solidFill>
              <a:latin typeface="Calibri"/>
              <a:ea typeface="Calibri"/>
              <a:cs typeface="Calibri"/>
              <a:sym typeface="Calibri"/>
            </a:endParaRPr>
          </a:p>
          <a:p>
            <a:pPr marL="857250" lvl="1" indent="-285750" algn="l" rtl="0">
              <a:spcBef>
                <a:spcPts val="0"/>
              </a:spcBef>
              <a:spcAft>
                <a:spcPts val="0"/>
              </a:spcAft>
              <a:buClr>
                <a:srgbClr val="333333"/>
              </a:buClr>
              <a:buSzPts val="1800"/>
              <a:buFont typeface="Courier New" panose="02070309020205020404" pitchFamily="49" charset="0"/>
              <a:buChar char="o"/>
            </a:pPr>
            <a:r>
              <a:rPr lang="en-US" sz="1800" dirty="0">
                <a:solidFill>
                  <a:srgbClr val="333333"/>
                </a:solidFill>
              </a:rPr>
              <a:t>power/ politic ↓</a:t>
            </a:r>
            <a:endParaRPr sz="2000" dirty="0">
              <a:solidFill>
                <a:srgbClr val="333333"/>
              </a:solidFill>
            </a:endParaRPr>
          </a:p>
          <a:p>
            <a:pPr marL="342900" marR="0" lvl="0" indent="-342900" algn="l" rtl="0">
              <a:lnSpc>
                <a:spcPct val="100000"/>
              </a:lnSpc>
              <a:spcBef>
                <a:spcPts val="0"/>
              </a:spcBef>
              <a:spcAft>
                <a:spcPts val="0"/>
              </a:spcAft>
              <a:buClr>
                <a:srgbClr val="333333"/>
              </a:buClr>
              <a:buSzPts val="2000"/>
              <a:buFont typeface="Arial" panose="020B0604020202020204" pitchFamily="34" charset="0"/>
              <a:buChar char="•"/>
            </a:pPr>
            <a:r>
              <a:rPr lang="en-US" sz="2000" b="1" i="0" u="none" strike="noStrike" cap="none" dirty="0">
                <a:solidFill>
                  <a:srgbClr val="333333"/>
                </a:solidFill>
                <a:latin typeface="Arial"/>
                <a:ea typeface="Arial"/>
                <a:cs typeface="Arial"/>
                <a:sym typeface="Arial"/>
              </a:rPr>
              <a:t>Opposition:</a:t>
            </a:r>
            <a:r>
              <a:rPr lang="en-US" sz="2000" b="0" i="0" u="none" strike="noStrike" cap="none" dirty="0">
                <a:solidFill>
                  <a:srgbClr val="333333"/>
                </a:solidFill>
                <a:latin typeface="Arial"/>
                <a:ea typeface="Arial"/>
                <a:cs typeface="Arial"/>
                <a:sym typeface="Arial"/>
              </a:rPr>
              <a:t> Inverse results</a:t>
            </a:r>
            <a:endParaRPr sz="2000" b="0" i="0" u="none" strike="noStrike" cap="none" dirty="0">
              <a:solidFill>
                <a:srgbClr val="333333"/>
              </a:solidFill>
              <a:latin typeface="Arial"/>
              <a:ea typeface="Arial"/>
              <a:cs typeface="Arial"/>
              <a:sym typeface="Arial"/>
            </a:endParaRPr>
          </a:p>
        </p:txBody>
      </p:sp>
      <p:sp>
        <p:nvSpPr>
          <p:cNvPr id="285" name="Google Shape;285;p13"/>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6" name="Google Shape;286;p13"/>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7" name="Google Shape;287;p13"/>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b="1">
                <a:solidFill>
                  <a:srgbClr val="FFFFFF"/>
                </a:solidFill>
              </a:rPr>
              <a:t>11</a:t>
            </a:r>
            <a:endParaRPr sz="1400" b="0" i="0" u="none" strike="noStrike" cap="none">
              <a:solidFill>
                <a:schemeClr val="dk1"/>
              </a:solidFill>
              <a:latin typeface="Calibri"/>
              <a:ea typeface="Calibri"/>
              <a:cs typeface="Calibri"/>
              <a:sym typeface="Calibri"/>
            </a:endParaRPr>
          </a:p>
        </p:txBody>
      </p:sp>
      <p:sp>
        <p:nvSpPr>
          <p:cNvPr id="288" name="Google Shape;288;p13"/>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289" name="Google Shape;289;p13"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
        <p:nvSpPr>
          <p:cNvPr id="290" name="Google Shape;290;p13"/>
          <p:cNvSpPr/>
          <p:nvPr/>
        </p:nvSpPr>
        <p:spPr>
          <a:xfrm>
            <a:off x="7863375" y="4760825"/>
            <a:ext cx="4670700" cy="18618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1" name="Google Shape;291;p13"/>
          <p:cNvSpPr txBox="1"/>
          <p:nvPr/>
        </p:nvSpPr>
        <p:spPr>
          <a:xfrm>
            <a:off x="7811175" y="4760816"/>
            <a:ext cx="4775100" cy="1861934"/>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Calibri"/>
              <a:ea typeface="Calibri"/>
              <a:cs typeface="Calibri"/>
              <a:sym typeface="Calibri"/>
            </a:endParaRPr>
          </a:p>
          <a:p>
            <a:pPr marL="444500" marR="0" lvl="0" indent="-342900" algn="l" rtl="0">
              <a:lnSpc>
                <a:spcPct val="100000"/>
              </a:lnSpc>
              <a:spcBef>
                <a:spcPts val="0"/>
              </a:spcBef>
              <a:spcAft>
                <a:spcPts val="0"/>
              </a:spcAft>
              <a:buClr>
                <a:schemeClr val="dk1"/>
              </a:buClr>
              <a:buSzPts val="2000"/>
              <a:buFont typeface="Arial" panose="020B0604020202020204" pitchFamily="34" charset="0"/>
              <a:buChar char="•"/>
            </a:pPr>
            <a:r>
              <a:rPr lang="en-US" sz="2000" b="1" i="0" u="none" strike="noStrike" cap="none" dirty="0">
                <a:solidFill>
                  <a:schemeClr val="dk1"/>
                </a:solidFill>
                <a:latin typeface="Calibri"/>
                <a:ea typeface="Calibri"/>
                <a:cs typeface="Calibri"/>
                <a:sym typeface="Calibri"/>
              </a:rPr>
              <a:t>Women:</a:t>
            </a:r>
            <a:endParaRPr sz="2000" b="1" i="0" u="none" strike="noStrike" cap="none" dirty="0">
              <a:solidFill>
                <a:schemeClr val="dk1"/>
              </a:solidFill>
              <a:latin typeface="Calibri"/>
              <a:ea typeface="Calibri"/>
              <a:cs typeface="Calibri"/>
              <a:sym typeface="Calibri"/>
            </a:endParaRPr>
          </a:p>
          <a:p>
            <a:pPr marL="914400" lvl="1" indent="-342900" algn="l" rtl="0">
              <a:spcBef>
                <a:spcPts val="0"/>
              </a:spcBef>
              <a:spcAft>
                <a:spcPts val="0"/>
              </a:spcAft>
              <a:buClr>
                <a:srgbClr val="333333"/>
              </a:buClr>
              <a:buSzPts val="1800"/>
              <a:buChar char="○"/>
            </a:pPr>
            <a:r>
              <a:rPr lang="en-US" sz="1800" dirty="0">
                <a:solidFill>
                  <a:srgbClr val="333333"/>
                </a:solidFill>
              </a:rPr>
              <a:t>tone / clout / work/ social ↑</a:t>
            </a:r>
            <a:endParaRPr sz="1800" dirty="0">
              <a:solidFill>
                <a:schemeClr val="dk1"/>
              </a:solidFill>
              <a:latin typeface="Calibri"/>
              <a:ea typeface="Calibri"/>
              <a:cs typeface="Calibri"/>
              <a:sym typeface="Calibri"/>
            </a:endParaRPr>
          </a:p>
          <a:p>
            <a:pPr marL="914400" lvl="1" indent="-342900" algn="l" rtl="0">
              <a:spcBef>
                <a:spcPts val="0"/>
              </a:spcBef>
              <a:spcAft>
                <a:spcPts val="0"/>
              </a:spcAft>
              <a:buClr>
                <a:srgbClr val="333333"/>
              </a:buClr>
              <a:buSzPts val="1800"/>
              <a:buChar char="○"/>
            </a:pPr>
            <a:r>
              <a:rPr lang="en-US" sz="1800" dirty="0">
                <a:solidFill>
                  <a:srgbClr val="333333"/>
                </a:solidFill>
              </a:rPr>
              <a:t>politic / I pronouns ↓</a:t>
            </a:r>
            <a:endParaRPr sz="2000" dirty="0">
              <a:solidFill>
                <a:schemeClr val="dk1"/>
              </a:solidFill>
              <a:latin typeface="Calibri"/>
              <a:ea typeface="Calibri"/>
              <a:cs typeface="Calibri"/>
              <a:sym typeface="Calibri"/>
            </a:endParaRPr>
          </a:p>
          <a:p>
            <a:pPr marL="444500" marR="0" lvl="0" indent="-342900" algn="l" rtl="0">
              <a:lnSpc>
                <a:spcPct val="100000"/>
              </a:lnSpc>
              <a:spcBef>
                <a:spcPts val="0"/>
              </a:spcBef>
              <a:spcAft>
                <a:spcPts val="0"/>
              </a:spcAft>
              <a:buClr>
                <a:schemeClr val="dk1"/>
              </a:buClr>
              <a:buSzPts val="2000"/>
              <a:buFont typeface="Arial" panose="020B0604020202020204" pitchFamily="34" charset="0"/>
              <a:buChar char="•"/>
            </a:pPr>
            <a:r>
              <a:rPr lang="en-US" sz="2000" b="1" i="0" u="none" strike="noStrike" cap="none" dirty="0">
                <a:solidFill>
                  <a:schemeClr val="dk1"/>
                </a:solidFill>
                <a:latin typeface="Calibri"/>
                <a:ea typeface="Calibri"/>
                <a:cs typeface="Calibri"/>
                <a:sym typeface="Calibri"/>
              </a:rPr>
              <a:t>Men:</a:t>
            </a:r>
            <a:r>
              <a:rPr lang="en-US" sz="2000" b="0" i="0" u="none" strike="noStrike" cap="none" dirty="0">
                <a:solidFill>
                  <a:schemeClr val="dk1"/>
                </a:solidFill>
                <a:latin typeface="Calibri"/>
                <a:ea typeface="Calibri"/>
                <a:cs typeface="Calibri"/>
                <a:sym typeface="Calibri"/>
              </a:rPr>
              <a:t> </a:t>
            </a:r>
            <a:r>
              <a:rPr lang="en-US" sz="2000" b="0" i="0" u="none" strike="noStrike" cap="none" dirty="0">
                <a:solidFill>
                  <a:srgbClr val="333333"/>
                </a:solidFill>
                <a:latin typeface="Arial"/>
                <a:ea typeface="Arial"/>
                <a:cs typeface="Arial"/>
                <a:sym typeface="Arial"/>
              </a:rPr>
              <a:t>Inverse results</a:t>
            </a:r>
            <a:endParaRPr sz="2000" b="0" i="0" u="none" strike="noStrike" cap="none" dirty="0">
              <a:solidFill>
                <a:schemeClr val="dk1"/>
              </a:solidFill>
              <a:latin typeface="Calibri"/>
              <a:ea typeface="Calibri"/>
              <a:cs typeface="Calibri"/>
              <a:sym typeface="Calibri"/>
            </a:endParaRPr>
          </a:p>
        </p:txBody>
      </p:sp>
      <p:sp>
        <p:nvSpPr>
          <p:cNvPr id="292" name="Google Shape;292;p13"/>
          <p:cNvSpPr/>
          <p:nvPr/>
        </p:nvSpPr>
        <p:spPr>
          <a:xfrm>
            <a:off x="7811176" y="4760825"/>
            <a:ext cx="52200" cy="18618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3" name="Google Shape;293;p13"/>
          <p:cNvSpPr/>
          <p:nvPr/>
        </p:nvSpPr>
        <p:spPr>
          <a:xfrm>
            <a:off x="612650" y="4819687"/>
            <a:ext cx="52200" cy="17982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94" name="Google Shape;294;p13"/>
          <p:cNvPicPr preferRelativeResize="0"/>
          <p:nvPr/>
        </p:nvPicPr>
        <p:blipFill rotWithShape="1">
          <a:blip r:embed="rId5">
            <a:alphaModFix/>
          </a:blip>
          <a:srcRect/>
          <a:stretch/>
        </p:blipFill>
        <p:spPr>
          <a:xfrm>
            <a:off x="7062425" y="889675"/>
            <a:ext cx="5875400" cy="3804426"/>
          </a:xfrm>
          <a:prstGeom prst="rect">
            <a:avLst/>
          </a:prstGeom>
          <a:noFill/>
          <a:ln>
            <a:noFill/>
          </a:ln>
        </p:spPr>
      </p:pic>
      <p:sp>
        <p:nvSpPr>
          <p:cNvPr id="295" name="Google Shape;295;p13"/>
          <p:cNvSpPr txBox="1"/>
          <p:nvPr/>
        </p:nvSpPr>
        <p:spPr>
          <a:xfrm>
            <a:off x="4709925" y="4824375"/>
            <a:ext cx="3101400" cy="9127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dirty="0"/>
              <a:t>Left:</a:t>
            </a:r>
            <a:endParaRPr sz="1900" dirty="0"/>
          </a:p>
          <a:p>
            <a:pPr marL="0" lvl="0" indent="0" algn="l" rtl="0">
              <a:spcBef>
                <a:spcPts val="0"/>
              </a:spcBef>
              <a:spcAft>
                <a:spcPts val="0"/>
              </a:spcAft>
              <a:buNone/>
            </a:pPr>
            <a:r>
              <a:rPr lang="en-US" sz="1900" dirty="0" err="1"/>
              <a:t>Δz</a:t>
            </a:r>
            <a:r>
              <a:rPr lang="en-US" sz="1900" dirty="0"/>
              <a:t> = coalition − opposition</a:t>
            </a:r>
            <a:endParaRPr sz="1900" dirty="0"/>
          </a:p>
        </p:txBody>
      </p:sp>
      <p:sp>
        <p:nvSpPr>
          <p:cNvPr id="2" name="TextBox 1">
            <a:extLst>
              <a:ext uri="{FF2B5EF4-FFF2-40B4-BE49-F238E27FC236}">
                <a16:creationId xmlns:a16="http://schemas.microsoft.com/office/drawing/2014/main" id="{D18EA408-DB1C-44A3-BD34-8B4C3C4A74B3}"/>
              </a:ext>
            </a:extLst>
          </p:cNvPr>
          <p:cNvSpPr txBox="1"/>
          <p:nvPr/>
        </p:nvSpPr>
        <p:spPr>
          <a:xfrm>
            <a:off x="4778178" y="5916632"/>
            <a:ext cx="2817241" cy="677108"/>
          </a:xfrm>
          <a:prstGeom prst="rect">
            <a:avLst/>
          </a:prstGeom>
          <a:noFill/>
        </p:spPr>
        <p:txBody>
          <a:bodyPr wrap="square" rtlCol="0">
            <a:spAutoFit/>
          </a:bodyPr>
          <a:lstStyle/>
          <a:p>
            <a:pPr marL="0" lvl="0" indent="0" algn="l" rtl="0">
              <a:spcBef>
                <a:spcPts val="0"/>
              </a:spcBef>
              <a:spcAft>
                <a:spcPts val="0"/>
              </a:spcAft>
              <a:buNone/>
            </a:pPr>
            <a:r>
              <a:rPr lang="en-US" sz="1900" dirty="0"/>
              <a:t>Right: </a:t>
            </a:r>
          </a:p>
          <a:p>
            <a:pPr marL="0" lvl="0" indent="0" algn="l" rtl="0">
              <a:spcBef>
                <a:spcPts val="0"/>
              </a:spcBef>
              <a:spcAft>
                <a:spcPts val="0"/>
              </a:spcAft>
              <a:buNone/>
            </a:pPr>
            <a:r>
              <a:rPr lang="el-GR" sz="1900" dirty="0"/>
              <a:t>Δ</a:t>
            </a:r>
            <a:r>
              <a:rPr lang="en-US" sz="1900" dirty="0"/>
              <a:t>z = women − men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300"/>
        <p:cNvGrpSpPr/>
        <p:nvPr/>
      </p:nvGrpSpPr>
      <p:grpSpPr>
        <a:xfrm>
          <a:off x="0" y="0"/>
          <a:ext cx="0" cy="0"/>
          <a:chOff x="0" y="0"/>
          <a:chExt cx="0" cy="0"/>
        </a:xfrm>
      </p:grpSpPr>
      <p:sp>
        <p:nvSpPr>
          <p:cNvPr id="301" name="Google Shape;301;p14"/>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02" name="Google Shape;302;p14"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303" name="Google Shape;303;p14"/>
          <p:cNvSpPr/>
          <p:nvPr/>
        </p:nvSpPr>
        <p:spPr>
          <a:xfrm>
            <a:off x="731525" y="45725"/>
            <a:ext cx="10287000" cy="71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2800" b="1" i="0" u="none" strike="noStrike" cap="none">
                <a:solidFill>
                  <a:schemeClr val="dk1"/>
                </a:solidFill>
                <a:latin typeface="Calibri"/>
                <a:ea typeface="Calibri"/>
                <a:cs typeface="Calibri"/>
                <a:sym typeface="Calibri"/>
              </a:rPr>
              <a:t>Age</a:t>
            </a:r>
            <a:endParaRPr sz="2800" b="1" i="0" u="none" strike="noStrike" cap="none">
              <a:solidFill>
                <a:schemeClr val="dk1"/>
              </a:solidFill>
              <a:latin typeface="Calibri"/>
              <a:ea typeface="Calibri"/>
              <a:cs typeface="Calibri"/>
              <a:sym typeface="Calibri"/>
            </a:endParaRPr>
          </a:p>
        </p:txBody>
      </p:sp>
      <p:sp>
        <p:nvSpPr>
          <p:cNvPr id="304" name="Google Shape;304;p14"/>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5" name="Google Shape;305;p14"/>
          <p:cNvSpPr/>
          <p:nvPr/>
        </p:nvSpPr>
        <p:spPr>
          <a:xfrm>
            <a:off x="8221950" y="1899759"/>
            <a:ext cx="4478400" cy="37065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6" name="Google Shape;306;p14"/>
          <p:cNvSpPr/>
          <p:nvPr/>
        </p:nvSpPr>
        <p:spPr>
          <a:xfrm>
            <a:off x="8221952" y="1899759"/>
            <a:ext cx="28200" cy="37065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7" name="Google Shape;307;p14"/>
          <p:cNvSpPr/>
          <p:nvPr/>
        </p:nvSpPr>
        <p:spPr>
          <a:xfrm>
            <a:off x="8390550" y="1597025"/>
            <a:ext cx="4219500" cy="4009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2500" b="1">
                <a:solidFill>
                  <a:schemeClr val="dk1"/>
                </a:solidFill>
                <a:latin typeface="Calibri"/>
                <a:ea typeface="Calibri"/>
                <a:cs typeface="Calibri"/>
                <a:sym typeface="Calibri"/>
              </a:rPr>
              <a:t>Y</a:t>
            </a:r>
            <a:r>
              <a:rPr lang="en-US" sz="2500" b="1" i="0" u="none" strike="noStrike" cap="none">
                <a:solidFill>
                  <a:schemeClr val="dk1"/>
                </a:solidFill>
                <a:latin typeface="Calibri"/>
                <a:ea typeface="Calibri"/>
                <a:cs typeface="Calibri"/>
                <a:sym typeface="Calibri"/>
              </a:rPr>
              <a:t>ounger </a:t>
            </a:r>
            <a:r>
              <a:rPr lang="en-US" sz="2500" b="1">
                <a:solidFill>
                  <a:schemeClr val="dk1"/>
                </a:solidFill>
                <a:latin typeface="Calibri"/>
                <a:ea typeface="Calibri"/>
                <a:cs typeface="Calibri"/>
                <a:sym typeface="Calibri"/>
              </a:rPr>
              <a:t>politicians</a:t>
            </a:r>
            <a:endParaRPr sz="25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2300" b="1">
                <a:solidFill>
                  <a:schemeClr val="dk1"/>
                </a:solidFill>
                <a:latin typeface="Calibri"/>
                <a:ea typeface="Calibri"/>
                <a:cs typeface="Calibri"/>
                <a:sym typeface="Calibri"/>
              </a:rPr>
              <a:t>(relative to </a:t>
            </a:r>
            <a:r>
              <a:rPr lang="en-US" sz="2500" b="1">
                <a:solidFill>
                  <a:schemeClr val="dk1"/>
                </a:solidFill>
                <a:latin typeface="Calibri"/>
                <a:ea typeface="Calibri"/>
                <a:cs typeface="Calibri"/>
                <a:sym typeface="Calibri"/>
              </a:rPr>
              <a:t>older </a:t>
            </a:r>
            <a:r>
              <a:rPr lang="en-US" sz="2300" b="1">
                <a:solidFill>
                  <a:schemeClr val="dk1"/>
                </a:solidFill>
                <a:latin typeface="Calibri"/>
                <a:ea typeface="Calibri"/>
                <a:cs typeface="Calibri"/>
                <a:sym typeface="Calibri"/>
              </a:rPr>
              <a:t>politicians)</a:t>
            </a:r>
            <a:r>
              <a:rPr lang="en-US" sz="2300" b="1" i="0" u="none" strike="noStrike" cap="none">
                <a:solidFill>
                  <a:schemeClr val="dk1"/>
                </a:solidFill>
                <a:latin typeface="Calibri"/>
                <a:ea typeface="Calibri"/>
                <a:cs typeface="Calibri"/>
                <a:sym typeface="Calibri"/>
              </a:rPr>
              <a:t>:</a:t>
            </a:r>
            <a:endParaRPr sz="23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900" b="0" i="0" u="none" strike="noStrike" cap="none">
                <a:solidFill>
                  <a:schemeClr val="dk1"/>
                </a:solidFill>
                <a:latin typeface="Calibri"/>
                <a:ea typeface="Calibri"/>
                <a:cs typeface="Calibri"/>
                <a:sym typeface="Calibri"/>
              </a:rPr>
              <a:t> </a:t>
            </a:r>
            <a:r>
              <a:rPr lang="en-US" sz="1900">
                <a:solidFill>
                  <a:srgbClr val="333333"/>
                </a:solidFill>
              </a:rPr>
              <a:t>↑</a:t>
            </a:r>
            <a:r>
              <a:rPr lang="en-US" sz="1900" b="0" i="0" u="none" strike="noStrike" cap="none">
                <a:solidFill>
                  <a:schemeClr val="dk1"/>
                </a:solidFill>
                <a:latin typeface="Calibri"/>
                <a:ea typeface="Calibri"/>
                <a:cs typeface="Calibri"/>
                <a:sym typeface="Calibri"/>
              </a:rPr>
              <a:t> elevated</a:t>
            </a:r>
            <a:endParaRPr sz="1900" b="0" i="0" u="none" strike="noStrike" cap="none">
              <a:solidFill>
                <a:schemeClr val="dk1"/>
              </a:solidFill>
              <a:latin typeface="Calibri"/>
              <a:ea typeface="Calibri"/>
              <a:cs typeface="Calibri"/>
              <a:sym typeface="Calibri"/>
            </a:endParaRPr>
          </a:p>
          <a:p>
            <a:pPr marL="457200" marR="0" lvl="0" indent="-349250" algn="l" rtl="0">
              <a:lnSpc>
                <a:spcPct val="100000"/>
              </a:lnSpc>
              <a:spcBef>
                <a:spcPts val="0"/>
              </a:spcBef>
              <a:spcAft>
                <a:spcPts val="0"/>
              </a:spcAft>
              <a:buClr>
                <a:schemeClr val="dk1"/>
              </a:buClr>
              <a:buSzPts val="1900"/>
              <a:buFont typeface="Calibri"/>
              <a:buChar char="●"/>
            </a:pPr>
            <a:r>
              <a:rPr lang="en-US" sz="1900" b="0" i="0" u="none" strike="noStrike" cap="none">
                <a:solidFill>
                  <a:schemeClr val="dk1"/>
                </a:solidFill>
                <a:latin typeface="Calibri"/>
                <a:ea typeface="Calibri"/>
                <a:cs typeface="Calibri"/>
                <a:sym typeface="Calibri"/>
              </a:rPr>
              <a:t>i pronouns</a:t>
            </a:r>
            <a:endParaRPr sz="1900">
              <a:solidFill>
                <a:schemeClr val="dk1"/>
              </a:solidFill>
              <a:latin typeface="Calibri"/>
              <a:ea typeface="Calibri"/>
              <a:cs typeface="Calibri"/>
              <a:sym typeface="Calibri"/>
            </a:endParaRPr>
          </a:p>
          <a:p>
            <a:pPr marL="457200" marR="0" lvl="0" indent="-349250" algn="l" rtl="0">
              <a:lnSpc>
                <a:spcPct val="100000"/>
              </a:lnSpc>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clout</a:t>
            </a:r>
            <a:endParaRPr sz="1900">
              <a:solidFill>
                <a:schemeClr val="dk1"/>
              </a:solidFill>
              <a:latin typeface="Calibri"/>
              <a:ea typeface="Calibri"/>
              <a:cs typeface="Calibri"/>
              <a:sym typeface="Calibri"/>
            </a:endParaRPr>
          </a:p>
          <a:p>
            <a:pPr marL="457200" marR="0" lvl="0" indent="-349250" algn="l" rtl="0">
              <a:lnSpc>
                <a:spcPct val="100000"/>
              </a:lnSpc>
              <a:spcBef>
                <a:spcPts val="0"/>
              </a:spcBef>
              <a:spcAft>
                <a:spcPts val="0"/>
              </a:spcAft>
              <a:buClr>
                <a:schemeClr val="dk1"/>
              </a:buClr>
              <a:buSzPts val="1900"/>
              <a:buFont typeface="Calibri"/>
              <a:buChar char="●"/>
            </a:pPr>
            <a:r>
              <a:rPr lang="en-US" sz="1900" b="0" i="0" u="none" strike="noStrike" cap="none">
                <a:solidFill>
                  <a:schemeClr val="dk1"/>
                </a:solidFill>
                <a:latin typeface="Calibri"/>
                <a:ea typeface="Calibri"/>
                <a:cs typeface="Calibri"/>
                <a:sym typeface="Calibri"/>
              </a:rPr>
              <a:t>money</a:t>
            </a:r>
            <a:endParaRPr sz="1900">
              <a:solidFill>
                <a:schemeClr val="dk1"/>
              </a:solidFill>
              <a:latin typeface="Calibri"/>
              <a:ea typeface="Calibri"/>
              <a:cs typeface="Calibri"/>
              <a:sym typeface="Calibri"/>
            </a:endParaRPr>
          </a:p>
          <a:p>
            <a:pPr marL="457200" marR="0" lvl="0" indent="-349250" algn="l" rtl="0">
              <a:lnSpc>
                <a:spcPct val="100000"/>
              </a:lnSpc>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certitude</a:t>
            </a:r>
            <a:endParaRPr sz="19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endParaRPr sz="1900">
              <a:solidFill>
                <a:schemeClr val="dk1"/>
              </a:solidFill>
              <a:latin typeface="Calibri"/>
              <a:ea typeface="Calibri"/>
              <a:cs typeface="Calibri"/>
              <a:sym typeface="Calibri"/>
            </a:endParaRPr>
          </a:p>
          <a:p>
            <a:pPr marL="0" lvl="0" indent="0" algn="l" rtl="0">
              <a:spcBef>
                <a:spcPts val="0"/>
              </a:spcBef>
              <a:spcAft>
                <a:spcPts val="0"/>
              </a:spcAft>
              <a:buNone/>
            </a:pPr>
            <a:r>
              <a:rPr lang="en-US" sz="1900" b="1">
                <a:solidFill>
                  <a:srgbClr val="333333"/>
                </a:solidFill>
              </a:rPr>
              <a:t>↓ </a:t>
            </a:r>
            <a:r>
              <a:rPr lang="en-US" sz="1900">
                <a:solidFill>
                  <a:srgbClr val="333333"/>
                </a:solidFill>
              </a:rPr>
              <a:t>lower</a:t>
            </a:r>
            <a:endParaRPr sz="1900">
              <a:solidFill>
                <a:srgbClr val="333333"/>
              </a:solidFill>
            </a:endParaRPr>
          </a:p>
          <a:p>
            <a:pPr marL="457200" lvl="0" indent="-349250" algn="l" rtl="0">
              <a:spcBef>
                <a:spcPts val="0"/>
              </a:spcBef>
              <a:spcAft>
                <a:spcPts val="0"/>
              </a:spcAft>
              <a:buClr>
                <a:srgbClr val="333333"/>
              </a:buClr>
              <a:buSzPts val="1900"/>
              <a:buChar char="●"/>
            </a:pPr>
            <a:r>
              <a:rPr lang="en-US" sz="1900">
                <a:solidFill>
                  <a:srgbClr val="333333"/>
                </a:solidFill>
              </a:rPr>
              <a:t>social</a:t>
            </a:r>
            <a:endParaRPr sz="1900">
              <a:solidFill>
                <a:srgbClr val="333333"/>
              </a:solidFill>
            </a:endParaRPr>
          </a:p>
          <a:p>
            <a:pPr marL="457200" lvl="0" indent="-349250" algn="l" rtl="0">
              <a:spcBef>
                <a:spcPts val="0"/>
              </a:spcBef>
              <a:spcAft>
                <a:spcPts val="0"/>
              </a:spcAft>
              <a:buClr>
                <a:srgbClr val="333333"/>
              </a:buClr>
              <a:buSzPts val="1900"/>
              <a:buChar char="●"/>
            </a:pPr>
            <a:r>
              <a:rPr lang="en-US" sz="1900">
                <a:solidFill>
                  <a:srgbClr val="333333"/>
                </a:solidFill>
              </a:rPr>
              <a:t>power</a:t>
            </a:r>
            <a:endParaRPr sz="1900">
              <a:solidFill>
                <a:srgbClr val="333333"/>
              </a:solidFill>
            </a:endParaRPr>
          </a:p>
          <a:p>
            <a:pPr marL="457200" lvl="0" indent="-349250" algn="l" rtl="0">
              <a:spcBef>
                <a:spcPts val="0"/>
              </a:spcBef>
              <a:spcAft>
                <a:spcPts val="0"/>
              </a:spcAft>
              <a:buClr>
                <a:srgbClr val="333333"/>
              </a:buClr>
              <a:buSzPts val="1900"/>
              <a:buChar char="●"/>
            </a:pPr>
            <a:r>
              <a:rPr lang="en-US" sz="1900">
                <a:solidFill>
                  <a:srgbClr val="333333"/>
                </a:solidFill>
              </a:rPr>
              <a:t>politic</a:t>
            </a:r>
            <a:endParaRPr sz="19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900" b="0" i="0" u="none" strike="noStrike" cap="none">
              <a:solidFill>
                <a:schemeClr val="dk1"/>
              </a:solidFill>
              <a:latin typeface="Calibri"/>
              <a:ea typeface="Calibri"/>
              <a:cs typeface="Calibri"/>
              <a:sym typeface="Calibri"/>
            </a:endParaRPr>
          </a:p>
        </p:txBody>
      </p:sp>
      <p:sp>
        <p:nvSpPr>
          <p:cNvPr id="308" name="Google Shape;308;p14"/>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9" name="Google Shape;309;p14"/>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0" name="Google Shape;310;p14"/>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b="1">
                <a:solidFill>
                  <a:srgbClr val="FFFFFF"/>
                </a:solidFill>
              </a:rPr>
              <a:t>12</a:t>
            </a:r>
            <a:endParaRPr sz="1400" b="0" i="0" u="none" strike="noStrike" cap="none">
              <a:solidFill>
                <a:schemeClr val="dk1"/>
              </a:solidFill>
              <a:latin typeface="Calibri"/>
              <a:ea typeface="Calibri"/>
              <a:cs typeface="Calibri"/>
              <a:sym typeface="Calibri"/>
            </a:endParaRPr>
          </a:p>
        </p:txBody>
      </p:sp>
      <p:sp>
        <p:nvSpPr>
          <p:cNvPr id="311" name="Google Shape;311;p14"/>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312" name="Google Shape;312;p14"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pic>
        <p:nvPicPr>
          <p:cNvPr id="313" name="Google Shape;313;p14"/>
          <p:cNvPicPr preferRelativeResize="0"/>
          <p:nvPr/>
        </p:nvPicPr>
        <p:blipFill rotWithShape="1">
          <a:blip r:embed="rId4">
            <a:alphaModFix/>
          </a:blip>
          <a:srcRect/>
          <a:stretch/>
        </p:blipFill>
        <p:spPr>
          <a:xfrm>
            <a:off x="0" y="860300"/>
            <a:ext cx="8081551" cy="5851396"/>
          </a:xfrm>
          <a:prstGeom prst="rect">
            <a:avLst/>
          </a:prstGeom>
          <a:noFill/>
          <a:ln>
            <a:noFill/>
          </a:ln>
        </p:spPr>
      </p:pic>
      <p:sp>
        <p:nvSpPr>
          <p:cNvPr id="314" name="Google Shape;314;p14"/>
          <p:cNvSpPr txBox="1"/>
          <p:nvPr/>
        </p:nvSpPr>
        <p:spPr>
          <a:xfrm>
            <a:off x="8081550" y="5803200"/>
            <a:ext cx="4856400" cy="91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t>Cells show z-scores vs LIWC-22 benchmark corpus</a:t>
            </a:r>
            <a:endParaRPr sz="1600"/>
          </a:p>
          <a:p>
            <a:pPr marL="0" lvl="0" indent="0" algn="l" rtl="0">
              <a:spcBef>
                <a:spcPts val="0"/>
              </a:spcBef>
              <a:spcAft>
                <a:spcPts val="0"/>
              </a:spcAft>
              <a:buNone/>
            </a:pPr>
            <a:r>
              <a:rPr lang="en-US" sz="1600"/>
              <a:t>0 = benchmark mean</a:t>
            </a:r>
            <a:endParaRPr sz="1600"/>
          </a:p>
          <a:p>
            <a:pPr marL="0" lvl="0" indent="0" algn="l" rtl="0">
              <a:spcBef>
                <a:spcPts val="0"/>
              </a:spcBef>
              <a:spcAft>
                <a:spcPts val="0"/>
              </a:spcAft>
              <a:buNone/>
            </a:pPr>
            <a:r>
              <a:rPr lang="en-US" sz="1600"/>
              <a:t>±1 = one standard deviation.</a:t>
            </a:r>
            <a:endParaRPr sz="1600"/>
          </a:p>
        </p:txBody>
      </p:sp>
      <p:sp>
        <p:nvSpPr>
          <p:cNvPr id="315" name="Google Shape;315;p14"/>
          <p:cNvSpPr txBox="1"/>
          <p:nvPr/>
        </p:nvSpPr>
        <p:spPr>
          <a:xfrm>
            <a:off x="8221950" y="1030025"/>
            <a:ext cx="4478400" cy="9177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US" sz="2000" b="1"/>
              <a:t>All politicians sound political but age still creates a gradient</a:t>
            </a:r>
            <a:endParaRPr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320"/>
        <p:cNvGrpSpPr/>
        <p:nvPr/>
      </p:nvGrpSpPr>
      <p:grpSpPr>
        <a:xfrm>
          <a:off x="0" y="0"/>
          <a:ext cx="0" cy="0"/>
          <a:chOff x="0" y="0"/>
          <a:chExt cx="0" cy="0"/>
        </a:xfrm>
      </p:grpSpPr>
      <p:sp>
        <p:nvSpPr>
          <p:cNvPr id="321" name="Google Shape;321;p15"/>
          <p:cNvSpPr/>
          <p:nvPr/>
        </p:nvSpPr>
        <p:spPr>
          <a:xfrm>
            <a:off x="7360921" y="4093567"/>
            <a:ext cx="52122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2200" b="1" i="0" u="none" strike="noStrike" cap="none">
                <a:solidFill>
                  <a:schemeClr val="dk1"/>
                </a:solidFill>
                <a:latin typeface="Calibri"/>
                <a:ea typeface="Calibri"/>
                <a:cs typeface="Calibri"/>
                <a:sym typeface="Calibri"/>
              </a:rPr>
              <a:t>Ideology</a:t>
            </a:r>
            <a:endParaRPr sz="2200" b="1" i="0" u="none" strike="noStrike" cap="none">
              <a:solidFill>
                <a:schemeClr val="dk1"/>
              </a:solidFill>
              <a:latin typeface="Calibri"/>
              <a:ea typeface="Calibri"/>
              <a:cs typeface="Calibri"/>
              <a:sym typeface="Calibri"/>
            </a:endParaRPr>
          </a:p>
        </p:txBody>
      </p:sp>
      <p:sp>
        <p:nvSpPr>
          <p:cNvPr id="323" name="Google Shape;323;p15"/>
          <p:cNvSpPr/>
          <p:nvPr/>
        </p:nvSpPr>
        <p:spPr>
          <a:xfrm>
            <a:off x="0" y="0"/>
            <a:ext cx="612600" cy="7773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4" name="Google Shape;324;p15"/>
          <p:cNvSpPr/>
          <p:nvPr/>
        </p:nvSpPr>
        <p:spPr>
          <a:xfrm>
            <a:off x="0" y="777240"/>
            <a:ext cx="12937800" cy="456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25" name="Google Shape;325;p15"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326" name="Google Shape;326;p15"/>
          <p:cNvSpPr/>
          <p:nvPr/>
        </p:nvSpPr>
        <p:spPr>
          <a:xfrm>
            <a:off x="731525" y="45725"/>
            <a:ext cx="10287000" cy="71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2800" b="1">
                <a:solidFill>
                  <a:schemeClr val="dk1"/>
                </a:solidFill>
                <a:latin typeface="Calibri"/>
                <a:ea typeface="Calibri"/>
                <a:cs typeface="Calibri"/>
                <a:sym typeface="Calibri"/>
              </a:rPr>
              <a:t>Political Left to Right Spectrum</a:t>
            </a:r>
            <a:endParaRPr sz="2800" b="1" i="0" u="none" strike="noStrike" cap="none">
              <a:solidFill>
                <a:schemeClr val="dk1"/>
              </a:solidFill>
              <a:latin typeface="Calibri"/>
              <a:ea typeface="Calibri"/>
              <a:cs typeface="Calibri"/>
              <a:sym typeface="Calibri"/>
            </a:endParaRPr>
          </a:p>
        </p:txBody>
      </p:sp>
      <p:sp>
        <p:nvSpPr>
          <p:cNvPr id="327" name="Google Shape;327;p15"/>
          <p:cNvSpPr/>
          <p:nvPr/>
        </p:nvSpPr>
        <p:spPr>
          <a:xfrm>
            <a:off x="-7075" y="5558535"/>
            <a:ext cx="12937800" cy="1756665"/>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2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8" name="Google Shape;328;p15"/>
          <p:cNvSpPr/>
          <p:nvPr/>
        </p:nvSpPr>
        <p:spPr>
          <a:xfrm flipH="1">
            <a:off x="-6965" y="5604075"/>
            <a:ext cx="69600" cy="17112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9" name="Google Shape;329;p15"/>
          <p:cNvSpPr txBox="1"/>
          <p:nvPr/>
        </p:nvSpPr>
        <p:spPr>
          <a:xfrm>
            <a:off x="76566" y="5456354"/>
            <a:ext cx="12868200" cy="1756666"/>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1200"/>
              </a:spcBef>
              <a:spcAft>
                <a:spcPts val="0"/>
              </a:spcAft>
              <a:buClr>
                <a:schemeClr val="dk1"/>
              </a:buClr>
              <a:buSzPts val="2200"/>
              <a:buChar char="●"/>
            </a:pPr>
            <a:r>
              <a:rPr lang="en-US" sz="2200" b="1" dirty="0">
                <a:solidFill>
                  <a:schemeClr val="dk1"/>
                </a:solidFill>
              </a:rPr>
              <a:t>The surprising finding: ideology barely matters</a:t>
            </a:r>
            <a:endParaRPr sz="2200" b="1"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dirty="0">
                <a:solidFill>
                  <a:schemeClr val="dk1"/>
                </a:solidFill>
              </a:rPr>
              <a:t>Across the full left–right spectrum, linguistic style stays remarkably stable.</a:t>
            </a:r>
            <a:endParaRPr sz="2200"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dirty="0">
                <a:solidFill>
                  <a:schemeClr val="dk1"/>
                </a:solidFill>
              </a:rPr>
              <a:t>The dominant contrast is not left vs. right - it's parliamentary language vs. everyday language.</a:t>
            </a:r>
            <a:endParaRPr sz="2200"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i="1" dirty="0">
                <a:solidFill>
                  <a:schemeClr val="dk1"/>
                </a:solidFill>
              </a:rPr>
              <a:t>Parliament standardizes how you speak more than your ideology does</a:t>
            </a:r>
            <a:endParaRPr sz="2200" i="1" dirty="0">
              <a:solidFill>
                <a:schemeClr val="dk1"/>
              </a:solidFill>
            </a:endParaRPr>
          </a:p>
        </p:txBody>
      </p:sp>
      <p:pic>
        <p:nvPicPr>
          <p:cNvPr id="322" name="Google Shape;322;p15"/>
          <p:cNvPicPr preferRelativeResize="0"/>
          <p:nvPr/>
        </p:nvPicPr>
        <p:blipFill rotWithShape="1">
          <a:blip r:embed="rId4">
            <a:alphaModFix/>
          </a:blip>
          <a:srcRect/>
          <a:stretch/>
        </p:blipFill>
        <p:spPr>
          <a:xfrm>
            <a:off x="-25" y="858925"/>
            <a:ext cx="12937851" cy="4745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334"/>
        <p:cNvGrpSpPr/>
        <p:nvPr/>
      </p:nvGrpSpPr>
      <p:grpSpPr>
        <a:xfrm>
          <a:off x="0" y="0"/>
          <a:ext cx="0" cy="0"/>
          <a:chOff x="0" y="0"/>
          <a:chExt cx="0" cy="0"/>
        </a:xfrm>
      </p:grpSpPr>
      <p:sp>
        <p:nvSpPr>
          <p:cNvPr id="335" name="Google Shape;335;p16"/>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36" name="Google Shape;336;p16"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337" name="Google Shape;337;p16"/>
          <p:cNvSpPr/>
          <p:nvPr/>
        </p:nvSpPr>
        <p:spPr>
          <a:xfrm>
            <a:off x="777240" y="45720"/>
            <a:ext cx="1024128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200" b="1" i="0" u="none" strike="noStrike" cap="none">
                <a:solidFill>
                  <a:srgbClr val="0F0F0F"/>
                </a:solidFill>
                <a:latin typeface="Arial"/>
                <a:ea typeface="Arial"/>
                <a:cs typeface="Arial"/>
                <a:sym typeface="Arial"/>
              </a:rPr>
              <a:t>Agenda Dynamics: Crises Reallocate Attention</a:t>
            </a:r>
            <a:endParaRPr sz="2200" b="0" i="0" u="none" strike="noStrike" cap="none">
              <a:solidFill>
                <a:schemeClr val="dk1"/>
              </a:solidFill>
              <a:latin typeface="Calibri"/>
              <a:ea typeface="Calibri"/>
              <a:cs typeface="Calibri"/>
              <a:sym typeface="Calibri"/>
            </a:endParaRPr>
          </a:p>
        </p:txBody>
      </p:sp>
      <p:sp>
        <p:nvSpPr>
          <p:cNvPr id="338" name="Google Shape;338;p16"/>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39" name="Google Shape;339;p16" descr="preencoded.png"/>
          <p:cNvPicPr preferRelativeResize="0"/>
          <p:nvPr/>
        </p:nvPicPr>
        <p:blipFill rotWithShape="1">
          <a:blip r:embed="rId4">
            <a:alphaModFix/>
          </a:blip>
          <a:srcRect/>
          <a:stretch/>
        </p:blipFill>
        <p:spPr>
          <a:xfrm>
            <a:off x="200" y="0"/>
            <a:ext cx="12937850" cy="5074925"/>
          </a:xfrm>
          <a:prstGeom prst="rect">
            <a:avLst/>
          </a:prstGeom>
          <a:noFill/>
          <a:ln>
            <a:noFill/>
          </a:ln>
        </p:spPr>
      </p:pic>
      <p:sp>
        <p:nvSpPr>
          <p:cNvPr id="340" name="Google Shape;340;p16"/>
          <p:cNvSpPr/>
          <p:nvPr/>
        </p:nvSpPr>
        <p:spPr>
          <a:xfrm>
            <a:off x="228600" y="5074920"/>
            <a:ext cx="4069080" cy="146304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1" name="Google Shape;341;p16"/>
          <p:cNvSpPr/>
          <p:nvPr/>
        </p:nvSpPr>
        <p:spPr>
          <a:xfrm>
            <a:off x="228600" y="5074920"/>
            <a:ext cx="54864" cy="14630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2" name="Google Shape;342;p16"/>
          <p:cNvSpPr/>
          <p:nvPr/>
        </p:nvSpPr>
        <p:spPr>
          <a:xfrm>
            <a:off x="457200" y="5138928"/>
            <a:ext cx="370332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200"/>
              <a:buFont typeface="Arial"/>
              <a:buNone/>
            </a:pPr>
            <a:r>
              <a:rPr lang="en-US" sz="2000" b="1" i="0" u="none" strike="noStrike" cap="none">
                <a:solidFill>
                  <a:srgbClr val="0F0F0F"/>
                </a:solidFill>
                <a:latin typeface="Arial"/>
                <a:ea typeface="Arial"/>
                <a:cs typeface="Arial"/>
                <a:sym typeface="Arial"/>
              </a:rPr>
              <a:t>COVID-19 substitution</a:t>
            </a:r>
            <a:endParaRPr sz="2000" b="0" i="0" u="none" strike="noStrike" cap="none">
              <a:solidFill>
                <a:schemeClr val="dk1"/>
              </a:solidFill>
              <a:latin typeface="Calibri"/>
              <a:ea typeface="Calibri"/>
              <a:cs typeface="Calibri"/>
              <a:sym typeface="Calibri"/>
            </a:endParaRPr>
          </a:p>
        </p:txBody>
      </p:sp>
      <p:sp>
        <p:nvSpPr>
          <p:cNvPr id="343" name="Google Shape;343;p16"/>
          <p:cNvSpPr/>
          <p:nvPr/>
        </p:nvSpPr>
        <p:spPr>
          <a:xfrm>
            <a:off x="457200" y="5486400"/>
            <a:ext cx="3703320" cy="9601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50"/>
              <a:buFont typeface="Arial"/>
              <a:buNone/>
            </a:pPr>
            <a:r>
              <a:rPr lang="en-US" sz="1650" b="0" i="0" u="none" strike="noStrike" cap="none" dirty="0">
                <a:solidFill>
                  <a:srgbClr val="333333"/>
                </a:solidFill>
                <a:latin typeface="Arial"/>
                <a:ea typeface="Arial"/>
                <a:cs typeface="Arial"/>
                <a:sym typeface="Arial"/>
              </a:rPr>
              <a:t>Health spikes sharply; Macroeconomics falls.</a:t>
            </a:r>
            <a:endParaRPr sz="1650" b="0" i="0" u="none" strike="noStrike" cap="none" dirty="0">
              <a:solidFill>
                <a:schemeClr val="dk1"/>
              </a:solidFill>
              <a:latin typeface="Calibri"/>
              <a:ea typeface="Calibri"/>
              <a:cs typeface="Calibri"/>
              <a:sym typeface="Calibri"/>
            </a:endParaRPr>
          </a:p>
        </p:txBody>
      </p:sp>
      <p:sp>
        <p:nvSpPr>
          <p:cNvPr id="344" name="Google Shape;344;p16"/>
          <p:cNvSpPr/>
          <p:nvPr/>
        </p:nvSpPr>
        <p:spPr>
          <a:xfrm>
            <a:off x="4480560" y="5074920"/>
            <a:ext cx="4069080" cy="146304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5" name="Google Shape;345;p16"/>
          <p:cNvSpPr/>
          <p:nvPr/>
        </p:nvSpPr>
        <p:spPr>
          <a:xfrm>
            <a:off x="4480560" y="5074920"/>
            <a:ext cx="54900" cy="14631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6" name="Google Shape;346;p16"/>
          <p:cNvSpPr/>
          <p:nvPr/>
        </p:nvSpPr>
        <p:spPr>
          <a:xfrm>
            <a:off x="4709160" y="5138928"/>
            <a:ext cx="370332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200"/>
              <a:buFont typeface="Arial"/>
              <a:buNone/>
            </a:pPr>
            <a:r>
              <a:rPr lang="en-US" sz="2000" b="1" i="0" u="none" strike="noStrike" cap="none">
                <a:solidFill>
                  <a:srgbClr val="0F0F0F"/>
                </a:solidFill>
                <a:latin typeface="Arial"/>
                <a:ea typeface="Arial"/>
                <a:cs typeface="Arial"/>
                <a:sym typeface="Arial"/>
              </a:rPr>
              <a:t>Budget-cycle rhythm</a:t>
            </a:r>
            <a:endParaRPr sz="2000" b="0" i="0" u="none" strike="noStrike" cap="none">
              <a:solidFill>
                <a:schemeClr val="dk1"/>
              </a:solidFill>
              <a:latin typeface="Calibri"/>
              <a:ea typeface="Calibri"/>
              <a:cs typeface="Calibri"/>
              <a:sym typeface="Calibri"/>
            </a:endParaRPr>
          </a:p>
        </p:txBody>
      </p:sp>
      <p:sp>
        <p:nvSpPr>
          <p:cNvPr id="347" name="Google Shape;347;p16"/>
          <p:cNvSpPr/>
          <p:nvPr/>
        </p:nvSpPr>
        <p:spPr>
          <a:xfrm>
            <a:off x="4709160" y="5486400"/>
            <a:ext cx="3703320" cy="9601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50"/>
              <a:buFont typeface="Arial"/>
              <a:buNone/>
            </a:pPr>
            <a:r>
              <a:rPr lang="en-US" sz="1650" b="0" i="0" u="none" strike="noStrike" cap="none" dirty="0">
                <a:solidFill>
                  <a:srgbClr val="333333"/>
                </a:solidFill>
                <a:latin typeface="Arial"/>
                <a:ea typeface="Arial"/>
                <a:cs typeface="Arial"/>
                <a:sym typeface="Arial"/>
              </a:rPr>
              <a:t>Macroeconomics peaks every autumn when the budget is debated, then recedes - visible in all three countries.</a:t>
            </a:r>
            <a:endParaRPr sz="1650" b="0" i="0" u="none" strike="noStrike" cap="none" dirty="0">
              <a:solidFill>
                <a:schemeClr val="dk1"/>
              </a:solidFill>
              <a:latin typeface="Calibri"/>
              <a:ea typeface="Calibri"/>
              <a:cs typeface="Calibri"/>
              <a:sym typeface="Calibri"/>
            </a:endParaRPr>
          </a:p>
        </p:txBody>
      </p:sp>
      <p:sp>
        <p:nvSpPr>
          <p:cNvPr id="348" name="Google Shape;348;p16"/>
          <p:cNvSpPr/>
          <p:nvPr/>
        </p:nvSpPr>
        <p:spPr>
          <a:xfrm>
            <a:off x="8732520" y="5074920"/>
            <a:ext cx="4069080" cy="146304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9" name="Google Shape;349;p16"/>
          <p:cNvSpPr/>
          <p:nvPr/>
        </p:nvSpPr>
        <p:spPr>
          <a:xfrm>
            <a:off x="8732520" y="5074920"/>
            <a:ext cx="54864" cy="14630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0" name="Google Shape;350;p16"/>
          <p:cNvSpPr/>
          <p:nvPr/>
        </p:nvSpPr>
        <p:spPr>
          <a:xfrm>
            <a:off x="8961120" y="5138928"/>
            <a:ext cx="370332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200"/>
              <a:buFont typeface="Arial"/>
              <a:buNone/>
            </a:pPr>
            <a:r>
              <a:rPr lang="en-US" sz="2000" b="1" i="0" u="none" strike="noStrike" cap="none">
                <a:solidFill>
                  <a:srgbClr val="0F0F0F"/>
                </a:solidFill>
                <a:latin typeface="Arial"/>
                <a:ea typeface="Arial"/>
                <a:cs typeface="Arial"/>
                <a:sym typeface="Arial"/>
              </a:rPr>
              <a:t>Effects revert</a:t>
            </a:r>
            <a:endParaRPr sz="2000" b="0" i="0" u="none" strike="noStrike" cap="none">
              <a:solidFill>
                <a:schemeClr val="dk1"/>
              </a:solidFill>
              <a:latin typeface="Calibri"/>
              <a:ea typeface="Calibri"/>
              <a:cs typeface="Calibri"/>
              <a:sym typeface="Calibri"/>
            </a:endParaRPr>
          </a:p>
        </p:txBody>
      </p:sp>
      <p:sp>
        <p:nvSpPr>
          <p:cNvPr id="351" name="Google Shape;351;p16"/>
          <p:cNvSpPr/>
          <p:nvPr/>
        </p:nvSpPr>
        <p:spPr>
          <a:xfrm>
            <a:off x="8868850" y="5486400"/>
            <a:ext cx="3932700" cy="960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50"/>
              <a:buFont typeface="Arial"/>
              <a:buNone/>
            </a:pPr>
            <a:r>
              <a:rPr lang="en-US" sz="1650" b="0" i="0" u="none" strike="noStrike" cap="none" dirty="0">
                <a:solidFill>
                  <a:srgbClr val="333333"/>
                </a:solidFill>
                <a:latin typeface="Arial"/>
                <a:ea typeface="Arial"/>
                <a:cs typeface="Arial"/>
                <a:sym typeface="Arial"/>
              </a:rPr>
              <a:t>Both series return toward their long-run baseline post-crisis. Shocks are temporary reallocations, not structural shifts</a:t>
            </a:r>
            <a:r>
              <a:rPr lang="en-US" sz="1650" dirty="0">
                <a:solidFill>
                  <a:srgbClr val="333333"/>
                </a:solidFill>
              </a:rPr>
              <a:t>.</a:t>
            </a:r>
            <a:endParaRPr sz="1650" b="0" i="0" u="none" strike="noStrike" cap="none" dirty="0">
              <a:solidFill>
                <a:schemeClr val="dk1"/>
              </a:solidFill>
              <a:latin typeface="Calibri"/>
              <a:ea typeface="Calibri"/>
              <a:cs typeface="Calibri"/>
              <a:sym typeface="Calibri"/>
            </a:endParaRPr>
          </a:p>
        </p:txBody>
      </p:sp>
      <p:sp>
        <p:nvSpPr>
          <p:cNvPr id="352" name="Google Shape;352;p16"/>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3" name="Google Shape;353;p16"/>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4" name="Google Shape;354;p16"/>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1</a:t>
            </a:r>
            <a:r>
              <a:rPr lang="en-US" b="1">
                <a:solidFill>
                  <a:srgbClr val="FFFFFF"/>
                </a:solidFill>
              </a:rPr>
              <a:t>4</a:t>
            </a:r>
            <a:endParaRPr sz="1400" b="0" i="0" u="none" strike="noStrike" cap="none">
              <a:solidFill>
                <a:schemeClr val="dk1"/>
              </a:solidFill>
              <a:latin typeface="Calibri"/>
              <a:ea typeface="Calibri"/>
              <a:cs typeface="Calibri"/>
              <a:sym typeface="Calibri"/>
            </a:endParaRPr>
          </a:p>
        </p:txBody>
      </p:sp>
      <p:sp>
        <p:nvSpPr>
          <p:cNvPr id="355" name="Google Shape;355;p16"/>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356" name="Google Shape;356;p16"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
        <p:nvSpPr>
          <p:cNvPr id="357" name="Google Shape;357;p16"/>
          <p:cNvSpPr txBox="1"/>
          <p:nvPr/>
        </p:nvSpPr>
        <p:spPr>
          <a:xfrm>
            <a:off x="731525" y="3664375"/>
            <a:ext cx="6621000" cy="116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rgbClr val="FF0000"/>
                </a:solidFill>
              </a:rPr>
              <a:t>Red line - % of speeches about Macroeconomics</a:t>
            </a:r>
            <a:endParaRPr sz="2000" b="1"/>
          </a:p>
          <a:p>
            <a:pPr marL="0" lvl="0" indent="0" algn="l" rtl="0">
              <a:spcBef>
                <a:spcPts val="0"/>
              </a:spcBef>
              <a:spcAft>
                <a:spcPts val="0"/>
              </a:spcAft>
              <a:buNone/>
            </a:pPr>
            <a:endParaRPr sz="2000" b="1"/>
          </a:p>
          <a:p>
            <a:pPr marL="0" lvl="0" indent="0" algn="l" rtl="0">
              <a:spcBef>
                <a:spcPts val="0"/>
              </a:spcBef>
              <a:spcAft>
                <a:spcPts val="0"/>
              </a:spcAft>
              <a:buNone/>
            </a:pPr>
            <a:r>
              <a:rPr lang="en-US" sz="2000" b="1">
                <a:solidFill>
                  <a:srgbClr val="F1C232"/>
                </a:solidFill>
              </a:rPr>
              <a:t>Gold line - % of speeches about Health</a:t>
            </a:r>
            <a:endParaRPr sz="2000" b="1">
              <a:solidFill>
                <a:srgbClr val="F1C23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362"/>
        <p:cNvGrpSpPr/>
        <p:nvPr/>
      </p:nvGrpSpPr>
      <p:grpSpPr>
        <a:xfrm>
          <a:off x="0" y="0"/>
          <a:ext cx="0" cy="0"/>
          <a:chOff x="0" y="0"/>
          <a:chExt cx="0" cy="0"/>
        </a:xfrm>
      </p:grpSpPr>
      <p:sp>
        <p:nvSpPr>
          <p:cNvPr id="363" name="Google Shape;363;p17"/>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64" name="Google Shape;364;p17"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365" name="Google Shape;365;p17"/>
          <p:cNvSpPr/>
          <p:nvPr/>
        </p:nvSpPr>
        <p:spPr>
          <a:xfrm>
            <a:off x="777240" y="45720"/>
            <a:ext cx="1024128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200" b="1" i="0" u="none" strike="noStrike" cap="none">
                <a:solidFill>
                  <a:srgbClr val="0F0F0F"/>
                </a:solidFill>
                <a:latin typeface="Arial"/>
                <a:ea typeface="Arial"/>
                <a:cs typeface="Arial"/>
                <a:sym typeface="Arial"/>
              </a:rPr>
              <a:t>Rhetoric Follows Crises — and Mean-Reverts</a:t>
            </a:r>
            <a:endParaRPr sz="2200" b="0" i="0" u="none" strike="noStrike" cap="none">
              <a:solidFill>
                <a:schemeClr val="dk1"/>
              </a:solidFill>
              <a:latin typeface="Calibri"/>
              <a:ea typeface="Calibri"/>
              <a:cs typeface="Calibri"/>
              <a:sym typeface="Calibri"/>
            </a:endParaRPr>
          </a:p>
        </p:txBody>
      </p:sp>
      <p:sp>
        <p:nvSpPr>
          <p:cNvPr id="366" name="Google Shape;366;p17"/>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67" name="Google Shape;367;p17" descr="preencoded.png"/>
          <p:cNvPicPr preferRelativeResize="0"/>
          <p:nvPr/>
        </p:nvPicPr>
        <p:blipFill rotWithShape="1">
          <a:blip r:embed="rId4">
            <a:alphaModFix/>
          </a:blip>
          <a:srcRect/>
          <a:stretch/>
        </p:blipFill>
        <p:spPr>
          <a:xfrm>
            <a:off x="300" y="8943"/>
            <a:ext cx="12937825" cy="5230566"/>
          </a:xfrm>
          <a:prstGeom prst="rect">
            <a:avLst/>
          </a:prstGeom>
          <a:noFill/>
          <a:ln>
            <a:noFill/>
          </a:ln>
        </p:spPr>
      </p:pic>
      <p:sp>
        <p:nvSpPr>
          <p:cNvPr id="368" name="Google Shape;368;p17"/>
          <p:cNvSpPr/>
          <p:nvPr/>
        </p:nvSpPr>
        <p:spPr>
          <a:xfrm>
            <a:off x="228600" y="5321799"/>
            <a:ext cx="6309300" cy="13716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9" name="Google Shape;369;p17"/>
          <p:cNvSpPr/>
          <p:nvPr/>
        </p:nvSpPr>
        <p:spPr>
          <a:xfrm>
            <a:off x="228567" y="5321799"/>
            <a:ext cx="54900" cy="13533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0" name="Google Shape;370;p17"/>
          <p:cNvSpPr/>
          <p:nvPr/>
        </p:nvSpPr>
        <p:spPr>
          <a:xfrm>
            <a:off x="457200" y="5385816"/>
            <a:ext cx="5943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300"/>
              <a:buFont typeface="Arial"/>
              <a:buNone/>
            </a:pPr>
            <a:r>
              <a:rPr lang="en-US" sz="1800" b="1" i="0" u="none" strike="noStrike" cap="none">
                <a:solidFill>
                  <a:srgbClr val="0F0F0F"/>
                </a:solidFill>
                <a:latin typeface="Arial"/>
                <a:ea typeface="Arial"/>
                <a:cs typeface="Arial"/>
                <a:sym typeface="Arial"/>
              </a:rPr>
              <a:t>Crisis spikes</a:t>
            </a:r>
            <a:endParaRPr sz="1800" b="0" i="0" u="none" strike="noStrike" cap="none">
              <a:solidFill>
                <a:schemeClr val="dk1"/>
              </a:solidFill>
              <a:latin typeface="Calibri"/>
              <a:ea typeface="Calibri"/>
              <a:cs typeface="Calibri"/>
              <a:sym typeface="Calibri"/>
            </a:endParaRPr>
          </a:p>
        </p:txBody>
      </p:sp>
      <p:sp>
        <p:nvSpPr>
          <p:cNvPr id="371" name="Google Shape;371;p17"/>
          <p:cNvSpPr/>
          <p:nvPr/>
        </p:nvSpPr>
        <p:spPr>
          <a:xfrm>
            <a:off x="457200" y="5733302"/>
            <a:ext cx="5943600" cy="94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200"/>
              <a:buFont typeface="Arial"/>
              <a:buNone/>
            </a:pPr>
            <a:r>
              <a:rPr lang="en-US" sz="1600" b="0" i="0" u="none" strike="noStrike" cap="none">
                <a:solidFill>
                  <a:srgbClr val="333333"/>
                </a:solidFill>
                <a:latin typeface="Arial"/>
                <a:ea typeface="Arial"/>
                <a:cs typeface="Arial"/>
                <a:sym typeface="Arial"/>
              </a:rPr>
              <a:t>politic language surges during migration crisis (2015), COVID-19 (2020), and the Ukraine war (2022) </a:t>
            </a:r>
            <a:r>
              <a:rPr lang="en-US" sz="1600">
                <a:solidFill>
                  <a:srgbClr val="333333"/>
                </a:solidFill>
              </a:rPr>
              <a:t>- </a:t>
            </a:r>
            <a:r>
              <a:rPr lang="en-US" sz="1600" b="0" i="0" u="none" strike="noStrike" cap="none">
                <a:solidFill>
                  <a:srgbClr val="333333"/>
                </a:solidFill>
                <a:latin typeface="Arial"/>
                <a:ea typeface="Arial"/>
                <a:cs typeface="Arial"/>
                <a:sym typeface="Arial"/>
              </a:rPr>
              <a:t>across all three parliaments.</a:t>
            </a:r>
            <a:endParaRPr sz="1600" b="0" i="0" u="none" strike="noStrike" cap="none">
              <a:solidFill>
                <a:schemeClr val="dk1"/>
              </a:solidFill>
              <a:latin typeface="Calibri"/>
              <a:ea typeface="Calibri"/>
              <a:cs typeface="Calibri"/>
              <a:sym typeface="Calibri"/>
            </a:endParaRPr>
          </a:p>
        </p:txBody>
      </p:sp>
      <p:sp>
        <p:nvSpPr>
          <p:cNvPr id="372" name="Google Shape;372;p17"/>
          <p:cNvSpPr/>
          <p:nvPr/>
        </p:nvSpPr>
        <p:spPr>
          <a:xfrm>
            <a:off x="6720850" y="5321800"/>
            <a:ext cx="6080700" cy="1353300"/>
          </a:xfrm>
          <a:prstGeom prst="rect">
            <a:avLst/>
          </a:prstGeom>
          <a:solidFill>
            <a:srgbClr val="F5F5F5"/>
          </a:solidFill>
          <a:ln w="12700" cap="flat" cmpd="sng">
            <a:solidFill>
              <a:srgbClr val="DDDDDD"/>
            </a:solidFill>
            <a:prstDash val="solid"/>
            <a:round/>
            <a:headEnd type="none" w="sm" len="sm"/>
            <a:tailEnd type="none" w="sm" len="sm"/>
          </a:ln>
          <a:effectLst>
            <a:outerShdw blurRad="508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3" name="Google Shape;373;p17"/>
          <p:cNvSpPr/>
          <p:nvPr/>
        </p:nvSpPr>
        <p:spPr>
          <a:xfrm>
            <a:off x="6716299" y="5333019"/>
            <a:ext cx="54900" cy="13716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4" name="Google Shape;374;p17"/>
          <p:cNvSpPr/>
          <p:nvPr/>
        </p:nvSpPr>
        <p:spPr>
          <a:xfrm>
            <a:off x="6958590" y="5285229"/>
            <a:ext cx="5943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1300"/>
              <a:buFont typeface="Arial"/>
              <a:buNone/>
            </a:pPr>
            <a:r>
              <a:rPr lang="en-US" sz="1800" b="1" i="0" u="none" strike="noStrike" cap="none">
                <a:solidFill>
                  <a:srgbClr val="0F0F0F"/>
                </a:solidFill>
                <a:latin typeface="Arial"/>
                <a:ea typeface="Arial"/>
                <a:cs typeface="Arial"/>
                <a:sym typeface="Arial"/>
              </a:rPr>
              <a:t>Mean-reversion</a:t>
            </a:r>
            <a:endParaRPr sz="1800" b="0" i="0" u="none" strike="noStrike" cap="none">
              <a:solidFill>
                <a:schemeClr val="dk1"/>
              </a:solidFill>
              <a:latin typeface="Calibri"/>
              <a:ea typeface="Calibri"/>
              <a:cs typeface="Calibri"/>
              <a:sym typeface="Calibri"/>
            </a:endParaRPr>
          </a:p>
        </p:txBody>
      </p:sp>
      <p:sp>
        <p:nvSpPr>
          <p:cNvPr id="375" name="Google Shape;375;p17"/>
          <p:cNvSpPr/>
          <p:nvPr/>
        </p:nvSpPr>
        <p:spPr>
          <a:xfrm>
            <a:off x="6882525" y="5705850"/>
            <a:ext cx="6010500" cy="101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200"/>
              <a:buFont typeface="Arial"/>
              <a:buNone/>
            </a:pPr>
            <a:r>
              <a:rPr lang="en-US" sz="1600" b="0" i="0" u="none" strike="noStrike" cap="none">
                <a:solidFill>
                  <a:srgbClr val="333333"/>
                </a:solidFill>
                <a:latin typeface="Arial"/>
                <a:ea typeface="Arial"/>
                <a:cs typeface="Arial"/>
                <a:sym typeface="Arial"/>
              </a:rPr>
              <a:t>No permanent elevation: rhetoric returns to the institutional baseline once the acute crisis phase passes. Reversion rates differ by dimension (politic faster than moral)</a:t>
            </a:r>
            <a:r>
              <a:rPr lang="en-US" sz="1600">
                <a:solidFill>
                  <a:srgbClr val="333333"/>
                </a:solidFill>
              </a:rPr>
              <a:t>.</a:t>
            </a:r>
            <a:endParaRPr sz="1600" b="0" i="0" u="none" strike="noStrike" cap="none">
              <a:solidFill>
                <a:schemeClr val="dk1"/>
              </a:solidFill>
              <a:latin typeface="Calibri"/>
              <a:ea typeface="Calibri"/>
              <a:cs typeface="Calibri"/>
              <a:sym typeface="Calibri"/>
            </a:endParaRPr>
          </a:p>
        </p:txBody>
      </p:sp>
      <p:sp>
        <p:nvSpPr>
          <p:cNvPr id="376" name="Google Shape;376;p17"/>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7" name="Google Shape;377;p17"/>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8" name="Google Shape;378;p17"/>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b="1">
                <a:solidFill>
                  <a:srgbClr val="FFFFFF"/>
                </a:solidFill>
              </a:rPr>
              <a:t>15</a:t>
            </a:r>
            <a:endParaRPr sz="1400" b="0" i="0" u="none" strike="noStrike" cap="none">
              <a:solidFill>
                <a:schemeClr val="dk1"/>
              </a:solidFill>
              <a:latin typeface="Calibri"/>
              <a:ea typeface="Calibri"/>
              <a:cs typeface="Calibri"/>
              <a:sym typeface="Calibri"/>
            </a:endParaRPr>
          </a:p>
        </p:txBody>
      </p:sp>
      <p:sp>
        <p:nvSpPr>
          <p:cNvPr id="379" name="Google Shape;379;p17"/>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380" name="Google Shape;380;p17"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
        <p:nvSpPr>
          <p:cNvPr id="381" name="Google Shape;381;p17"/>
          <p:cNvSpPr txBox="1"/>
          <p:nvPr/>
        </p:nvSpPr>
        <p:spPr>
          <a:xfrm>
            <a:off x="1170499" y="3777362"/>
            <a:ext cx="5545800" cy="101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dirty="0">
                <a:solidFill>
                  <a:srgbClr val="FF0000"/>
                </a:solidFill>
              </a:rPr>
              <a:t>red - politic  </a:t>
            </a:r>
            <a:r>
              <a:rPr lang="en-US" sz="2000" b="1" dirty="0"/>
              <a:t>            </a:t>
            </a:r>
            <a:r>
              <a:rPr lang="en-US" sz="2000" b="1" dirty="0">
                <a:solidFill>
                  <a:srgbClr val="FFD966"/>
                </a:solidFill>
              </a:rPr>
              <a:t> gold- power</a:t>
            </a:r>
          </a:p>
          <a:p>
            <a:pPr marL="0" lvl="0" indent="0" algn="l" rtl="0">
              <a:spcBef>
                <a:spcPts val="0"/>
              </a:spcBef>
              <a:spcAft>
                <a:spcPts val="0"/>
              </a:spcAft>
              <a:buNone/>
            </a:pPr>
            <a:endParaRPr sz="2000" b="1" dirty="0">
              <a:solidFill>
                <a:srgbClr val="FFD966"/>
              </a:solidFill>
            </a:endParaRPr>
          </a:p>
          <a:p>
            <a:pPr marL="0" lvl="0" indent="0" algn="l" rtl="0">
              <a:spcBef>
                <a:spcPts val="0"/>
              </a:spcBef>
              <a:spcAft>
                <a:spcPts val="0"/>
              </a:spcAft>
              <a:buNone/>
            </a:pPr>
            <a:r>
              <a:rPr lang="en-US" sz="2000" b="1" dirty="0">
                <a:solidFill>
                  <a:srgbClr val="2E7D32"/>
                </a:solidFill>
              </a:rPr>
              <a:t>green - moral  </a:t>
            </a:r>
            <a:r>
              <a:rPr lang="en-US" sz="2000" b="1" dirty="0"/>
              <a:t>          </a:t>
            </a:r>
            <a:r>
              <a:rPr lang="en-US" sz="2000" b="1" dirty="0">
                <a:solidFill>
                  <a:schemeClr val="accent1"/>
                </a:solidFill>
              </a:rPr>
              <a:t>blue - money</a:t>
            </a:r>
            <a:endParaRPr sz="2000" b="1"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8"/>
          <p:cNvSpPr/>
          <p:nvPr/>
        </p:nvSpPr>
        <p:spPr>
          <a:xfrm>
            <a:off x="822960" y="100000"/>
            <a:ext cx="10058400" cy="50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70146"/>
              </a:buClr>
              <a:buSzPts val="2600"/>
              <a:buFont typeface="Arial"/>
              <a:buNone/>
            </a:pPr>
            <a:r>
              <a:rPr lang="en-US" sz="3000" b="1" i="0" u="none" strike="noStrike" cap="none">
                <a:solidFill>
                  <a:srgbClr val="F70146"/>
                </a:solidFill>
                <a:latin typeface="Arial"/>
                <a:ea typeface="Arial"/>
                <a:cs typeface="Arial"/>
                <a:sym typeface="Arial"/>
              </a:rPr>
              <a:t>Conclusion</a:t>
            </a:r>
            <a:endParaRPr sz="3000" b="0" i="0" u="none" strike="noStrike" cap="none">
              <a:solidFill>
                <a:schemeClr val="dk1"/>
              </a:solidFill>
              <a:latin typeface="Calibri"/>
              <a:ea typeface="Calibri"/>
              <a:cs typeface="Calibri"/>
              <a:sym typeface="Calibri"/>
            </a:endParaRPr>
          </a:p>
        </p:txBody>
      </p:sp>
      <p:sp>
        <p:nvSpPr>
          <p:cNvPr id="388" name="Google Shape;388;p18"/>
          <p:cNvSpPr/>
          <p:nvPr/>
        </p:nvSpPr>
        <p:spPr>
          <a:xfrm>
            <a:off x="822960" y="600000"/>
            <a:ext cx="10058400" cy="36576"/>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9" name="Google Shape;389;p18"/>
          <p:cNvSpPr/>
          <p:nvPr/>
        </p:nvSpPr>
        <p:spPr>
          <a:xfrm>
            <a:off x="1203875" y="765287"/>
            <a:ext cx="10834800" cy="141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2000" b="1">
                <a:solidFill>
                  <a:schemeClr val="dk1"/>
                </a:solidFill>
              </a:rPr>
              <a:t>Context matters for topic labelling</a:t>
            </a:r>
            <a:endParaRPr sz="2000" b="1">
              <a:solidFill>
                <a:schemeClr val="dk1"/>
              </a:solidFill>
            </a:endParaRPr>
          </a:p>
          <a:p>
            <a:pPr marL="0" marR="0" lvl="0" indent="0" algn="l" rtl="0">
              <a:lnSpc>
                <a:spcPct val="100000"/>
              </a:lnSpc>
              <a:spcBef>
                <a:spcPts val="0"/>
              </a:spcBef>
              <a:spcAft>
                <a:spcPts val="0"/>
              </a:spcAft>
              <a:buClr>
                <a:srgbClr val="0F0F0F"/>
              </a:buClr>
              <a:buSzPts val="1350"/>
              <a:buFont typeface="Arial"/>
              <a:buNone/>
            </a:pPr>
            <a:r>
              <a:rPr lang="en-US" sz="2000">
                <a:solidFill>
                  <a:schemeClr val="dk1"/>
                </a:solidFill>
              </a:rPr>
              <a:t>Segmenting debates into agenda episodes produces more coherent topic assignments than treating speeches independently.</a:t>
            </a:r>
            <a:endParaRPr sz="2000">
              <a:solidFill>
                <a:srgbClr val="0F0F0F"/>
              </a:solidFill>
            </a:endParaRPr>
          </a:p>
        </p:txBody>
      </p:sp>
      <p:sp>
        <p:nvSpPr>
          <p:cNvPr id="390" name="Google Shape;390;p18"/>
          <p:cNvSpPr/>
          <p:nvPr/>
        </p:nvSpPr>
        <p:spPr>
          <a:xfrm>
            <a:off x="1203875" y="1893250"/>
            <a:ext cx="11262900" cy="1538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2000" b="1" dirty="0">
                <a:solidFill>
                  <a:schemeClr val="dk1"/>
                </a:solidFill>
              </a:rPr>
              <a:t>Topic and institutional role shape style most strongly</a:t>
            </a:r>
            <a:endParaRPr sz="2000" b="1" dirty="0">
              <a:solidFill>
                <a:schemeClr val="dk1"/>
              </a:solidFill>
            </a:endParaRPr>
          </a:p>
          <a:p>
            <a:pPr marL="0" marR="0" lvl="0" indent="0" algn="l" rtl="0">
              <a:lnSpc>
                <a:spcPct val="100000"/>
              </a:lnSpc>
              <a:spcBef>
                <a:spcPts val="0"/>
              </a:spcBef>
              <a:spcAft>
                <a:spcPts val="0"/>
              </a:spcAft>
              <a:buClr>
                <a:srgbClr val="0F0F0F"/>
              </a:buClr>
              <a:buSzPts val="1350"/>
              <a:buFont typeface="Arial"/>
              <a:buNone/>
            </a:pPr>
            <a:r>
              <a:rPr lang="en-US" sz="2000" dirty="0">
                <a:solidFill>
                  <a:schemeClr val="dk1"/>
                </a:solidFill>
              </a:rPr>
              <a:t>Policy domain and parliamentary role show clearer stylistic differences than ideology or demographics.</a:t>
            </a:r>
            <a:endParaRPr sz="2000" dirty="0">
              <a:solidFill>
                <a:srgbClr val="0F0F0F"/>
              </a:solidFill>
            </a:endParaRPr>
          </a:p>
        </p:txBody>
      </p:sp>
      <p:sp>
        <p:nvSpPr>
          <p:cNvPr id="391" name="Google Shape;391;p18"/>
          <p:cNvSpPr/>
          <p:nvPr/>
        </p:nvSpPr>
        <p:spPr>
          <a:xfrm>
            <a:off x="1215512" y="3304080"/>
            <a:ext cx="11286363" cy="1197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2000" b="1" dirty="0">
                <a:solidFill>
                  <a:schemeClr val="dk1"/>
                </a:solidFill>
              </a:rPr>
              <a:t>Crises affect both attention and rhetoric — temporarily</a:t>
            </a:r>
            <a:endParaRPr sz="2000" b="1" dirty="0">
              <a:solidFill>
                <a:schemeClr val="dk1"/>
              </a:solidFill>
            </a:endParaRPr>
          </a:p>
          <a:p>
            <a:pPr marL="0" marR="0" lvl="0" indent="0" algn="l" rtl="0">
              <a:lnSpc>
                <a:spcPct val="100000"/>
              </a:lnSpc>
              <a:spcBef>
                <a:spcPts val="0"/>
              </a:spcBef>
              <a:spcAft>
                <a:spcPts val="0"/>
              </a:spcAft>
              <a:buClr>
                <a:srgbClr val="0F0F0F"/>
              </a:buClr>
              <a:buSzPts val="1350"/>
              <a:buFont typeface="Arial"/>
              <a:buNone/>
            </a:pPr>
            <a:r>
              <a:rPr lang="en-US" sz="2000" dirty="0">
                <a:solidFill>
                  <a:schemeClr val="dk1"/>
                </a:solidFill>
              </a:rPr>
              <a:t>External shocks shift what parliaments discuss and how they speak, but both patterns largely return toward baseline.</a:t>
            </a:r>
            <a:endParaRPr sz="2000" dirty="0">
              <a:solidFill>
                <a:srgbClr val="0F0F0F"/>
              </a:solidFill>
            </a:endParaRPr>
          </a:p>
        </p:txBody>
      </p:sp>
      <p:sp>
        <p:nvSpPr>
          <p:cNvPr id="392" name="Google Shape;392;p18"/>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3" name="Google Shape;393;p18"/>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1</a:t>
            </a:r>
            <a:r>
              <a:rPr lang="en-US" b="1">
                <a:solidFill>
                  <a:srgbClr val="FFFFFF"/>
                </a:solidFill>
              </a:rPr>
              <a:t>6</a:t>
            </a:r>
            <a:endParaRPr sz="1400" b="0" i="0" u="none" strike="noStrike" cap="none">
              <a:solidFill>
                <a:schemeClr val="dk1"/>
              </a:solidFill>
              <a:latin typeface="Calibri"/>
              <a:ea typeface="Calibri"/>
              <a:cs typeface="Calibri"/>
              <a:sym typeface="Calibri"/>
            </a:endParaRPr>
          </a:p>
        </p:txBody>
      </p:sp>
      <p:pic>
        <p:nvPicPr>
          <p:cNvPr id="394" name="Google Shape;394;p18"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
        <p:nvSpPr>
          <p:cNvPr id="395" name="Google Shape;395;p18"/>
          <p:cNvSpPr/>
          <p:nvPr/>
        </p:nvSpPr>
        <p:spPr>
          <a:xfrm>
            <a:off x="424625" y="2265425"/>
            <a:ext cx="612600" cy="7371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6" name="Google Shape;396;p18"/>
          <p:cNvSpPr/>
          <p:nvPr/>
        </p:nvSpPr>
        <p:spPr>
          <a:xfrm>
            <a:off x="424625" y="2265425"/>
            <a:ext cx="612600" cy="73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b="1">
                <a:solidFill>
                  <a:srgbClr val="FFFFFF"/>
                </a:solidFill>
              </a:rPr>
              <a:t>2</a:t>
            </a:r>
            <a:endParaRPr sz="1400" b="0" i="0" u="none" strike="noStrike" cap="none">
              <a:solidFill>
                <a:schemeClr val="dk1"/>
              </a:solidFill>
              <a:latin typeface="Calibri"/>
              <a:ea typeface="Calibri"/>
              <a:cs typeface="Calibri"/>
              <a:sym typeface="Calibri"/>
            </a:endParaRPr>
          </a:p>
        </p:txBody>
      </p:sp>
      <p:sp>
        <p:nvSpPr>
          <p:cNvPr id="397" name="Google Shape;397;p18"/>
          <p:cNvSpPr/>
          <p:nvPr/>
        </p:nvSpPr>
        <p:spPr>
          <a:xfrm>
            <a:off x="424625" y="1040988"/>
            <a:ext cx="612600" cy="7371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8" name="Google Shape;398;p18"/>
          <p:cNvSpPr/>
          <p:nvPr/>
        </p:nvSpPr>
        <p:spPr>
          <a:xfrm>
            <a:off x="424625" y="1040988"/>
            <a:ext cx="612600" cy="73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b="1">
                <a:solidFill>
                  <a:srgbClr val="FFFFFF"/>
                </a:solidFill>
              </a:rPr>
              <a:t>1</a:t>
            </a:r>
            <a:endParaRPr sz="1400" b="0" i="0" u="none" strike="noStrike" cap="none">
              <a:solidFill>
                <a:schemeClr val="dk1"/>
              </a:solidFill>
              <a:latin typeface="Calibri"/>
              <a:ea typeface="Calibri"/>
              <a:cs typeface="Calibri"/>
              <a:sym typeface="Calibri"/>
            </a:endParaRPr>
          </a:p>
        </p:txBody>
      </p:sp>
      <p:sp>
        <p:nvSpPr>
          <p:cNvPr id="399" name="Google Shape;399;p18"/>
          <p:cNvSpPr/>
          <p:nvPr/>
        </p:nvSpPr>
        <p:spPr>
          <a:xfrm>
            <a:off x="436250" y="3484163"/>
            <a:ext cx="612600" cy="737100"/>
          </a:xfrm>
          <a:prstGeom prst="ellipse">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0" name="Google Shape;400;p18"/>
          <p:cNvSpPr/>
          <p:nvPr/>
        </p:nvSpPr>
        <p:spPr>
          <a:xfrm>
            <a:off x="436250" y="3484163"/>
            <a:ext cx="612600" cy="73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b="1">
                <a:solidFill>
                  <a:srgbClr val="FFFFFF"/>
                </a:solidFill>
              </a:rPr>
              <a:t>3</a:t>
            </a:r>
            <a:endParaRPr sz="1400" b="0" i="0" u="none" strike="noStrike" cap="none">
              <a:solidFill>
                <a:schemeClr val="dk1"/>
              </a:solidFill>
              <a:latin typeface="Calibri"/>
              <a:ea typeface="Calibri"/>
              <a:cs typeface="Calibri"/>
              <a:sym typeface="Calibri"/>
            </a:endParaRPr>
          </a:p>
        </p:txBody>
      </p:sp>
      <p:sp>
        <p:nvSpPr>
          <p:cNvPr id="401" name="Google Shape;401;p18"/>
          <p:cNvSpPr/>
          <p:nvPr/>
        </p:nvSpPr>
        <p:spPr>
          <a:xfrm>
            <a:off x="1048850" y="4501075"/>
            <a:ext cx="6054000" cy="2102375"/>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 name="Google Shape;402;p18"/>
          <p:cNvSpPr txBox="1"/>
          <p:nvPr/>
        </p:nvSpPr>
        <p:spPr>
          <a:xfrm>
            <a:off x="1037225" y="4329509"/>
            <a:ext cx="6054000" cy="2273941"/>
          </a:xfrm>
          <a:prstGeom prst="rect">
            <a:avLst/>
          </a:prstGeom>
          <a:noFill/>
          <a:ln>
            <a:noFill/>
          </a:ln>
        </p:spPr>
        <p:txBody>
          <a:bodyPr spcFirstLastPara="1" wrap="square" lIns="57150"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b="1" dirty="0">
                <a:solidFill>
                  <a:srgbClr val="FF0000"/>
                </a:solidFill>
              </a:rPr>
              <a:t> Next steps</a:t>
            </a:r>
            <a:endParaRPr sz="2000" b="1" dirty="0">
              <a:solidFill>
                <a:srgbClr val="FF0000"/>
              </a:solidFill>
            </a:endParaRPr>
          </a:p>
          <a:p>
            <a:pPr marL="457200" lvl="0" indent="-355600" algn="l" rtl="0">
              <a:lnSpc>
                <a:spcPct val="115000"/>
              </a:lnSpc>
              <a:spcBef>
                <a:spcPts val="1200"/>
              </a:spcBef>
              <a:spcAft>
                <a:spcPts val="0"/>
              </a:spcAft>
              <a:buClr>
                <a:schemeClr val="lt1"/>
              </a:buClr>
              <a:buSzPts val="2000"/>
              <a:buChar char="●"/>
            </a:pPr>
            <a:r>
              <a:rPr lang="en-US" sz="2000" dirty="0">
                <a:solidFill>
                  <a:schemeClr val="lt1"/>
                </a:solidFill>
              </a:rPr>
              <a:t>Build episode-level test labels</a:t>
            </a:r>
            <a:endParaRPr sz="2000" dirty="0">
              <a:solidFill>
                <a:schemeClr val="lt1"/>
              </a:solidFill>
            </a:endParaRPr>
          </a:p>
          <a:p>
            <a:pPr marL="457200" lvl="0" indent="-355600" algn="l" rtl="0">
              <a:lnSpc>
                <a:spcPct val="115000"/>
              </a:lnSpc>
              <a:spcBef>
                <a:spcPts val="0"/>
              </a:spcBef>
              <a:spcAft>
                <a:spcPts val="0"/>
              </a:spcAft>
              <a:buClr>
                <a:schemeClr val="lt1"/>
              </a:buClr>
              <a:buSzPts val="2000"/>
              <a:buChar char="●"/>
            </a:pPr>
            <a:r>
              <a:rPr lang="en-US" sz="2000" dirty="0">
                <a:solidFill>
                  <a:schemeClr val="lt1"/>
                </a:solidFill>
              </a:rPr>
              <a:t>Extend to all 29 European parliaments available</a:t>
            </a:r>
            <a:endParaRPr sz="2000" dirty="0">
              <a:solidFill>
                <a:schemeClr val="lt1"/>
              </a:solidFill>
            </a:endParaRPr>
          </a:p>
          <a:p>
            <a:pPr marL="457200" lvl="0" indent="-355600" algn="l" rtl="0">
              <a:lnSpc>
                <a:spcPct val="115000"/>
              </a:lnSpc>
              <a:spcBef>
                <a:spcPts val="0"/>
              </a:spcBef>
              <a:spcAft>
                <a:spcPts val="0"/>
              </a:spcAft>
              <a:buClr>
                <a:schemeClr val="lt1"/>
              </a:buClr>
              <a:buSzPts val="2000"/>
              <a:buChar char="●"/>
            </a:pPr>
            <a:r>
              <a:rPr lang="en-US" sz="2000" dirty="0">
                <a:solidFill>
                  <a:schemeClr val="lt1"/>
                </a:solidFill>
              </a:rPr>
              <a:t>Link rhetoric to outcomes</a:t>
            </a:r>
            <a:endParaRPr sz="2000" dirty="0">
              <a:solidFill>
                <a:schemeClr val="lt1"/>
              </a:solidFill>
            </a:endParaRPr>
          </a:p>
          <a:p>
            <a:pPr marL="457200" lvl="0" indent="-355600" algn="l" rtl="0">
              <a:lnSpc>
                <a:spcPct val="115000"/>
              </a:lnSpc>
              <a:spcBef>
                <a:spcPts val="0"/>
              </a:spcBef>
              <a:spcAft>
                <a:spcPts val="0"/>
              </a:spcAft>
              <a:buClr>
                <a:schemeClr val="lt1"/>
              </a:buClr>
              <a:buSzPts val="2000"/>
              <a:buChar char="●"/>
            </a:pPr>
            <a:r>
              <a:rPr lang="en-US" sz="2000" dirty="0">
                <a:solidFill>
                  <a:schemeClr val="lt1"/>
                </a:solidFill>
              </a:rPr>
              <a:t>Test predictive models of legislative support</a:t>
            </a:r>
            <a:endParaRPr sz="2000" dirty="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Shape 407"/>
        <p:cNvGrpSpPr/>
        <p:nvPr/>
      </p:nvGrpSpPr>
      <p:grpSpPr>
        <a:xfrm>
          <a:off x="0" y="0"/>
          <a:ext cx="0" cy="0"/>
          <a:chOff x="0" y="0"/>
          <a:chExt cx="0" cy="0"/>
        </a:xfrm>
      </p:grpSpPr>
      <p:sp>
        <p:nvSpPr>
          <p:cNvPr id="408" name="Google Shape;408;p19"/>
          <p:cNvSpPr/>
          <p:nvPr/>
        </p:nvSpPr>
        <p:spPr>
          <a:xfrm>
            <a:off x="0" y="0"/>
            <a:ext cx="612648" cy="77724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409" name="Google Shape;409;p19" descr="preencoded.png"/>
          <p:cNvPicPr preferRelativeResize="0"/>
          <p:nvPr/>
        </p:nvPicPr>
        <p:blipFill rotWithShape="1">
          <a:blip r:embed="rId3">
            <a:alphaModFix/>
          </a:blip>
          <a:srcRect/>
          <a:stretch/>
        </p:blipFill>
        <p:spPr>
          <a:xfrm>
            <a:off x="11155680" y="137160"/>
            <a:ext cx="1645920" cy="566928"/>
          </a:xfrm>
          <a:prstGeom prst="rect">
            <a:avLst/>
          </a:prstGeom>
          <a:noFill/>
          <a:ln>
            <a:noFill/>
          </a:ln>
        </p:spPr>
      </p:pic>
      <p:sp>
        <p:nvSpPr>
          <p:cNvPr id="410" name="Google Shape;410;p19"/>
          <p:cNvSpPr/>
          <p:nvPr/>
        </p:nvSpPr>
        <p:spPr>
          <a:xfrm>
            <a:off x="777240" y="45720"/>
            <a:ext cx="1024128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2000"/>
              <a:buFont typeface="Arial"/>
              <a:buNone/>
            </a:pPr>
            <a:r>
              <a:rPr lang="en-US" sz="2200" b="1" i="0" u="none" strike="noStrike" cap="none">
                <a:solidFill>
                  <a:srgbClr val="0F0F0F"/>
                </a:solidFill>
                <a:latin typeface="Arial"/>
                <a:ea typeface="Arial"/>
                <a:cs typeface="Arial"/>
                <a:sym typeface="Arial"/>
              </a:rPr>
              <a:t>BACKUP: Cross-Lingual Embedding Consistency</a:t>
            </a:r>
            <a:endParaRPr sz="2200" b="0" i="0" u="none" strike="noStrike" cap="none">
              <a:solidFill>
                <a:schemeClr val="dk1"/>
              </a:solidFill>
              <a:latin typeface="Calibri"/>
              <a:ea typeface="Calibri"/>
              <a:cs typeface="Calibri"/>
              <a:sym typeface="Calibri"/>
            </a:endParaRPr>
          </a:p>
        </p:txBody>
      </p:sp>
      <p:sp>
        <p:nvSpPr>
          <p:cNvPr id="411" name="Google Shape;411;p19"/>
          <p:cNvSpPr/>
          <p:nvPr/>
        </p:nvSpPr>
        <p:spPr>
          <a:xfrm>
            <a:off x="0" y="777240"/>
            <a:ext cx="12937846" cy="4572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412" name="Google Shape;412;p19" descr="preencoded.png"/>
          <p:cNvPicPr preferRelativeResize="0"/>
          <p:nvPr/>
        </p:nvPicPr>
        <p:blipFill rotWithShape="1">
          <a:blip r:embed="rId4">
            <a:alphaModFix/>
          </a:blip>
          <a:srcRect/>
          <a:stretch/>
        </p:blipFill>
        <p:spPr>
          <a:xfrm>
            <a:off x="457200" y="1005840"/>
            <a:ext cx="8686800" cy="5257800"/>
          </a:xfrm>
          <a:prstGeom prst="rect">
            <a:avLst/>
          </a:prstGeom>
          <a:noFill/>
          <a:ln>
            <a:noFill/>
          </a:ln>
        </p:spPr>
      </p:pic>
      <p:sp>
        <p:nvSpPr>
          <p:cNvPr id="413" name="Google Shape;413;p19"/>
          <p:cNvSpPr/>
          <p:nvPr/>
        </p:nvSpPr>
        <p:spPr>
          <a:xfrm>
            <a:off x="9418320" y="1005840"/>
            <a:ext cx="3337560" cy="5257800"/>
          </a:xfrm>
          <a:prstGeom prst="rect">
            <a:avLst/>
          </a:prstGeom>
          <a:solidFill>
            <a:srgbClr val="0F0F0F"/>
          </a:solidFill>
          <a:ln w="12700" cap="flat" cmpd="sng">
            <a:solidFill>
              <a:srgbClr val="0F0F0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4" name="Google Shape;414;p19"/>
          <p:cNvSpPr/>
          <p:nvPr/>
        </p:nvSpPr>
        <p:spPr>
          <a:xfrm>
            <a:off x="9418320" y="1005840"/>
            <a:ext cx="54864" cy="5257800"/>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5" name="Google Shape;415;p19"/>
          <p:cNvSpPr/>
          <p:nvPr/>
        </p:nvSpPr>
        <p:spPr>
          <a:xfrm>
            <a:off x="9601200" y="1097280"/>
            <a:ext cx="3017520" cy="3474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70146"/>
              </a:buClr>
              <a:buSzPts val="1300"/>
              <a:buFont typeface="Arial"/>
              <a:buNone/>
            </a:pPr>
            <a:r>
              <a:rPr lang="en-US" sz="1800" b="1" i="0" u="none" strike="noStrike" cap="none">
                <a:solidFill>
                  <a:srgbClr val="F70146"/>
                </a:solidFill>
                <a:latin typeface="Arial"/>
                <a:ea typeface="Arial"/>
                <a:cs typeface="Arial"/>
                <a:sym typeface="Arial"/>
              </a:rPr>
              <a:t>Validation</a:t>
            </a:r>
            <a:endParaRPr sz="1800" b="0" i="0" u="none" strike="noStrike" cap="none">
              <a:solidFill>
                <a:schemeClr val="dk1"/>
              </a:solidFill>
              <a:latin typeface="Calibri"/>
              <a:ea typeface="Calibri"/>
              <a:cs typeface="Calibri"/>
              <a:sym typeface="Calibri"/>
            </a:endParaRPr>
          </a:p>
        </p:txBody>
      </p:sp>
      <p:sp>
        <p:nvSpPr>
          <p:cNvPr id="416" name="Google Shape;416;p19"/>
          <p:cNvSpPr/>
          <p:nvPr/>
        </p:nvSpPr>
        <p:spPr>
          <a:xfrm>
            <a:off x="9601200" y="1444750"/>
            <a:ext cx="3017400" cy="4733700"/>
          </a:xfrm>
          <a:prstGeom prst="rect">
            <a:avLst/>
          </a:prstGeom>
          <a:noFill/>
          <a:ln>
            <a:noFill/>
          </a:ln>
        </p:spPr>
        <p:txBody>
          <a:bodyPr spcFirstLastPara="1" wrap="square" lIns="91425" tIns="45700" rIns="91425" bIns="45700" anchor="ctr" anchorCtr="0">
            <a:noAutofit/>
          </a:bodyPr>
          <a:lstStyle/>
          <a:p>
            <a:pPr marL="342900" marR="0" lvl="0" indent="-349250" algn="l" rtl="0">
              <a:lnSpc>
                <a:spcPct val="100000"/>
              </a:lnSpc>
              <a:spcBef>
                <a:spcPts val="0"/>
              </a:spcBef>
              <a:spcAft>
                <a:spcPts val="0"/>
              </a:spcAft>
              <a:buClr>
                <a:srgbClr val="FFFFFF"/>
              </a:buClr>
              <a:buSzPts val="1750"/>
              <a:buFont typeface="Arial"/>
              <a:buChar char="•"/>
            </a:pPr>
            <a:r>
              <a:rPr lang="en-US" sz="1750" b="0" i="0" u="none" strike="noStrike" cap="none">
                <a:solidFill>
                  <a:srgbClr val="FFFFFF"/>
                </a:solidFill>
                <a:latin typeface="Arial"/>
                <a:ea typeface="Arial"/>
                <a:cs typeface="Arial"/>
                <a:sym typeface="Arial"/>
              </a:rPr>
              <a:t>Native-language vs. English MT embeddings: cosine similarity &gt; 0.8 for the vast majority of speeches.</a:t>
            </a:r>
            <a:endParaRPr sz="1750" b="0" i="0" u="none" strike="noStrike" cap="none">
              <a:solidFill>
                <a:schemeClr val="dk1"/>
              </a:solidFill>
              <a:latin typeface="Calibri"/>
              <a:ea typeface="Calibri"/>
              <a:cs typeface="Calibri"/>
              <a:sym typeface="Calibri"/>
            </a:endParaRPr>
          </a:p>
          <a:p>
            <a:pPr marL="342900" marR="0" lvl="0" indent="-349250" algn="l" rtl="0">
              <a:lnSpc>
                <a:spcPct val="100000"/>
              </a:lnSpc>
              <a:spcBef>
                <a:spcPts val="1200"/>
              </a:spcBef>
              <a:spcAft>
                <a:spcPts val="0"/>
              </a:spcAft>
              <a:buClr>
                <a:srgbClr val="FFFFFF"/>
              </a:buClr>
              <a:buSzPts val="1750"/>
              <a:buFont typeface="Arial"/>
              <a:buChar char="•"/>
            </a:pPr>
            <a:r>
              <a:rPr lang="en-US" sz="1750" b="0" i="0" u="none" strike="noStrike" cap="none">
                <a:solidFill>
                  <a:srgbClr val="FFFFFF"/>
                </a:solidFill>
                <a:latin typeface="Arial"/>
                <a:ea typeface="Arial"/>
                <a:cs typeface="Arial"/>
                <a:sym typeface="Arial"/>
              </a:rPr>
              <a:t>Mean similarity ≈ 0.86; median ≈ 0.87 (AT corpus).</a:t>
            </a:r>
            <a:endParaRPr sz="1750" b="0" i="0" u="none" strike="noStrike" cap="none">
              <a:solidFill>
                <a:schemeClr val="dk1"/>
              </a:solidFill>
              <a:latin typeface="Calibri"/>
              <a:ea typeface="Calibri"/>
              <a:cs typeface="Calibri"/>
              <a:sym typeface="Calibri"/>
            </a:endParaRPr>
          </a:p>
          <a:p>
            <a:pPr marL="342900" marR="0" lvl="0" indent="-349250" algn="l" rtl="0">
              <a:lnSpc>
                <a:spcPct val="100000"/>
              </a:lnSpc>
              <a:spcBef>
                <a:spcPts val="1200"/>
              </a:spcBef>
              <a:spcAft>
                <a:spcPts val="0"/>
              </a:spcAft>
              <a:buClr>
                <a:srgbClr val="FFFFFF"/>
              </a:buClr>
              <a:buSzPts val="1750"/>
              <a:buFont typeface="Arial"/>
              <a:buChar char="•"/>
            </a:pPr>
            <a:r>
              <a:rPr lang="en-US" sz="1750" b="0" i="0" u="none" strike="noStrike" cap="none">
                <a:solidFill>
                  <a:srgbClr val="FFFFFF"/>
                </a:solidFill>
                <a:latin typeface="Arial"/>
                <a:ea typeface="Arial"/>
                <a:cs typeface="Arial"/>
                <a:sym typeface="Arial"/>
              </a:rPr>
              <a:t>Shorter speeches show more noise -- chunking + averaging handles this.</a:t>
            </a:r>
            <a:endParaRPr sz="1750" b="0" i="0" u="none" strike="noStrike" cap="none">
              <a:solidFill>
                <a:schemeClr val="dk1"/>
              </a:solidFill>
              <a:latin typeface="Calibri"/>
              <a:ea typeface="Calibri"/>
              <a:cs typeface="Calibri"/>
              <a:sym typeface="Calibri"/>
            </a:endParaRPr>
          </a:p>
          <a:p>
            <a:pPr marL="342900" marR="0" lvl="0" indent="-349250" algn="l" rtl="0">
              <a:lnSpc>
                <a:spcPct val="100000"/>
              </a:lnSpc>
              <a:spcBef>
                <a:spcPts val="1200"/>
              </a:spcBef>
              <a:spcAft>
                <a:spcPts val="0"/>
              </a:spcAft>
              <a:buClr>
                <a:srgbClr val="FFFFFF"/>
              </a:buClr>
              <a:buSzPts val="1750"/>
              <a:buFont typeface="Arial"/>
              <a:buChar char="•"/>
            </a:pPr>
            <a:r>
              <a:rPr lang="en-US" sz="1750" b="0" i="0" u="none" strike="noStrike" cap="none">
                <a:solidFill>
                  <a:srgbClr val="FFFFFF"/>
                </a:solidFill>
                <a:latin typeface="Arial"/>
                <a:ea typeface="Arial"/>
                <a:cs typeface="Arial"/>
                <a:sym typeface="Arial"/>
              </a:rPr>
              <a:t>Validates the single-pipeline approach: LIWC on MT text with country-wise z-score normalisation.</a:t>
            </a:r>
            <a:endParaRPr sz="1750" b="0" i="0" u="none" strike="noStrike" cap="none">
              <a:solidFill>
                <a:schemeClr val="dk1"/>
              </a:solidFill>
              <a:latin typeface="Calibri"/>
              <a:ea typeface="Calibri"/>
              <a:cs typeface="Calibri"/>
              <a:sym typeface="Calibri"/>
            </a:endParaRPr>
          </a:p>
        </p:txBody>
      </p:sp>
      <p:sp>
        <p:nvSpPr>
          <p:cNvPr id="417" name="Google Shape;417;p19"/>
          <p:cNvSpPr/>
          <p:nvPr/>
        </p:nvSpPr>
        <p:spPr>
          <a:xfrm>
            <a:off x="0" y="6711696"/>
            <a:ext cx="12937846" cy="603504"/>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8" name="Google Shape;418;p19"/>
          <p:cNvSpPr/>
          <p:nvPr/>
        </p:nvSpPr>
        <p:spPr>
          <a:xfrm>
            <a:off x="0" y="6711696"/>
            <a:ext cx="612648" cy="603504"/>
          </a:xfrm>
          <a:prstGeom prst="rect">
            <a:avLst/>
          </a:prstGeom>
          <a:solidFill>
            <a:srgbClr val="F70146"/>
          </a:solidFill>
          <a:ln w="12700" cap="flat" cmpd="sng">
            <a:solidFill>
              <a:srgbClr val="F701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9" name="Google Shape;419;p19"/>
          <p:cNvSpPr/>
          <p:nvPr/>
        </p:nvSpPr>
        <p:spPr>
          <a:xfrm>
            <a:off x="0" y="6711696"/>
            <a:ext cx="612648" cy="6035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B</a:t>
            </a:r>
            <a:endParaRPr sz="1400" b="0" i="0" u="none" strike="noStrike" cap="none">
              <a:solidFill>
                <a:schemeClr val="dk1"/>
              </a:solidFill>
              <a:latin typeface="Calibri"/>
              <a:ea typeface="Calibri"/>
              <a:cs typeface="Calibri"/>
              <a:sym typeface="Calibri"/>
            </a:endParaRPr>
          </a:p>
        </p:txBody>
      </p:sp>
      <p:sp>
        <p:nvSpPr>
          <p:cNvPr id="420" name="Google Shape;420;p19"/>
          <p:cNvSpPr/>
          <p:nvPr/>
        </p:nvSpPr>
        <p:spPr>
          <a:xfrm>
            <a:off x="731520" y="6784848"/>
            <a:ext cx="9144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0F0F"/>
              </a:buClr>
              <a:buSzPts val="900"/>
              <a:buFont typeface="Arial"/>
              <a:buNone/>
            </a:pPr>
            <a:r>
              <a:rPr lang="en-US" sz="900" b="0" i="0" u="none" strike="noStrike" cap="none">
                <a:solidFill>
                  <a:srgbClr val="0F0F0F"/>
                </a:solidFill>
                <a:latin typeface="Arial"/>
                <a:ea typeface="Arial"/>
                <a:cs typeface="Arial"/>
                <a:sym typeface="Arial"/>
              </a:rPr>
              <a:t>Beyond the Speech  |  Master's Defense  |  Pavle Savkovic  |  12 Mar 2026</a:t>
            </a:r>
            <a:endParaRPr sz="900" b="0" i="0" u="none" strike="noStrike" cap="none">
              <a:solidFill>
                <a:schemeClr val="dk1"/>
              </a:solidFill>
              <a:latin typeface="Calibri"/>
              <a:ea typeface="Calibri"/>
              <a:cs typeface="Calibri"/>
              <a:sym typeface="Calibri"/>
            </a:endParaRPr>
          </a:p>
        </p:txBody>
      </p:sp>
      <p:pic>
        <p:nvPicPr>
          <p:cNvPr id="421" name="Google Shape;421;p19" descr="preencoded.png"/>
          <p:cNvPicPr preferRelativeResize="0"/>
          <p:nvPr/>
        </p:nvPicPr>
        <p:blipFill rotWithShape="1">
          <a:blip r:embed="rId3">
            <a:alphaModFix/>
          </a:blip>
          <a:srcRect/>
          <a:stretch/>
        </p:blipFill>
        <p:spPr>
          <a:xfrm>
            <a:off x="11155680" y="6720840"/>
            <a:ext cx="1645920" cy="56692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4432</Words>
  <Application>Microsoft Office PowerPoint</Application>
  <PresentationFormat>Custom</PresentationFormat>
  <Paragraphs>370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pavle savkovic</cp:lastModifiedBy>
  <cp:revision>12</cp:revision>
  <dcterms:modified xsi:type="dcterms:W3CDTF">2026-03-12T11:50:53Z</dcterms:modified>
</cp:coreProperties>
</file>